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547"/>
    <p:restoredTop sz="70265"/>
  </p:normalViewPr>
  <p:slideViewPr>
    <p:cSldViewPr snapToGrid="0">
      <p:cViewPr varScale="1">
        <p:scale>
          <a:sx n="85" d="100"/>
          <a:sy n="85" d="100"/>
        </p:scale>
        <p:origin x="1640" y="2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D90DDDA-0390-7747-9092-B03DF40F8BE2}" type="datetimeFigureOut">
              <a:rPr lang="en-US" smtClean="0"/>
              <a:t>3/27/26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1B2E058-E5EB-6F43-9ECB-7707C85161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56481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Illustration of clade assignment using different combinations of dates when sequences are available and versions of the reference tree. Two dates are relevant: the nowcast date, tau_1, and the evaluation date, tau_2. (A). Clade assignment of sequences reported as of the nowcast date using the reference tree available as of the nowcast date; used for model estimation. (B). Clade assignment of sequences reported as of the evaluation date using the reference tree available as of the evaluation date; not used. (C). Clade assignment of sequences reported as of the evaluation date using the reference tree available as of the nowcast date; used for nowcast evaluation. Clade assignments using different reference trees are not comparable, so the same reference tree is used when creating data for model fitting and for evaluation.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1B2E058-E5EB-6F43-9ECB-7707C8516128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861647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C655F7-AB5B-BD93-28E1-78E391082E8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FF6FCC6-B72A-118C-9B84-209396A49A6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0EA5D5D-AEA3-3CF0-C0AB-253BFCB992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F85839-247B-534A-BD25-CCD76748D5B6}" type="datetimeFigureOut">
              <a:rPr lang="en-US" smtClean="0"/>
              <a:t>3/27/26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E9109B-ABD1-DE95-D41D-44B96CD5D7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A453F27-638D-D0F8-6CE0-22F2AED8E2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B602DD-F3B9-5342-BDAB-B6D6B375AE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24641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3441D3-893F-C55D-152B-1054F63F1D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709E5A-9FEC-AE7B-545B-F23F2941CA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0695054-4269-FC25-5DF5-34FCA77C61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F85839-247B-534A-BD25-CCD76748D5B6}" type="datetimeFigureOut">
              <a:rPr lang="en-US" smtClean="0"/>
              <a:t>3/27/26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EFA1E0-7B7F-DF1F-268E-C2AD37FC44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F650526-1F4F-EBC1-316C-1685693F93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B602DD-F3B9-5342-BDAB-B6D6B375AE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34395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2D03AD-AD04-4410-5E63-2A6E64E0A6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AF57426-A8EA-1EB1-98F8-A421075ABC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C5F6C7-AF65-62F8-B507-4356507F60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F85839-247B-534A-BD25-CCD76748D5B6}" type="datetimeFigureOut">
              <a:rPr lang="en-US" smtClean="0"/>
              <a:t>3/27/26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3EDCEE-18F6-37A8-72D3-FFA752F750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B8D93E-CAF6-06A9-89FC-1D4A150DD8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B602DD-F3B9-5342-BDAB-B6D6B375AE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84058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FE2859-4B8F-AB00-0315-32371B4940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784F52-C9CA-0F54-C859-38625576FF4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05BD4A7-01C0-6955-23F5-AA27ABA6B83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AAB6122-B1C4-4400-5CBE-531F3FA873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F85839-247B-534A-BD25-CCD76748D5B6}" type="datetimeFigureOut">
              <a:rPr lang="en-US" smtClean="0"/>
              <a:t>3/27/26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86A2859-3CBB-A91F-147D-E7DEA02968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68624A5-A9B6-D77C-1E0B-E48CAA0220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B602DD-F3B9-5342-BDAB-B6D6B375AE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97606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B8E35C-DD78-6A21-AB1E-3A69C57388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37173B9-E7DD-E11A-C9CC-A57519E708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343BAA8-C33F-A519-8F95-AFA71C1A474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E121663-EEA4-422D-F660-DEA5EE780A8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CE96C80-C79F-3EED-A0E0-27994BAC597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4A2F4FF-E808-B7C1-7930-4B22358DCF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F85839-247B-534A-BD25-CCD76748D5B6}" type="datetimeFigureOut">
              <a:rPr lang="en-US" smtClean="0"/>
              <a:t>3/27/26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E3C1284-DA29-6158-7FD1-5E79948AFB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3079369-B3BA-2AD3-6FB8-BA16CAF2D1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B602DD-F3B9-5342-BDAB-B6D6B375AE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29095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16A55D-21F8-0FD7-611C-80E55A8B64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74A8E64-E540-FCD7-F9EE-44BCA91B2E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F85839-247B-534A-BD25-CCD76748D5B6}" type="datetimeFigureOut">
              <a:rPr lang="en-US" smtClean="0"/>
              <a:t>3/27/26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BA51A5E-1241-8F17-EFA0-18099E67A5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7ABC808-668A-47A4-52BD-BCF1B9B871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B602DD-F3B9-5342-BDAB-B6D6B375AE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02828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477C62A-310B-5A3A-7FB4-B69CCF87B7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F85839-247B-534A-BD25-CCD76748D5B6}" type="datetimeFigureOut">
              <a:rPr lang="en-US" smtClean="0"/>
              <a:t>3/27/26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6981BE3-A7A7-6600-20A9-2A6F074A2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523A09C-4104-3635-FB3D-A5D32AAC63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B602DD-F3B9-5342-BDAB-B6D6B375AE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34846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2413FD-55BC-F5EB-BFF9-87A4D0CF56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5F1D3C-F9AC-D9CF-217A-124318E49F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DA4EEF7-A327-8204-FC4A-E5E49A4CCE0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C405242-B860-8E96-BAF8-7E8B9864A5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F85839-247B-534A-BD25-CCD76748D5B6}" type="datetimeFigureOut">
              <a:rPr lang="en-US" smtClean="0"/>
              <a:t>3/27/26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2EF91E4-D9D3-2102-D297-848454AE4A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9783CB3-9A3A-A97A-71E3-88CA04FB91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B602DD-F3B9-5342-BDAB-B6D6B375AE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3064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C3390C-DF9F-90B3-E8A0-3DD7DCC562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D2B83C7-FDD3-2D77-4789-BF3574788FD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CCFE410-B329-788D-9D44-24A4FF2BDB0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ABAC5BE-8410-0DDE-9066-6B4A1CD943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F85839-247B-534A-BD25-CCD76748D5B6}" type="datetimeFigureOut">
              <a:rPr lang="en-US" smtClean="0"/>
              <a:t>3/27/26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83FA2D2-699E-45BB-6C15-CA34E72718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D312905-80DD-DEEE-FC5E-10900832D6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B602DD-F3B9-5342-BDAB-B6D6B375AE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33858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782562-C93B-FB21-A240-F7FF91D5EE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8FC3DF9-0454-9D03-7387-889D9A2749D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596EF63-D211-17EF-1A78-AB3FCF7D53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F85839-247B-534A-BD25-CCD76748D5B6}" type="datetimeFigureOut">
              <a:rPr lang="en-US" smtClean="0"/>
              <a:t>3/27/26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42BB10-A654-F631-12F5-47E408F4CE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767F61-326B-5BB6-CAF1-48CBA90543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B602DD-F3B9-5342-BDAB-B6D6B375AE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8335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84A86BA-E780-65A1-1120-A727C6F69B5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800A544-173C-D6D1-A8BD-A3F1CB4DCAE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8BC9BE1-A7DF-78B7-4D3E-A65974DD8B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F85839-247B-534A-BD25-CCD76748D5B6}" type="datetimeFigureOut">
              <a:rPr lang="en-US" smtClean="0"/>
              <a:t>3/27/26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9CE7EB-2B3F-E0BD-38EA-77CB09A947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18B70B8-BD40-32FC-6561-01DB8F42FF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B602DD-F3B9-5342-BDAB-B6D6B375AE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28845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32337C4-3FE5-A521-AB7B-B4B011245E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065D4EF-8C1F-AF32-9818-E84EE389DA2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B6943D-AF31-35E1-B52D-35B77C7FAFB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3F85839-247B-534A-BD25-CCD76748D5B6}" type="datetimeFigureOut">
              <a:rPr lang="en-US" smtClean="0"/>
              <a:t>3/27/26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0DCFD71-54C2-F73A-B5F1-D3E28E6C483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FFAEA4-2B86-4B71-CDCD-86B64A42C57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6B602DD-F3B9-5342-BDAB-B6D6B375AE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59877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svg"/><Relationship Id="rId13" Type="http://schemas.openxmlformats.org/officeDocument/2006/relationships/image" Target="../media/image11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12" Type="http://schemas.openxmlformats.org/officeDocument/2006/relationships/image" Target="../media/image10.svg"/><Relationship Id="rId17" Type="http://schemas.openxmlformats.org/officeDocument/2006/relationships/image" Target="../media/image15.svg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14.sv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svg"/><Relationship Id="rId11" Type="http://schemas.openxmlformats.org/officeDocument/2006/relationships/image" Target="../media/image9.png"/><Relationship Id="rId5" Type="http://schemas.openxmlformats.org/officeDocument/2006/relationships/image" Target="../media/image3.png"/><Relationship Id="rId15" Type="http://schemas.openxmlformats.org/officeDocument/2006/relationships/image" Target="../media/image13.png"/><Relationship Id="rId10" Type="http://schemas.openxmlformats.org/officeDocument/2006/relationships/image" Target="../media/image8.svg"/><Relationship Id="rId4" Type="http://schemas.openxmlformats.org/officeDocument/2006/relationships/image" Target="../media/image2.svg"/><Relationship Id="rId9" Type="http://schemas.openxmlformats.org/officeDocument/2006/relationships/image" Target="../media/image7.png"/><Relationship Id="rId14" Type="http://schemas.openxmlformats.org/officeDocument/2006/relationships/image" Target="../media/image12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8C588341-310C-4847-FFB9-099820350A93}"/>
              </a:ext>
            </a:extLst>
          </p:cNvPr>
          <p:cNvSpPr txBox="1"/>
          <p:nvPr/>
        </p:nvSpPr>
        <p:spPr>
          <a:xfrm rot="16200000">
            <a:off x="-7140" y="890647"/>
            <a:ext cx="6776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 = t</a:t>
            </a:r>
            <a:r>
              <a:rPr lang="en-US" baseline="-25000" dirty="0"/>
              <a:t>1</a:t>
            </a:r>
            <a:r>
              <a:rPr lang="en-US" dirty="0"/>
              <a:t>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F0E4103-9113-8A5E-6E11-233EA91B7468}"/>
              </a:ext>
            </a:extLst>
          </p:cNvPr>
          <p:cNvSpPr txBox="1"/>
          <p:nvPr/>
        </p:nvSpPr>
        <p:spPr>
          <a:xfrm rot="16200000">
            <a:off x="122536" y="2586656"/>
            <a:ext cx="6776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 = t</a:t>
            </a:r>
            <a:r>
              <a:rPr lang="en-US" baseline="-25000" dirty="0"/>
              <a:t>2</a:t>
            </a:r>
            <a:r>
              <a:rPr lang="en-US" dirty="0"/>
              <a:t>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51284EE-5B0E-BB8A-2CD7-6BF22E5F2C35}"/>
              </a:ext>
            </a:extLst>
          </p:cNvPr>
          <p:cNvSpPr txBox="1"/>
          <p:nvPr/>
        </p:nvSpPr>
        <p:spPr>
          <a:xfrm>
            <a:off x="433837" y="10312"/>
            <a:ext cx="20574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Set of sequences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F953842-81A1-BD04-07D6-2BA957792967}"/>
              </a:ext>
            </a:extLst>
          </p:cNvPr>
          <p:cNvSpPr txBox="1"/>
          <p:nvPr/>
        </p:nvSpPr>
        <p:spPr>
          <a:xfrm>
            <a:off x="2830029" y="-105868"/>
            <a:ext cx="20574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Clade assignment model (reference tree)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AD5156D-CFA8-B432-8EBD-2B8179C80791}"/>
              </a:ext>
            </a:extLst>
          </p:cNvPr>
          <p:cNvSpPr txBox="1"/>
          <p:nvPr/>
        </p:nvSpPr>
        <p:spPr>
          <a:xfrm>
            <a:off x="5141655" y="24123"/>
            <a:ext cx="20574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Clade designation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5684A52-CE16-2A10-BB81-C97C51C3A4DD}"/>
              </a:ext>
            </a:extLst>
          </p:cNvPr>
          <p:cNvSpPr txBox="1"/>
          <p:nvPr/>
        </p:nvSpPr>
        <p:spPr>
          <a:xfrm>
            <a:off x="9666512" y="-111863"/>
            <a:ext cx="201445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Estimated vs observed clade proportions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BDB8549-3079-3C81-A413-7E9E799A09BD}"/>
              </a:ext>
            </a:extLst>
          </p:cNvPr>
          <p:cNvSpPr txBox="1"/>
          <p:nvPr/>
        </p:nvSpPr>
        <p:spPr>
          <a:xfrm rot="19233967">
            <a:off x="483020" y="702731"/>
            <a:ext cx="104214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AGCTACCTA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27DF8AD-4F7F-8298-9620-6860EF73D933}"/>
              </a:ext>
            </a:extLst>
          </p:cNvPr>
          <p:cNvSpPr txBox="1"/>
          <p:nvPr/>
        </p:nvSpPr>
        <p:spPr>
          <a:xfrm rot="19371636">
            <a:off x="666227" y="1127741"/>
            <a:ext cx="104214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AGCTACGAA</a:t>
            </a:r>
          </a:p>
        </p:txBody>
      </p:sp>
      <p:pic>
        <p:nvPicPr>
          <p:cNvPr id="14" name="Graphic 13" descr="Tag outline">
            <a:extLst>
              <a:ext uri="{FF2B5EF4-FFF2-40B4-BE49-F238E27FC236}">
                <a16:creationId xmlns:a16="http://schemas.microsoft.com/office/drawing/2014/main" id="{565512C9-A5F4-C114-21D6-B437C9462B1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20175687">
            <a:off x="6262422" y="682198"/>
            <a:ext cx="434846" cy="446275"/>
          </a:xfrm>
          <a:prstGeom prst="rect">
            <a:avLst/>
          </a:prstGeom>
        </p:spPr>
      </p:pic>
      <p:pic>
        <p:nvPicPr>
          <p:cNvPr id="18" name="Graphic 17" descr="DNA outline">
            <a:extLst>
              <a:ext uri="{FF2B5EF4-FFF2-40B4-BE49-F238E27FC236}">
                <a16:creationId xmlns:a16="http://schemas.microsoft.com/office/drawing/2014/main" id="{654FD3A1-4CC1-D6D0-66C1-CA0BEC9DFB7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2967273">
            <a:off x="728380" y="319328"/>
            <a:ext cx="302212" cy="914400"/>
          </a:xfrm>
          <a:prstGeom prst="rect">
            <a:avLst/>
          </a:prstGeom>
        </p:spPr>
      </p:pic>
      <p:pic>
        <p:nvPicPr>
          <p:cNvPr id="19" name="Graphic 18" descr="DNA outline">
            <a:extLst>
              <a:ext uri="{FF2B5EF4-FFF2-40B4-BE49-F238E27FC236}">
                <a16:creationId xmlns:a16="http://schemas.microsoft.com/office/drawing/2014/main" id="{75230894-A82E-1FD8-3EE2-B7A6E61033F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2967273">
            <a:off x="925511" y="705691"/>
            <a:ext cx="302212" cy="914400"/>
          </a:xfrm>
          <a:prstGeom prst="rect">
            <a:avLst/>
          </a:prstGeom>
        </p:spPr>
      </p:pic>
      <p:cxnSp>
        <p:nvCxnSpPr>
          <p:cNvPr id="21" name="Elbow Connector 20">
            <a:extLst>
              <a:ext uri="{FF2B5EF4-FFF2-40B4-BE49-F238E27FC236}">
                <a16:creationId xmlns:a16="http://schemas.microsoft.com/office/drawing/2014/main" id="{747B23F9-6BD8-342C-D9D1-0F043F855275}"/>
              </a:ext>
            </a:extLst>
          </p:cNvPr>
          <p:cNvCxnSpPr/>
          <p:nvPr/>
        </p:nvCxnSpPr>
        <p:spPr>
          <a:xfrm>
            <a:off x="2989930" y="981228"/>
            <a:ext cx="786107" cy="310895"/>
          </a:xfrm>
          <a:prstGeom prst="bentConnector3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D4969CB6-34FF-BD89-A506-A54BAA4CA5BB}"/>
              </a:ext>
            </a:extLst>
          </p:cNvPr>
          <p:cNvCxnSpPr/>
          <p:nvPr/>
        </p:nvCxnSpPr>
        <p:spPr>
          <a:xfrm>
            <a:off x="3776037" y="1175832"/>
            <a:ext cx="0" cy="29918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2D9FFB3E-9C9B-08E0-78AB-3F71073182F5}"/>
              </a:ext>
            </a:extLst>
          </p:cNvPr>
          <p:cNvCxnSpPr>
            <a:cxnSpLocks/>
          </p:cNvCxnSpPr>
          <p:nvPr/>
        </p:nvCxnSpPr>
        <p:spPr>
          <a:xfrm flipH="1">
            <a:off x="3776037" y="1475012"/>
            <a:ext cx="563136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D3C0F026-AA32-F438-C478-CE5377AB4E33}"/>
              </a:ext>
            </a:extLst>
          </p:cNvPr>
          <p:cNvCxnSpPr>
            <a:cxnSpLocks/>
          </p:cNvCxnSpPr>
          <p:nvPr/>
        </p:nvCxnSpPr>
        <p:spPr>
          <a:xfrm flipH="1">
            <a:off x="3776037" y="1175832"/>
            <a:ext cx="25647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FB8A136A-F861-19B9-0C91-0149F8C6485E}"/>
              </a:ext>
            </a:extLst>
          </p:cNvPr>
          <p:cNvCxnSpPr>
            <a:cxnSpLocks/>
          </p:cNvCxnSpPr>
          <p:nvPr/>
        </p:nvCxnSpPr>
        <p:spPr>
          <a:xfrm>
            <a:off x="3382983" y="763804"/>
            <a:ext cx="0" cy="221058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FEFF496D-C238-8D7E-EE85-8E26C0AB949E}"/>
              </a:ext>
            </a:extLst>
          </p:cNvPr>
          <p:cNvCxnSpPr>
            <a:cxnSpLocks/>
          </p:cNvCxnSpPr>
          <p:nvPr/>
        </p:nvCxnSpPr>
        <p:spPr>
          <a:xfrm>
            <a:off x="3382983" y="763804"/>
            <a:ext cx="90601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Straight Connector 53">
            <a:extLst>
              <a:ext uri="{FF2B5EF4-FFF2-40B4-BE49-F238E27FC236}">
                <a16:creationId xmlns:a16="http://schemas.microsoft.com/office/drawing/2014/main" id="{E942CEC7-F9A7-83FF-E05E-68665E0144C9}"/>
              </a:ext>
            </a:extLst>
          </p:cNvPr>
          <p:cNvCxnSpPr>
            <a:cxnSpLocks/>
          </p:cNvCxnSpPr>
          <p:nvPr/>
        </p:nvCxnSpPr>
        <p:spPr>
          <a:xfrm>
            <a:off x="4032515" y="1062260"/>
            <a:ext cx="0" cy="21692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Straight Connector 56">
            <a:extLst>
              <a:ext uri="{FF2B5EF4-FFF2-40B4-BE49-F238E27FC236}">
                <a16:creationId xmlns:a16="http://schemas.microsoft.com/office/drawing/2014/main" id="{AF2A87EB-08C0-FD8C-0130-82FC691FE05A}"/>
              </a:ext>
            </a:extLst>
          </p:cNvPr>
          <p:cNvCxnSpPr>
            <a:cxnSpLocks/>
          </p:cNvCxnSpPr>
          <p:nvPr/>
        </p:nvCxnSpPr>
        <p:spPr>
          <a:xfrm flipH="1">
            <a:off x="4032515" y="1062260"/>
            <a:ext cx="308517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Straight Connector 58">
            <a:extLst>
              <a:ext uri="{FF2B5EF4-FFF2-40B4-BE49-F238E27FC236}">
                <a16:creationId xmlns:a16="http://schemas.microsoft.com/office/drawing/2014/main" id="{58028C76-0F8A-7D3A-4959-9392D40947C9}"/>
              </a:ext>
            </a:extLst>
          </p:cNvPr>
          <p:cNvCxnSpPr>
            <a:cxnSpLocks/>
          </p:cNvCxnSpPr>
          <p:nvPr/>
        </p:nvCxnSpPr>
        <p:spPr>
          <a:xfrm flipH="1">
            <a:off x="4030656" y="1279181"/>
            <a:ext cx="308517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1" name="Oval 60">
            <a:extLst>
              <a:ext uri="{FF2B5EF4-FFF2-40B4-BE49-F238E27FC236}">
                <a16:creationId xmlns:a16="http://schemas.microsoft.com/office/drawing/2014/main" id="{BE66AFE2-3C3E-4D57-AE48-668C706179A1}"/>
              </a:ext>
            </a:extLst>
          </p:cNvPr>
          <p:cNvSpPr/>
          <p:nvPr/>
        </p:nvSpPr>
        <p:spPr>
          <a:xfrm>
            <a:off x="4145549" y="625950"/>
            <a:ext cx="434843" cy="237195"/>
          </a:xfrm>
          <a:prstGeom prst="ellipse">
            <a:avLst/>
          </a:prstGeom>
          <a:noFill/>
          <a:ln>
            <a:solidFill>
              <a:schemeClr val="accent6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A</a:t>
            </a:r>
          </a:p>
        </p:txBody>
      </p:sp>
      <p:sp>
        <p:nvSpPr>
          <p:cNvPr id="65" name="Oval 64">
            <a:extLst>
              <a:ext uri="{FF2B5EF4-FFF2-40B4-BE49-F238E27FC236}">
                <a16:creationId xmlns:a16="http://schemas.microsoft.com/office/drawing/2014/main" id="{63E36FC8-CADB-39D1-509D-52B912D9F8F1}"/>
              </a:ext>
            </a:extLst>
          </p:cNvPr>
          <p:cNvSpPr/>
          <p:nvPr/>
        </p:nvSpPr>
        <p:spPr>
          <a:xfrm>
            <a:off x="4235094" y="966936"/>
            <a:ext cx="355663" cy="369323"/>
          </a:xfrm>
          <a:prstGeom prst="ellipse">
            <a:avLst/>
          </a:prstGeom>
          <a:noFill/>
          <a:ln>
            <a:solidFill>
              <a:srgbClr val="C00000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B</a:t>
            </a:r>
          </a:p>
        </p:txBody>
      </p:sp>
      <p:sp>
        <p:nvSpPr>
          <p:cNvPr id="66" name="Oval 65">
            <a:extLst>
              <a:ext uri="{FF2B5EF4-FFF2-40B4-BE49-F238E27FC236}">
                <a16:creationId xmlns:a16="http://schemas.microsoft.com/office/drawing/2014/main" id="{9316D25D-48C2-06F7-E827-9EC4D2370EAF}"/>
              </a:ext>
            </a:extLst>
          </p:cNvPr>
          <p:cNvSpPr/>
          <p:nvPr/>
        </p:nvSpPr>
        <p:spPr>
          <a:xfrm>
            <a:off x="4235094" y="1389978"/>
            <a:ext cx="405837" cy="197875"/>
          </a:xfrm>
          <a:prstGeom prst="ellipse">
            <a:avLst/>
          </a:prstGeom>
          <a:noFill/>
          <a:ln>
            <a:solidFill>
              <a:srgbClr val="0070C0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C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39EA710B-3597-79D8-4CA9-111172CEFB8A}"/>
              </a:ext>
            </a:extLst>
          </p:cNvPr>
          <p:cNvSpPr txBox="1"/>
          <p:nvPr/>
        </p:nvSpPr>
        <p:spPr>
          <a:xfrm rot="19233967">
            <a:off x="5386431" y="696805"/>
            <a:ext cx="104214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AGCTACCTA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BD00F053-2329-6F3B-33F9-D27F6478D28B}"/>
              </a:ext>
            </a:extLst>
          </p:cNvPr>
          <p:cNvSpPr txBox="1"/>
          <p:nvPr/>
        </p:nvSpPr>
        <p:spPr>
          <a:xfrm rot="19092760">
            <a:off x="5567613" y="1111746"/>
            <a:ext cx="104214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AGCTACGAA</a:t>
            </a:r>
          </a:p>
        </p:txBody>
      </p:sp>
      <p:pic>
        <p:nvPicPr>
          <p:cNvPr id="69" name="Graphic 68" descr="DNA outline">
            <a:extLst>
              <a:ext uri="{FF2B5EF4-FFF2-40B4-BE49-F238E27FC236}">
                <a16:creationId xmlns:a16="http://schemas.microsoft.com/office/drawing/2014/main" id="{CC6E532E-8F32-D79F-7B5C-82F7B99E600D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rot="2967273">
            <a:off x="5631791" y="313402"/>
            <a:ext cx="302212" cy="914400"/>
          </a:xfrm>
          <a:prstGeom prst="rect">
            <a:avLst/>
          </a:prstGeom>
        </p:spPr>
      </p:pic>
      <p:pic>
        <p:nvPicPr>
          <p:cNvPr id="70" name="Graphic 69" descr="DNA outline">
            <a:extLst>
              <a:ext uri="{FF2B5EF4-FFF2-40B4-BE49-F238E27FC236}">
                <a16:creationId xmlns:a16="http://schemas.microsoft.com/office/drawing/2014/main" id="{CDA35340-D453-D33D-57A8-0595E0DAACFE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 rot="2967273">
            <a:off x="5828922" y="699765"/>
            <a:ext cx="302212" cy="914400"/>
          </a:xfrm>
          <a:prstGeom prst="rect">
            <a:avLst/>
          </a:prstGeom>
        </p:spPr>
      </p:pic>
      <p:pic>
        <p:nvPicPr>
          <p:cNvPr id="71" name="Graphic 70" descr="Tag outline">
            <a:extLst>
              <a:ext uri="{FF2B5EF4-FFF2-40B4-BE49-F238E27FC236}">
                <a16:creationId xmlns:a16="http://schemas.microsoft.com/office/drawing/2014/main" id="{E5861DD8-4876-DACA-242C-7E3ECB85956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20175687">
            <a:off x="6068946" y="293006"/>
            <a:ext cx="434846" cy="434846"/>
          </a:xfrm>
          <a:prstGeom prst="rect">
            <a:avLst/>
          </a:prstGeom>
        </p:spPr>
      </p:pic>
      <p:sp>
        <p:nvSpPr>
          <p:cNvPr id="72" name="TextBox 71">
            <a:extLst>
              <a:ext uri="{FF2B5EF4-FFF2-40B4-BE49-F238E27FC236}">
                <a16:creationId xmlns:a16="http://schemas.microsoft.com/office/drawing/2014/main" id="{0455EBB2-E781-F904-BE48-599B61E8140A}"/>
              </a:ext>
            </a:extLst>
          </p:cNvPr>
          <p:cNvSpPr txBox="1"/>
          <p:nvPr/>
        </p:nvSpPr>
        <p:spPr>
          <a:xfrm>
            <a:off x="6170355" y="384530"/>
            <a:ext cx="27603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A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35B0801F-DB08-01EA-9942-172481334325}"/>
              </a:ext>
            </a:extLst>
          </p:cNvPr>
          <p:cNvSpPr txBox="1"/>
          <p:nvPr/>
        </p:nvSpPr>
        <p:spPr>
          <a:xfrm>
            <a:off x="6360348" y="786877"/>
            <a:ext cx="27764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B</a:t>
            </a:r>
          </a:p>
        </p:txBody>
      </p:sp>
      <p:cxnSp>
        <p:nvCxnSpPr>
          <p:cNvPr id="75" name="Straight Connector 74">
            <a:extLst>
              <a:ext uri="{FF2B5EF4-FFF2-40B4-BE49-F238E27FC236}">
                <a16:creationId xmlns:a16="http://schemas.microsoft.com/office/drawing/2014/main" id="{252E8C6E-AE64-C6A6-A55B-FD7CAD20C222}"/>
              </a:ext>
            </a:extLst>
          </p:cNvPr>
          <p:cNvCxnSpPr/>
          <p:nvPr/>
        </p:nvCxnSpPr>
        <p:spPr>
          <a:xfrm>
            <a:off x="9939836" y="809211"/>
            <a:ext cx="0" cy="85468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6" name="Straight Connector 75">
            <a:extLst>
              <a:ext uri="{FF2B5EF4-FFF2-40B4-BE49-F238E27FC236}">
                <a16:creationId xmlns:a16="http://schemas.microsoft.com/office/drawing/2014/main" id="{6F831C77-9058-92F2-B7D7-BFBDC1521DC9}"/>
              </a:ext>
            </a:extLst>
          </p:cNvPr>
          <p:cNvCxnSpPr>
            <a:cxnSpLocks/>
          </p:cNvCxnSpPr>
          <p:nvPr/>
        </p:nvCxnSpPr>
        <p:spPr>
          <a:xfrm flipH="1">
            <a:off x="9933887" y="1663897"/>
            <a:ext cx="1590907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79" name="Freeform 78">
            <a:extLst>
              <a:ext uri="{FF2B5EF4-FFF2-40B4-BE49-F238E27FC236}">
                <a16:creationId xmlns:a16="http://schemas.microsoft.com/office/drawing/2014/main" id="{B8860C28-0424-2074-7B33-0FA67747E3C4}"/>
              </a:ext>
            </a:extLst>
          </p:cNvPr>
          <p:cNvSpPr/>
          <p:nvPr/>
        </p:nvSpPr>
        <p:spPr>
          <a:xfrm>
            <a:off x="10006743" y="875480"/>
            <a:ext cx="1445196" cy="635896"/>
          </a:xfrm>
          <a:custGeom>
            <a:avLst/>
            <a:gdLst>
              <a:gd name="connsiteX0" fmla="*/ 0 w 1445196"/>
              <a:gd name="connsiteY0" fmla="*/ 0 h 635896"/>
              <a:gd name="connsiteX1" fmla="*/ 542693 w 1445196"/>
              <a:gd name="connsiteY1" fmla="*/ 185854 h 635896"/>
              <a:gd name="connsiteX2" fmla="*/ 683942 w 1445196"/>
              <a:gd name="connsiteY2" fmla="*/ 535258 h 635896"/>
              <a:gd name="connsiteX3" fmla="*/ 1360449 w 1445196"/>
              <a:gd name="connsiteY3" fmla="*/ 624468 h 635896"/>
              <a:gd name="connsiteX4" fmla="*/ 1412488 w 1445196"/>
              <a:gd name="connsiteY4" fmla="*/ 631902 h 6358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445196" h="635896">
                <a:moveTo>
                  <a:pt x="0" y="0"/>
                </a:moveTo>
                <a:cubicBezTo>
                  <a:pt x="214351" y="48322"/>
                  <a:pt x="428703" y="96644"/>
                  <a:pt x="542693" y="185854"/>
                </a:cubicBezTo>
                <a:cubicBezTo>
                  <a:pt x="656683" y="275064"/>
                  <a:pt x="547649" y="462156"/>
                  <a:pt x="683942" y="535258"/>
                </a:cubicBezTo>
                <a:cubicBezTo>
                  <a:pt x="820235" y="608360"/>
                  <a:pt x="1239025" y="608361"/>
                  <a:pt x="1360449" y="624468"/>
                </a:cubicBezTo>
                <a:cubicBezTo>
                  <a:pt x="1481873" y="640575"/>
                  <a:pt x="1447180" y="636238"/>
                  <a:pt x="1412488" y="631902"/>
                </a:cubicBezTo>
              </a:path>
            </a:pathLst>
          </a:custGeom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0" name="Freeform 79">
            <a:extLst>
              <a:ext uri="{FF2B5EF4-FFF2-40B4-BE49-F238E27FC236}">
                <a16:creationId xmlns:a16="http://schemas.microsoft.com/office/drawing/2014/main" id="{E97D5EFA-D002-FA7D-1460-A052728811ED}"/>
              </a:ext>
            </a:extLst>
          </p:cNvPr>
          <p:cNvSpPr/>
          <p:nvPr/>
        </p:nvSpPr>
        <p:spPr>
          <a:xfrm>
            <a:off x="10014177" y="949821"/>
            <a:ext cx="1434791" cy="572430"/>
          </a:xfrm>
          <a:custGeom>
            <a:avLst/>
            <a:gdLst>
              <a:gd name="connsiteX0" fmla="*/ 0 w 1434791"/>
              <a:gd name="connsiteY0" fmla="*/ 572430 h 572430"/>
              <a:gd name="connsiteX1" fmla="*/ 431181 w 1434791"/>
              <a:gd name="connsiteY1" fmla="*/ 483220 h 572430"/>
              <a:gd name="connsiteX2" fmla="*/ 661639 w 1434791"/>
              <a:gd name="connsiteY2" fmla="*/ 81776 h 572430"/>
              <a:gd name="connsiteX3" fmla="*/ 1405054 w 1434791"/>
              <a:gd name="connsiteY3" fmla="*/ 0 h 572430"/>
              <a:gd name="connsiteX4" fmla="*/ 1405054 w 1434791"/>
              <a:gd name="connsiteY4" fmla="*/ 0 h 572430"/>
              <a:gd name="connsiteX5" fmla="*/ 1434791 w 1434791"/>
              <a:gd name="connsiteY5" fmla="*/ 0 h 5724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34791" h="572430">
                <a:moveTo>
                  <a:pt x="0" y="572430"/>
                </a:moveTo>
                <a:cubicBezTo>
                  <a:pt x="160454" y="568713"/>
                  <a:pt x="320908" y="564996"/>
                  <a:pt x="431181" y="483220"/>
                </a:cubicBezTo>
                <a:cubicBezTo>
                  <a:pt x="541454" y="401444"/>
                  <a:pt x="499327" y="162313"/>
                  <a:pt x="661639" y="81776"/>
                </a:cubicBezTo>
                <a:cubicBezTo>
                  <a:pt x="823951" y="1239"/>
                  <a:pt x="1405054" y="0"/>
                  <a:pt x="1405054" y="0"/>
                </a:cubicBezTo>
                <a:lnTo>
                  <a:pt x="1405054" y="0"/>
                </a:lnTo>
                <a:lnTo>
                  <a:pt x="1434791" y="0"/>
                </a:lnTo>
              </a:path>
            </a:pathLst>
          </a:cu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1" name="Freeform 80">
            <a:extLst>
              <a:ext uri="{FF2B5EF4-FFF2-40B4-BE49-F238E27FC236}">
                <a16:creationId xmlns:a16="http://schemas.microsoft.com/office/drawing/2014/main" id="{675985F1-A711-F163-772F-A528C925D159}"/>
              </a:ext>
            </a:extLst>
          </p:cNvPr>
          <p:cNvSpPr/>
          <p:nvPr/>
        </p:nvSpPr>
        <p:spPr>
          <a:xfrm>
            <a:off x="10006743" y="1529685"/>
            <a:ext cx="1427356" cy="52039"/>
          </a:xfrm>
          <a:custGeom>
            <a:avLst/>
            <a:gdLst>
              <a:gd name="connsiteX0" fmla="*/ 0 w 1427356"/>
              <a:gd name="connsiteY0" fmla="*/ 52039 h 52039"/>
              <a:gd name="connsiteX1" fmla="*/ 520391 w 1427356"/>
              <a:gd name="connsiteY1" fmla="*/ 0 h 52039"/>
              <a:gd name="connsiteX2" fmla="*/ 1427356 w 1427356"/>
              <a:gd name="connsiteY2" fmla="*/ 52039 h 520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427356" h="52039">
                <a:moveTo>
                  <a:pt x="0" y="52039"/>
                </a:moveTo>
                <a:cubicBezTo>
                  <a:pt x="141249" y="26019"/>
                  <a:pt x="282498" y="0"/>
                  <a:pt x="520391" y="0"/>
                </a:cubicBezTo>
                <a:cubicBezTo>
                  <a:pt x="758284" y="0"/>
                  <a:pt x="1092820" y="26019"/>
                  <a:pt x="1427356" y="52039"/>
                </a:cubicBezTo>
              </a:path>
            </a:pathLst>
          </a:custGeom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87087483-8A39-0F51-8AE3-96D9BA978EEE}"/>
              </a:ext>
            </a:extLst>
          </p:cNvPr>
          <p:cNvSpPr txBox="1"/>
          <p:nvPr/>
        </p:nvSpPr>
        <p:spPr>
          <a:xfrm>
            <a:off x="9666512" y="1038404"/>
            <a:ext cx="2398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𝜃</a:t>
            </a:r>
          </a:p>
        </p:txBody>
      </p:sp>
      <p:cxnSp>
        <p:nvCxnSpPr>
          <p:cNvPr id="86" name="Straight Arrow Connector 85">
            <a:extLst>
              <a:ext uri="{FF2B5EF4-FFF2-40B4-BE49-F238E27FC236}">
                <a16:creationId xmlns:a16="http://schemas.microsoft.com/office/drawing/2014/main" id="{F96B2257-1621-710E-FDD7-F07BDA934155}"/>
              </a:ext>
            </a:extLst>
          </p:cNvPr>
          <p:cNvCxnSpPr/>
          <p:nvPr/>
        </p:nvCxnSpPr>
        <p:spPr>
          <a:xfrm>
            <a:off x="2600775" y="966935"/>
            <a:ext cx="260195" cy="750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7" name="Straight Arrow Connector 86">
            <a:extLst>
              <a:ext uri="{FF2B5EF4-FFF2-40B4-BE49-F238E27FC236}">
                <a16:creationId xmlns:a16="http://schemas.microsoft.com/office/drawing/2014/main" id="{BB8214EF-60C8-6B1D-03BF-F45C0FD34A88}"/>
              </a:ext>
            </a:extLst>
          </p:cNvPr>
          <p:cNvCxnSpPr/>
          <p:nvPr/>
        </p:nvCxnSpPr>
        <p:spPr>
          <a:xfrm>
            <a:off x="5069619" y="936766"/>
            <a:ext cx="260195" cy="750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8" name="Straight Arrow Connector 87">
            <a:extLst>
              <a:ext uri="{FF2B5EF4-FFF2-40B4-BE49-F238E27FC236}">
                <a16:creationId xmlns:a16="http://schemas.microsoft.com/office/drawing/2014/main" id="{41653020-5BB3-6C8F-C729-F5ED1A476FA3}"/>
              </a:ext>
            </a:extLst>
          </p:cNvPr>
          <p:cNvCxnSpPr/>
          <p:nvPr/>
        </p:nvCxnSpPr>
        <p:spPr>
          <a:xfrm>
            <a:off x="9320006" y="2773747"/>
            <a:ext cx="260195" cy="750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89" name="TextBox 88">
            <a:extLst>
              <a:ext uri="{FF2B5EF4-FFF2-40B4-BE49-F238E27FC236}">
                <a16:creationId xmlns:a16="http://schemas.microsoft.com/office/drawing/2014/main" id="{3DD42BF5-D8CB-7AD1-FC91-BAC9E4206F52}"/>
              </a:ext>
            </a:extLst>
          </p:cNvPr>
          <p:cNvSpPr txBox="1"/>
          <p:nvPr/>
        </p:nvSpPr>
        <p:spPr>
          <a:xfrm rot="19233967">
            <a:off x="622747" y="2388129"/>
            <a:ext cx="104214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AGCTACCTA</a:t>
            </a: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75E8998A-5A98-5D85-D6E2-98FB713A9362}"/>
              </a:ext>
            </a:extLst>
          </p:cNvPr>
          <p:cNvSpPr txBox="1"/>
          <p:nvPr/>
        </p:nvSpPr>
        <p:spPr>
          <a:xfrm rot="19371636">
            <a:off x="638336" y="2904864"/>
            <a:ext cx="104214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AGCTACGAA</a:t>
            </a:r>
          </a:p>
        </p:txBody>
      </p:sp>
      <p:pic>
        <p:nvPicPr>
          <p:cNvPr id="91" name="Graphic 90" descr="DNA outline">
            <a:extLst>
              <a:ext uri="{FF2B5EF4-FFF2-40B4-BE49-F238E27FC236}">
                <a16:creationId xmlns:a16="http://schemas.microsoft.com/office/drawing/2014/main" id="{0BA2DB33-B937-297D-2877-BF65303668C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2967273">
            <a:off x="868107" y="2004726"/>
            <a:ext cx="302212" cy="914400"/>
          </a:xfrm>
          <a:prstGeom prst="rect">
            <a:avLst/>
          </a:prstGeom>
        </p:spPr>
      </p:pic>
      <p:pic>
        <p:nvPicPr>
          <p:cNvPr id="92" name="Graphic 91" descr="DNA outline">
            <a:extLst>
              <a:ext uri="{FF2B5EF4-FFF2-40B4-BE49-F238E27FC236}">
                <a16:creationId xmlns:a16="http://schemas.microsoft.com/office/drawing/2014/main" id="{E4AA6157-29B9-1656-B249-E3D93D35E1B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2967273">
            <a:off x="899865" y="2454959"/>
            <a:ext cx="302212" cy="914400"/>
          </a:xfrm>
          <a:prstGeom prst="rect">
            <a:avLst/>
          </a:prstGeom>
        </p:spPr>
      </p:pic>
      <p:sp>
        <p:nvSpPr>
          <p:cNvPr id="93" name="TextBox 92">
            <a:extLst>
              <a:ext uri="{FF2B5EF4-FFF2-40B4-BE49-F238E27FC236}">
                <a16:creationId xmlns:a16="http://schemas.microsoft.com/office/drawing/2014/main" id="{00B18AC7-D5F4-659C-577C-ED14BECA7470}"/>
              </a:ext>
            </a:extLst>
          </p:cNvPr>
          <p:cNvSpPr txBox="1"/>
          <p:nvPr/>
        </p:nvSpPr>
        <p:spPr>
          <a:xfrm rot="19233967">
            <a:off x="1721622" y="3212540"/>
            <a:ext cx="104214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AGCTACGTA</a:t>
            </a:r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F3CE87FB-D91B-694A-886E-5E8A8D54245B}"/>
              </a:ext>
            </a:extLst>
          </p:cNvPr>
          <p:cNvSpPr txBox="1"/>
          <p:nvPr/>
        </p:nvSpPr>
        <p:spPr>
          <a:xfrm rot="19107639">
            <a:off x="669869" y="3356844"/>
            <a:ext cx="104214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AGCTACGTT</a:t>
            </a:r>
          </a:p>
        </p:txBody>
      </p:sp>
      <p:pic>
        <p:nvPicPr>
          <p:cNvPr id="95" name="Graphic 94" descr="DNA outline">
            <a:extLst>
              <a:ext uri="{FF2B5EF4-FFF2-40B4-BE49-F238E27FC236}">
                <a16:creationId xmlns:a16="http://schemas.microsoft.com/office/drawing/2014/main" id="{0840AD86-D56D-57E0-8F2F-999D394C933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2967273">
            <a:off x="1985156" y="2791623"/>
            <a:ext cx="302212" cy="914400"/>
          </a:xfrm>
          <a:prstGeom prst="rect">
            <a:avLst/>
          </a:prstGeom>
        </p:spPr>
      </p:pic>
      <p:pic>
        <p:nvPicPr>
          <p:cNvPr id="96" name="Graphic 95" descr="DNA outline">
            <a:extLst>
              <a:ext uri="{FF2B5EF4-FFF2-40B4-BE49-F238E27FC236}">
                <a16:creationId xmlns:a16="http://schemas.microsoft.com/office/drawing/2014/main" id="{16141F6F-81DC-244A-F938-E73E3CE259C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2967273">
            <a:off x="934723" y="2939080"/>
            <a:ext cx="302212" cy="914400"/>
          </a:xfrm>
          <a:prstGeom prst="rect">
            <a:avLst/>
          </a:prstGeom>
        </p:spPr>
      </p:pic>
      <p:cxnSp>
        <p:nvCxnSpPr>
          <p:cNvPr id="97" name="Elbow Connector 96">
            <a:extLst>
              <a:ext uri="{FF2B5EF4-FFF2-40B4-BE49-F238E27FC236}">
                <a16:creationId xmlns:a16="http://schemas.microsoft.com/office/drawing/2014/main" id="{A7EEE853-B939-1C79-A800-A90C736954A9}"/>
              </a:ext>
            </a:extLst>
          </p:cNvPr>
          <p:cNvCxnSpPr/>
          <p:nvPr/>
        </p:nvCxnSpPr>
        <p:spPr>
          <a:xfrm>
            <a:off x="2883716" y="2569650"/>
            <a:ext cx="786107" cy="310895"/>
          </a:xfrm>
          <a:prstGeom prst="bentConnector3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" name="Straight Connector 97">
            <a:extLst>
              <a:ext uri="{FF2B5EF4-FFF2-40B4-BE49-F238E27FC236}">
                <a16:creationId xmlns:a16="http://schemas.microsoft.com/office/drawing/2014/main" id="{4D35CC0D-EF2D-5FA3-9C29-DE6E6C6CC204}"/>
              </a:ext>
            </a:extLst>
          </p:cNvPr>
          <p:cNvCxnSpPr/>
          <p:nvPr/>
        </p:nvCxnSpPr>
        <p:spPr>
          <a:xfrm>
            <a:off x="3669823" y="2764254"/>
            <a:ext cx="0" cy="29918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" name="Straight Connector 98">
            <a:extLst>
              <a:ext uri="{FF2B5EF4-FFF2-40B4-BE49-F238E27FC236}">
                <a16:creationId xmlns:a16="http://schemas.microsoft.com/office/drawing/2014/main" id="{129C92BA-4EBE-C01F-9289-CD08EB9EDE5E}"/>
              </a:ext>
            </a:extLst>
          </p:cNvPr>
          <p:cNvCxnSpPr>
            <a:cxnSpLocks/>
          </p:cNvCxnSpPr>
          <p:nvPr/>
        </p:nvCxnSpPr>
        <p:spPr>
          <a:xfrm flipH="1">
            <a:off x="3669823" y="3063434"/>
            <a:ext cx="78155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" name="Straight Connector 99">
            <a:extLst>
              <a:ext uri="{FF2B5EF4-FFF2-40B4-BE49-F238E27FC236}">
                <a16:creationId xmlns:a16="http://schemas.microsoft.com/office/drawing/2014/main" id="{6501482A-1996-33FC-9C88-1499F36FCE28}"/>
              </a:ext>
            </a:extLst>
          </p:cNvPr>
          <p:cNvCxnSpPr>
            <a:cxnSpLocks/>
          </p:cNvCxnSpPr>
          <p:nvPr/>
        </p:nvCxnSpPr>
        <p:spPr>
          <a:xfrm flipH="1">
            <a:off x="3669823" y="2764254"/>
            <a:ext cx="25647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" name="Straight Connector 100">
            <a:extLst>
              <a:ext uri="{FF2B5EF4-FFF2-40B4-BE49-F238E27FC236}">
                <a16:creationId xmlns:a16="http://schemas.microsoft.com/office/drawing/2014/main" id="{D65452CF-EB02-AE99-6031-E95EAA8737D0}"/>
              </a:ext>
            </a:extLst>
          </p:cNvPr>
          <p:cNvCxnSpPr>
            <a:cxnSpLocks/>
          </p:cNvCxnSpPr>
          <p:nvPr/>
        </p:nvCxnSpPr>
        <p:spPr>
          <a:xfrm>
            <a:off x="3276769" y="2352226"/>
            <a:ext cx="0" cy="221058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" name="Straight Connector 101">
            <a:extLst>
              <a:ext uri="{FF2B5EF4-FFF2-40B4-BE49-F238E27FC236}">
                <a16:creationId xmlns:a16="http://schemas.microsoft.com/office/drawing/2014/main" id="{C236A421-831D-1224-D7D3-A85225301659}"/>
              </a:ext>
            </a:extLst>
          </p:cNvPr>
          <p:cNvCxnSpPr>
            <a:cxnSpLocks/>
          </p:cNvCxnSpPr>
          <p:nvPr/>
        </p:nvCxnSpPr>
        <p:spPr>
          <a:xfrm>
            <a:off x="3276769" y="2352226"/>
            <a:ext cx="718587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" name="Straight Connector 102">
            <a:extLst>
              <a:ext uri="{FF2B5EF4-FFF2-40B4-BE49-F238E27FC236}">
                <a16:creationId xmlns:a16="http://schemas.microsoft.com/office/drawing/2014/main" id="{908CA187-2959-66CE-3290-DFC79E693307}"/>
              </a:ext>
            </a:extLst>
          </p:cNvPr>
          <p:cNvCxnSpPr>
            <a:cxnSpLocks/>
          </p:cNvCxnSpPr>
          <p:nvPr/>
        </p:nvCxnSpPr>
        <p:spPr>
          <a:xfrm>
            <a:off x="3926301" y="2650682"/>
            <a:ext cx="0" cy="21692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" name="Straight Connector 103">
            <a:extLst>
              <a:ext uri="{FF2B5EF4-FFF2-40B4-BE49-F238E27FC236}">
                <a16:creationId xmlns:a16="http://schemas.microsoft.com/office/drawing/2014/main" id="{A5DC6BA0-D25A-1DCF-5C43-37BDC315392D}"/>
              </a:ext>
            </a:extLst>
          </p:cNvPr>
          <p:cNvCxnSpPr>
            <a:cxnSpLocks/>
          </p:cNvCxnSpPr>
          <p:nvPr/>
        </p:nvCxnSpPr>
        <p:spPr>
          <a:xfrm flipH="1">
            <a:off x="3926301" y="2650682"/>
            <a:ext cx="308517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" name="Straight Connector 104">
            <a:extLst>
              <a:ext uri="{FF2B5EF4-FFF2-40B4-BE49-F238E27FC236}">
                <a16:creationId xmlns:a16="http://schemas.microsoft.com/office/drawing/2014/main" id="{F5D1057F-0167-D490-BFAD-738ADE509955}"/>
              </a:ext>
            </a:extLst>
          </p:cNvPr>
          <p:cNvCxnSpPr>
            <a:cxnSpLocks/>
          </p:cNvCxnSpPr>
          <p:nvPr/>
        </p:nvCxnSpPr>
        <p:spPr>
          <a:xfrm flipH="1">
            <a:off x="3924442" y="2867603"/>
            <a:ext cx="52693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6" name="Oval 105">
            <a:extLst>
              <a:ext uri="{FF2B5EF4-FFF2-40B4-BE49-F238E27FC236}">
                <a16:creationId xmlns:a16="http://schemas.microsoft.com/office/drawing/2014/main" id="{81DC5546-ADF6-C34A-D4D3-0CB9EDCBF263}"/>
              </a:ext>
            </a:extLst>
          </p:cNvPr>
          <p:cNvSpPr/>
          <p:nvPr/>
        </p:nvSpPr>
        <p:spPr>
          <a:xfrm>
            <a:off x="4525527" y="2374968"/>
            <a:ext cx="434843" cy="237195"/>
          </a:xfrm>
          <a:prstGeom prst="ellipse">
            <a:avLst/>
          </a:prstGeom>
          <a:noFill/>
          <a:ln>
            <a:solidFill>
              <a:schemeClr val="accent6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A</a:t>
            </a:r>
          </a:p>
        </p:txBody>
      </p:sp>
      <p:sp>
        <p:nvSpPr>
          <p:cNvPr id="107" name="Oval 106">
            <a:extLst>
              <a:ext uri="{FF2B5EF4-FFF2-40B4-BE49-F238E27FC236}">
                <a16:creationId xmlns:a16="http://schemas.microsoft.com/office/drawing/2014/main" id="{56243BC2-FA7C-3391-E6C7-0FF091B20C64}"/>
              </a:ext>
            </a:extLst>
          </p:cNvPr>
          <p:cNvSpPr/>
          <p:nvPr/>
        </p:nvSpPr>
        <p:spPr>
          <a:xfrm>
            <a:off x="4451373" y="2805049"/>
            <a:ext cx="240636" cy="192571"/>
          </a:xfrm>
          <a:prstGeom prst="ellipse">
            <a:avLst/>
          </a:prstGeom>
          <a:noFill/>
          <a:ln>
            <a:solidFill>
              <a:srgbClr val="C00000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B</a:t>
            </a:r>
          </a:p>
        </p:txBody>
      </p:sp>
      <p:sp>
        <p:nvSpPr>
          <p:cNvPr id="108" name="Oval 107">
            <a:extLst>
              <a:ext uri="{FF2B5EF4-FFF2-40B4-BE49-F238E27FC236}">
                <a16:creationId xmlns:a16="http://schemas.microsoft.com/office/drawing/2014/main" id="{32C18B5C-0753-E839-E96C-F6497776E5C7}"/>
              </a:ext>
            </a:extLst>
          </p:cNvPr>
          <p:cNvSpPr/>
          <p:nvPr/>
        </p:nvSpPr>
        <p:spPr>
          <a:xfrm>
            <a:off x="4364101" y="3009126"/>
            <a:ext cx="405837" cy="197875"/>
          </a:xfrm>
          <a:prstGeom prst="ellipse">
            <a:avLst/>
          </a:prstGeom>
          <a:noFill/>
          <a:ln>
            <a:solidFill>
              <a:srgbClr val="0070C0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C</a:t>
            </a:r>
          </a:p>
        </p:txBody>
      </p:sp>
      <p:cxnSp>
        <p:nvCxnSpPr>
          <p:cNvPr id="111" name="Straight Connector 110">
            <a:extLst>
              <a:ext uri="{FF2B5EF4-FFF2-40B4-BE49-F238E27FC236}">
                <a16:creationId xmlns:a16="http://schemas.microsoft.com/office/drawing/2014/main" id="{A3CE7F9A-3E99-D478-8E27-FBA5BA38FDEF}"/>
              </a:ext>
            </a:extLst>
          </p:cNvPr>
          <p:cNvCxnSpPr>
            <a:cxnSpLocks/>
          </p:cNvCxnSpPr>
          <p:nvPr/>
        </p:nvCxnSpPr>
        <p:spPr>
          <a:xfrm>
            <a:off x="3995356" y="2287862"/>
            <a:ext cx="0" cy="21351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12" name="Straight Connector 111">
            <a:extLst>
              <a:ext uri="{FF2B5EF4-FFF2-40B4-BE49-F238E27FC236}">
                <a16:creationId xmlns:a16="http://schemas.microsoft.com/office/drawing/2014/main" id="{C97C5427-28CA-6D44-D79B-CCFD9D625AD1}"/>
              </a:ext>
            </a:extLst>
          </p:cNvPr>
          <p:cNvCxnSpPr>
            <a:cxnSpLocks/>
          </p:cNvCxnSpPr>
          <p:nvPr/>
        </p:nvCxnSpPr>
        <p:spPr>
          <a:xfrm flipH="1">
            <a:off x="3995356" y="2500377"/>
            <a:ext cx="661000" cy="8812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14" name="Straight Connector 113">
            <a:extLst>
              <a:ext uri="{FF2B5EF4-FFF2-40B4-BE49-F238E27FC236}">
                <a16:creationId xmlns:a16="http://schemas.microsoft.com/office/drawing/2014/main" id="{6F16967C-50D6-8220-7DAA-23C378EB54D4}"/>
              </a:ext>
            </a:extLst>
          </p:cNvPr>
          <p:cNvCxnSpPr>
            <a:cxnSpLocks/>
          </p:cNvCxnSpPr>
          <p:nvPr/>
        </p:nvCxnSpPr>
        <p:spPr>
          <a:xfrm flipH="1">
            <a:off x="3995356" y="2287862"/>
            <a:ext cx="253098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16" name="Straight Connector 115">
            <a:extLst>
              <a:ext uri="{FF2B5EF4-FFF2-40B4-BE49-F238E27FC236}">
                <a16:creationId xmlns:a16="http://schemas.microsoft.com/office/drawing/2014/main" id="{6ABEECF6-DE70-E568-5DA0-3C7B4671912B}"/>
              </a:ext>
            </a:extLst>
          </p:cNvPr>
          <p:cNvCxnSpPr>
            <a:cxnSpLocks/>
          </p:cNvCxnSpPr>
          <p:nvPr/>
        </p:nvCxnSpPr>
        <p:spPr>
          <a:xfrm flipV="1">
            <a:off x="4263031" y="2206560"/>
            <a:ext cx="0" cy="173351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19" name="Straight Connector 118">
            <a:extLst>
              <a:ext uri="{FF2B5EF4-FFF2-40B4-BE49-F238E27FC236}">
                <a16:creationId xmlns:a16="http://schemas.microsoft.com/office/drawing/2014/main" id="{985CA5D8-21F9-6A04-C7C0-BD249E1BE7FE}"/>
              </a:ext>
            </a:extLst>
          </p:cNvPr>
          <p:cNvCxnSpPr>
            <a:cxnSpLocks/>
          </p:cNvCxnSpPr>
          <p:nvPr/>
        </p:nvCxnSpPr>
        <p:spPr>
          <a:xfrm flipH="1">
            <a:off x="4266457" y="2206560"/>
            <a:ext cx="26826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21" name="Straight Connector 120">
            <a:extLst>
              <a:ext uri="{FF2B5EF4-FFF2-40B4-BE49-F238E27FC236}">
                <a16:creationId xmlns:a16="http://schemas.microsoft.com/office/drawing/2014/main" id="{F43D77B8-C4E3-5AED-0EAC-E821F9BFFE1F}"/>
              </a:ext>
            </a:extLst>
          </p:cNvPr>
          <p:cNvCxnSpPr>
            <a:cxnSpLocks/>
          </p:cNvCxnSpPr>
          <p:nvPr/>
        </p:nvCxnSpPr>
        <p:spPr>
          <a:xfrm flipH="1">
            <a:off x="4266457" y="2379911"/>
            <a:ext cx="26826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25" name="Oval 124">
            <a:extLst>
              <a:ext uri="{FF2B5EF4-FFF2-40B4-BE49-F238E27FC236}">
                <a16:creationId xmlns:a16="http://schemas.microsoft.com/office/drawing/2014/main" id="{A1F1D049-CB01-F6DC-FE77-222B52107765}"/>
              </a:ext>
            </a:extLst>
          </p:cNvPr>
          <p:cNvSpPr/>
          <p:nvPr/>
        </p:nvSpPr>
        <p:spPr>
          <a:xfrm>
            <a:off x="4427070" y="2147481"/>
            <a:ext cx="279900" cy="304566"/>
          </a:xfrm>
          <a:prstGeom prst="ellipse">
            <a:avLst/>
          </a:prstGeom>
          <a:noFill/>
          <a:ln>
            <a:prstDash val="sysDot"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D</a:t>
            </a:r>
          </a:p>
        </p:txBody>
      </p:sp>
      <p:cxnSp>
        <p:nvCxnSpPr>
          <p:cNvPr id="127" name="Straight Connector 126">
            <a:extLst>
              <a:ext uri="{FF2B5EF4-FFF2-40B4-BE49-F238E27FC236}">
                <a16:creationId xmlns:a16="http://schemas.microsoft.com/office/drawing/2014/main" id="{3AE651FE-681B-0C4B-FFC1-60CEFF1DBAF3}"/>
              </a:ext>
            </a:extLst>
          </p:cNvPr>
          <p:cNvCxnSpPr>
            <a:cxnSpLocks/>
          </p:cNvCxnSpPr>
          <p:nvPr/>
        </p:nvCxnSpPr>
        <p:spPr>
          <a:xfrm flipV="1">
            <a:off x="4251924" y="2573284"/>
            <a:ext cx="0" cy="173351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28" name="Straight Connector 127">
            <a:extLst>
              <a:ext uri="{FF2B5EF4-FFF2-40B4-BE49-F238E27FC236}">
                <a16:creationId xmlns:a16="http://schemas.microsoft.com/office/drawing/2014/main" id="{83AC6042-2114-E093-B348-6437935400BA}"/>
              </a:ext>
            </a:extLst>
          </p:cNvPr>
          <p:cNvCxnSpPr>
            <a:cxnSpLocks/>
          </p:cNvCxnSpPr>
          <p:nvPr/>
        </p:nvCxnSpPr>
        <p:spPr>
          <a:xfrm flipH="1">
            <a:off x="4255350" y="2573284"/>
            <a:ext cx="26826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29" name="Straight Connector 128">
            <a:extLst>
              <a:ext uri="{FF2B5EF4-FFF2-40B4-BE49-F238E27FC236}">
                <a16:creationId xmlns:a16="http://schemas.microsoft.com/office/drawing/2014/main" id="{1BDAF1E3-2DAA-A1B6-D3F7-A8996CD1EB5C}"/>
              </a:ext>
            </a:extLst>
          </p:cNvPr>
          <p:cNvCxnSpPr>
            <a:cxnSpLocks/>
          </p:cNvCxnSpPr>
          <p:nvPr/>
        </p:nvCxnSpPr>
        <p:spPr>
          <a:xfrm flipH="1">
            <a:off x="4255350" y="2746635"/>
            <a:ext cx="26826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31" name="Oval 130">
            <a:extLst>
              <a:ext uri="{FF2B5EF4-FFF2-40B4-BE49-F238E27FC236}">
                <a16:creationId xmlns:a16="http://schemas.microsoft.com/office/drawing/2014/main" id="{3B124FFC-4335-EE6F-7493-FB37023E6769}"/>
              </a:ext>
            </a:extLst>
          </p:cNvPr>
          <p:cNvSpPr/>
          <p:nvPr/>
        </p:nvSpPr>
        <p:spPr>
          <a:xfrm>
            <a:off x="4437597" y="2516684"/>
            <a:ext cx="279900" cy="304566"/>
          </a:xfrm>
          <a:prstGeom prst="ellipse">
            <a:avLst/>
          </a:prstGeom>
          <a:noFill/>
          <a:ln>
            <a:solidFill>
              <a:srgbClr val="FFC000"/>
            </a:solidFill>
            <a:prstDash val="sysDot"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E</a:t>
            </a:r>
          </a:p>
        </p:txBody>
      </p:sp>
      <p:cxnSp>
        <p:nvCxnSpPr>
          <p:cNvPr id="132" name="Straight Arrow Connector 131">
            <a:extLst>
              <a:ext uri="{FF2B5EF4-FFF2-40B4-BE49-F238E27FC236}">
                <a16:creationId xmlns:a16="http://schemas.microsoft.com/office/drawing/2014/main" id="{E4FB9C86-A093-FED3-07BA-4F1F3B13EB70}"/>
              </a:ext>
            </a:extLst>
          </p:cNvPr>
          <p:cNvCxnSpPr/>
          <p:nvPr/>
        </p:nvCxnSpPr>
        <p:spPr>
          <a:xfrm>
            <a:off x="2417997" y="2610992"/>
            <a:ext cx="260195" cy="750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33" name="Straight Arrow Connector 132">
            <a:extLst>
              <a:ext uri="{FF2B5EF4-FFF2-40B4-BE49-F238E27FC236}">
                <a16:creationId xmlns:a16="http://schemas.microsoft.com/office/drawing/2014/main" id="{E751C8F9-E20D-97CC-D9BD-D1D98FFD570A}"/>
              </a:ext>
            </a:extLst>
          </p:cNvPr>
          <p:cNvCxnSpPr/>
          <p:nvPr/>
        </p:nvCxnSpPr>
        <p:spPr>
          <a:xfrm>
            <a:off x="5203936" y="2434755"/>
            <a:ext cx="260195" cy="750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34" name="TextBox 133">
            <a:extLst>
              <a:ext uri="{FF2B5EF4-FFF2-40B4-BE49-F238E27FC236}">
                <a16:creationId xmlns:a16="http://schemas.microsoft.com/office/drawing/2014/main" id="{95C47EE4-9B48-45C9-B129-A3110C9592D0}"/>
              </a:ext>
            </a:extLst>
          </p:cNvPr>
          <p:cNvSpPr txBox="1"/>
          <p:nvPr/>
        </p:nvSpPr>
        <p:spPr>
          <a:xfrm rot="19233967">
            <a:off x="5418176" y="2408579"/>
            <a:ext cx="104214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AGCTACCTA</a:t>
            </a:r>
          </a:p>
        </p:txBody>
      </p:sp>
      <p:sp>
        <p:nvSpPr>
          <p:cNvPr id="135" name="TextBox 134">
            <a:extLst>
              <a:ext uri="{FF2B5EF4-FFF2-40B4-BE49-F238E27FC236}">
                <a16:creationId xmlns:a16="http://schemas.microsoft.com/office/drawing/2014/main" id="{3D8DA759-1BDC-8F0E-EFE2-209F7B6490D7}"/>
              </a:ext>
            </a:extLst>
          </p:cNvPr>
          <p:cNvSpPr txBox="1"/>
          <p:nvPr/>
        </p:nvSpPr>
        <p:spPr>
          <a:xfrm rot="19371636">
            <a:off x="5601383" y="2833589"/>
            <a:ext cx="104214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AGCTACGAA</a:t>
            </a:r>
          </a:p>
        </p:txBody>
      </p:sp>
      <p:pic>
        <p:nvPicPr>
          <p:cNvPr id="136" name="Graphic 135" descr="DNA outline">
            <a:extLst>
              <a:ext uri="{FF2B5EF4-FFF2-40B4-BE49-F238E27FC236}">
                <a16:creationId xmlns:a16="http://schemas.microsoft.com/office/drawing/2014/main" id="{1EB59CF3-4E36-07C2-13A8-899A305E4E8D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 rot="2967273">
            <a:off x="5663536" y="2025176"/>
            <a:ext cx="302212" cy="914400"/>
          </a:xfrm>
          <a:prstGeom prst="rect">
            <a:avLst/>
          </a:prstGeom>
        </p:spPr>
      </p:pic>
      <p:pic>
        <p:nvPicPr>
          <p:cNvPr id="137" name="Graphic 136" descr="DNA outline">
            <a:extLst>
              <a:ext uri="{FF2B5EF4-FFF2-40B4-BE49-F238E27FC236}">
                <a16:creationId xmlns:a16="http://schemas.microsoft.com/office/drawing/2014/main" id="{2CB07D5A-F469-6F12-F438-7E66A69B5800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 rot="2967273">
            <a:off x="5860667" y="2411539"/>
            <a:ext cx="302212" cy="914400"/>
          </a:xfrm>
          <a:prstGeom prst="rect">
            <a:avLst/>
          </a:prstGeom>
        </p:spPr>
      </p:pic>
      <p:sp>
        <p:nvSpPr>
          <p:cNvPr id="138" name="TextBox 137">
            <a:extLst>
              <a:ext uri="{FF2B5EF4-FFF2-40B4-BE49-F238E27FC236}">
                <a16:creationId xmlns:a16="http://schemas.microsoft.com/office/drawing/2014/main" id="{F158A43D-BDDB-CE44-FAFE-4A9F1873A82B}"/>
              </a:ext>
            </a:extLst>
          </p:cNvPr>
          <p:cNvSpPr txBox="1"/>
          <p:nvPr/>
        </p:nvSpPr>
        <p:spPr>
          <a:xfrm rot="19233967">
            <a:off x="6798088" y="3220744"/>
            <a:ext cx="104214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AGCTACGTA</a:t>
            </a:r>
          </a:p>
        </p:txBody>
      </p:sp>
      <p:sp>
        <p:nvSpPr>
          <p:cNvPr id="139" name="TextBox 138">
            <a:extLst>
              <a:ext uri="{FF2B5EF4-FFF2-40B4-BE49-F238E27FC236}">
                <a16:creationId xmlns:a16="http://schemas.microsoft.com/office/drawing/2014/main" id="{573FDEC1-F352-C678-C430-FD9BE5B31455}"/>
              </a:ext>
            </a:extLst>
          </p:cNvPr>
          <p:cNvSpPr txBox="1"/>
          <p:nvPr/>
        </p:nvSpPr>
        <p:spPr>
          <a:xfrm rot="19128486">
            <a:off x="5733136" y="3331795"/>
            <a:ext cx="104214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AGCTACGTT</a:t>
            </a:r>
          </a:p>
        </p:txBody>
      </p:sp>
      <p:pic>
        <p:nvPicPr>
          <p:cNvPr id="140" name="Graphic 139" descr="DNA outline">
            <a:extLst>
              <a:ext uri="{FF2B5EF4-FFF2-40B4-BE49-F238E27FC236}">
                <a16:creationId xmlns:a16="http://schemas.microsoft.com/office/drawing/2014/main" id="{01DC93DF-818C-5CC3-DA67-776C117DAEA7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 rot="2967273">
            <a:off x="7074979" y="2787037"/>
            <a:ext cx="302212" cy="914400"/>
          </a:xfrm>
          <a:prstGeom prst="rect">
            <a:avLst/>
          </a:prstGeom>
        </p:spPr>
      </p:pic>
      <p:pic>
        <p:nvPicPr>
          <p:cNvPr id="141" name="Graphic 140" descr="DNA outline">
            <a:extLst>
              <a:ext uri="{FF2B5EF4-FFF2-40B4-BE49-F238E27FC236}">
                <a16:creationId xmlns:a16="http://schemas.microsoft.com/office/drawing/2014/main" id="{3086E561-0665-E5F3-E1B4-C506F696AEAA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 rot="2967273">
            <a:off x="6004882" y="2890196"/>
            <a:ext cx="302212" cy="914400"/>
          </a:xfrm>
          <a:prstGeom prst="rect">
            <a:avLst/>
          </a:prstGeom>
        </p:spPr>
      </p:pic>
      <p:sp>
        <p:nvSpPr>
          <p:cNvPr id="143" name="TextBox 142">
            <a:extLst>
              <a:ext uri="{FF2B5EF4-FFF2-40B4-BE49-F238E27FC236}">
                <a16:creationId xmlns:a16="http://schemas.microsoft.com/office/drawing/2014/main" id="{EFFEEC3B-085D-13D4-4216-C549D31848CB}"/>
              </a:ext>
            </a:extLst>
          </p:cNvPr>
          <p:cNvSpPr txBox="1"/>
          <p:nvPr/>
        </p:nvSpPr>
        <p:spPr>
          <a:xfrm>
            <a:off x="6190446" y="2094579"/>
            <a:ext cx="29046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D</a:t>
            </a:r>
          </a:p>
        </p:txBody>
      </p:sp>
      <p:pic>
        <p:nvPicPr>
          <p:cNvPr id="145" name="Graphic 144" descr="Tag outline">
            <a:extLst>
              <a:ext uri="{FF2B5EF4-FFF2-40B4-BE49-F238E27FC236}">
                <a16:creationId xmlns:a16="http://schemas.microsoft.com/office/drawing/2014/main" id="{8914BDD3-20E9-C6ED-98BC-0E11509BF51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20175687">
            <a:off x="6100557" y="2007731"/>
            <a:ext cx="434846" cy="434846"/>
          </a:xfrm>
          <a:prstGeom prst="rect">
            <a:avLst/>
          </a:prstGeom>
        </p:spPr>
      </p:pic>
      <p:pic>
        <p:nvPicPr>
          <p:cNvPr id="146" name="Graphic 145" descr="Tag outline">
            <a:extLst>
              <a:ext uri="{FF2B5EF4-FFF2-40B4-BE49-F238E27FC236}">
                <a16:creationId xmlns:a16="http://schemas.microsoft.com/office/drawing/2014/main" id="{1705131F-F572-CE63-4D7F-7B6CD7D9180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20175687">
            <a:off x="6304528" y="2405537"/>
            <a:ext cx="434846" cy="434846"/>
          </a:xfrm>
          <a:prstGeom prst="rect">
            <a:avLst/>
          </a:prstGeom>
        </p:spPr>
      </p:pic>
      <p:sp>
        <p:nvSpPr>
          <p:cNvPr id="147" name="TextBox 146">
            <a:extLst>
              <a:ext uri="{FF2B5EF4-FFF2-40B4-BE49-F238E27FC236}">
                <a16:creationId xmlns:a16="http://schemas.microsoft.com/office/drawing/2014/main" id="{B089DFAD-727D-DC93-F13D-E26A4131B400}"/>
              </a:ext>
            </a:extLst>
          </p:cNvPr>
          <p:cNvSpPr txBox="1"/>
          <p:nvPr/>
        </p:nvSpPr>
        <p:spPr>
          <a:xfrm>
            <a:off x="6410296" y="2498865"/>
            <a:ext cx="27764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B</a:t>
            </a:r>
          </a:p>
        </p:txBody>
      </p:sp>
      <p:pic>
        <p:nvPicPr>
          <p:cNvPr id="148" name="Graphic 147" descr="Tag outline">
            <a:extLst>
              <a:ext uri="{FF2B5EF4-FFF2-40B4-BE49-F238E27FC236}">
                <a16:creationId xmlns:a16="http://schemas.microsoft.com/office/drawing/2014/main" id="{6C42BFDF-B672-7B07-4654-DE03CAE910A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20175687">
            <a:off x="7507182" y="2768299"/>
            <a:ext cx="434846" cy="446275"/>
          </a:xfrm>
          <a:prstGeom prst="rect">
            <a:avLst/>
          </a:prstGeom>
        </p:spPr>
      </p:pic>
      <p:sp>
        <p:nvSpPr>
          <p:cNvPr id="149" name="TextBox 148">
            <a:extLst>
              <a:ext uri="{FF2B5EF4-FFF2-40B4-BE49-F238E27FC236}">
                <a16:creationId xmlns:a16="http://schemas.microsoft.com/office/drawing/2014/main" id="{B1EA6116-1C72-4CBC-0C44-840E629048AC}"/>
              </a:ext>
            </a:extLst>
          </p:cNvPr>
          <p:cNvSpPr txBox="1"/>
          <p:nvPr/>
        </p:nvSpPr>
        <p:spPr>
          <a:xfrm flipH="1">
            <a:off x="7617619" y="2881161"/>
            <a:ext cx="25559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E</a:t>
            </a:r>
          </a:p>
        </p:txBody>
      </p:sp>
      <p:pic>
        <p:nvPicPr>
          <p:cNvPr id="150" name="Graphic 149" descr="Tag outline">
            <a:extLst>
              <a:ext uri="{FF2B5EF4-FFF2-40B4-BE49-F238E27FC236}">
                <a16:creationId xmlns:a16="http://schemas.microsoft.com/office/drawing/2014/main" id="{D13D408E-2F57-90E7-FC93-DCE28693F36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20175687">
            <a:off x="6449026" y="2881358"/>
            <a:ext cx="434846" cy="446275"/>
          </a:xfrm>
          <a:prstGeom prst="rect">
            <a:avLst/>
          </a:prstGeom>
        </p:spPr>
      </p:pic>
      <p:sp>
        <p:nvSpPr>
          <p:cNvPr id="151" name="TextBox 150">
            <a:extLst>
              <a:ext uri="{FF2B5EF4-FFF2-40B4-BE49-F238E27FC236}">
                <a16:creationId xmlns:a16="http://schemas.microsoft.com/office/drawing/2014/main" id="{0DDCA826-F894-ADB8-B24B-C540DEA3B7BA}"/>
              </a:ext>
            </a:extLst>
          </p:cNvPr>
          <p:cNvSpPr txBox="1"/>
          <p:nvPr/>
        </p:nvSpPr>
        <p:spPr>
          <a:xfrm>
            <a:off x="6559673" y="2991708"/>
            <a:ext cx="26962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E</a:t>
            </a:r>
          </a:p>
        </p:txBody>
      </p:sp>
      <p:sp>
        <p:nvSpPr>
          <p:cNvPr id="152" name="TextBox 151">
            <a:extLst>
              <a:ext uri="{FF2B5EF4-FFF2-40B4-BE49-F238E27FC236}">
                <a16:creationId xmlns:a16="http://schemas.microsoft.com/office/drawing/2014/main" id="{833C3701-3F26-AD7A-EE2E-20DC08518427}"/>
              </a:ext>
            </a:extLst>
          </p:cNvPr>
          <p:cNvSpPr txBox="1"/>
          <p:nvPr/>
        </p:nvSpPr>
        <p:spPr>
          <a:xfrm>
            <a:off x="477290" y="6100942"/>
            <a:ext cx="173627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Sequences from t</a:t>
            </a:r>
            <a:r>
              <a:rPr lang="en-US" sz="1200" baseline="-25000" dirty="0"/>
              <a:t>2</a:t>
            </a:r>
            <a:r>
              <a:rPr lang="en-US" sz="1200" dirty="0"/>
              <a:t> </a:t>
            </a:r>
          </a:p>
        </p:txBody>
      </p:sp>
      <p:cxnSp>
        <p:nvCxnSpPr>
          <p:cNvPr id="161" name="Elbow Connector 160">
            <a:extLst>
              <a:ext uri="{FF2B5EF4-FFF2-40B4-BE49-F238E27FC236}">
                <a16:creationId xmlns:a16="http://schemas.microsoft.com/office/drawing/2014/main" id="{D38E9B0B-DABE-445B-DDD2-4063EB769237}"/>
              </a:ext>
            </a:extLst>
          </p:cNvPr>
          <p:cNvCxnSpPr/>
          <p:nvPr/>
        </p:nvCxnSpPr>
        <p:spPr>
          <a:xfrm>
            <a:off x="3083186" y="4985003"/>
            <a:ext cx="786107" cy="310895"/>
          </a:xfrm>
          <a:prstGeom prst="bentConnector3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2" name="Straight Connector 161">
            <a:extLst>
              <a:ext uri="{FF2B5EF4-FFF2-40B4-BE49-F238E27FC236}">
                <a16:creationId xmlns:a16="http://schemas.microsoft.com/office/drawing/2014/main" id="{9AF33795-E26E-F7AB-9B8B-E5BFD4444CDC}"/>
              </a:ext>
            </a:extLst>
          </p:cNvPr>
          <p:cNvCxnSpPr/>
          <p:nvPr/>
        </p:nvCxnSpPr>
        <p:spPr>
          <a:xfrm>
            <a:off x="3869293" y="5179607"/>
            <a:ext cx="0" cy="29918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3" name="Straight Connector 162">
            <a:extLst>
              <a:ext uri="{FF2B5EF4-FFF2-40B4-BE49-F238E27FC236}">
                <a16:creationId xmlns:a16="http://schemas.microsoft.com/office/drawing/2014/main" id="{81208C4D-537E-0155-B4D1-9A60E62B8BAA}"/>
              </a:ext>
            </a:extLst>
          </p:cNvPr>
          <p:cNvCxnSpPr>
            <a:cxnSpLocks/>
          </p:cNvCxnSpPr>
          <p:nvPr/>
        </p:nvCxnSpPr>
        <p:spPr>
          <a:xfrm flipH="1">
            <a:off x="3869293" y="5478787"/>
            <a:ext cx="563136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4" name="Straight Connector 163">
            <a:extLst>
              <a:ext uri="{FF2B5EF4-FFF2-40B4-BE49-F238E27FC236}">
                <a16:creationId xmlns:a16="http://schemas.microsoft.com/office/drawing/2014/main" id="{10766029-09FD-F210-FFF4-1CA751D40638}"/>
              </a:ext>
            </a:extLst>
          </p:cNvPr>
          <p:cNvCxnSpPr>
            <a:cxnSpLocks/>
          </p:cNvCxnSpPr>
          <p:nvPr/>
        </p:nvCxnSpPr>
        <p:spPr>
          <a:xfrm flipH="1">
            <a:off x="3869293" y="5179607"/>
            <a:ext cx="25647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5" name="Straight Connector 164">
            <a:extLst>
              <a:ext uri="{FF2B5EF4-FFF2-40B4-BE49-F238E27FC236}">
                <a16:creationId xmlns:a16="http://schemas.microsoft.com/office/drawing/2014/main" id="{989DDB42-B9B3-8D8A-529C-0201114D44F1}"/>
              </a:ext>
            </a:extLst>
          </p:cNvPr>
          <p:cNvCxnSpPr>
            <a:cxnSpLocks/>
          </p:cNvCxnSpPr>
          <p:nvPr/>
        </p:nvCxnSpPr>
        <p:spPr>
          <a:xfrm>
            <a:off x="3476239" y="4767579"/>
            <a:ext cx="0" cy="221058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6" name="Straight Connector 165">
            <a:extLst>
              <a:ext uri="{FF2B5EF4-FFF2-40B4-BE49-F238E27FC236}">
                <a16:creationId xmlns:a16="http://schemas.microsoft.com/office/drawing/2014/main" id="{6E3314DB-36DC-6F40-4BE6-E75CB6F90B25}"/>
              </a:ext>
            </a:extLst>
          </p:cNvPr>
          <p:cNvCxnSpPr>
            <a:cxnSpLocks/>
          </p:cNvCxnSpPr>
          <p:nvPr/>
        </p:nvCxnSpPr>
        <p:spPr>
          <a:xfrm>
            <a:off x="3476239" y="4767579"/>
            <a:ext cx="90601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7" name="Straight Connector 166">
            <a:extLst>
              <a:ext uri="{FF2B5EF4-FFF2-40B4-BE49-F238E27FC236}">
                <a16:creationId xmlns:a16="http://schemas.microsoft.com/office/drawing/2014/main" id="{DCBE6B9D-D571-CEF9-1F81-028FC1152ABA}"/>
              </a:ext>
            </a:extLst>
          </p:cNvPr>
          <p:cNvCxnSpPr>
            <a:cxnSpLocks/>
          </p:cNvCxnSpPr>
          <p:nvPr/>
        </p:nvCxnSpPr>
        <p:spPr>
          <a:xfrm>
            <a:off x="4125771" y="5066035"/>
            <a:ext cx="0" cy="21692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8" name="Straight Connector 167">
            <a:extLst>
              <a:ext uri="{FF2B5EF4-FFF2-40B4-BE49-F238E27FC236}">
                <a16:creationId xmlns:a16="http://schemas.microsoft.com/office/drawing/2014/main" id="{B6751226-7796-EE8A-4EEE-395B568FD630}"/>
              </a:ext>
            </a:extLst>
          </p:cNvPr>
          <p:cNvCxnSpPr>
            <a:cxnSpLocks/>
          </p:cNvCxnSpPr>
          <p:nvPr/>
        </p:nvCxnSpPr>
        <p:spPr>
          <a:xfrm flipH="1">
            <a:off x="4125771" y="5066035"/>
            <a:ext cx="308517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9" name="Straight Connector 168">
            <a:extLst>
              <a:ext uri="{FF2B5EF4-FFF2-40B4-BE49-F238E27FC236}">
                <a16:creationId xmlns:a16="http://schemas.microsoft.com/office/drawing/2014/main" id="{0DB0571E-9101-9E5C-97D4-54FE54FEF893}"/>
              </a:ext>
            </a:extLst>
          </p:cNvPr>
          <p:cNvCxnSpPr>
            <a:cxnSpLocks/>
          </p:cNvCxnSpPr>
          <p:nvPr/>
        </p:nvCxnSpPr>
        <p:spPr>
          <a:xfrm flipH="1">
            <a:off x="4123912" y="5282956"/>
            <a:ext cx="308517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0" name="Oval 169">
            <a:extLst>
              <a:ext uri="{FF2B5EF4-FFF2-40B4-BE49-F238E27FC236}">
                <a16:creationId xmlns:a16="http://schemas.microsoft.com/office/drawing/2014/main" id="{891555F4-614E-2ECF-CCDA-6D55860D46B5}"/>
              </a:ext>
            </a:extLst>
          </p:cNvPr>
          <p:cNvSpPr/>
          <p:nvPr/>
        </p:nvSpPr>
        <p:spPr>
          <a:xfrm>
            <a:off x="4238805" y="4629725"/>
            <a:ext cx="434843" cy="237195"/>
          </a:xfrm>
          <a:prstGeom prst="ellipse">
            <a:avLst/>
          </a:prstGeom>
          <a:noFill/>
          <a:ln>
            <a:solidFill>
              <a:schemeClr val="accent6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A</a:t>
            </a:r>
          </a:p>
        </p:txBody>
      </p:sp>
      <p:sp>
        <p:nvSpPr>
          <p:cNvPr id="171" name="Oval 170">
            <a:extLst>
              <a:ext uri="{FF2B5EF4-FFF2-40B4-BE49-F238E27FC236}">
                <a16:creationId xmlns:a16="http://schemas.microsoft.com/office/drawing/2014/main" id="{DBFF5281-0434-DBD9-DF51-4B11AA463F6F}"/>
              </a:ext>
            </a:extLst>
          </p:cNvPr>
          <p:cNvSpPr/>
          <p:nvPr/>
        </p:nvSpPr>
        <p:spPr>
          <a:xfrm>
            <a:off x="4328350" y="4970711"/>
            <a:ext cx="355663" cy="369323"/>
          </a:xfrm>
          <a:prstGeom prst="ellipse">
            <a:avLst/>
          </a:prstGeom>
          <a:noFill/>
          <a:ln>
            <a:solidFill>
              <a:srgbClr val="C00000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B</a:t>
            </a:r>
          </a:p>
        </p:txBody>
      </p:sp>
      <p:sp>
        <p:nvSpPr>
          <p:cNvPr id="172" name="Oval 171">
            <a:extLst>
              <a:ext uri="{FF2B5EF4-FFF2-40B4-BE49-F238E27FC236}">
                <a16:creationId xmlns:a16="http://schemas.microsoft.com/office/drawing/2014/main" id="{DA9728C6-8B8A-5E6C-DE98-D43AA23C334E}"/>
              </a:ext>
            </a:extLst>
          </p:cNvPr>
          <p:cNvSpPr/>
          <p:nvPr/>
        </p:nvSpPr>
        <p:spPr>
          <a:xfrm>
            <a:off x="4328350" y="5393753"/>
            <a:ext cx="405837" cy="197875"/>
          </a:xfrm>
          <a:prstGeom prst="ellipse">
            <a:avLst/>
          </a:prstGeom>
          <a:noFill/>
          <a:ln>
            <a:solidFill>
              <a:srgbClr val="0070C0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C</a:t>
            </a:r>
          </a:p>
        </p:txBody>
      </p:sp>
      <p:cxnSp>
        <p:nvCxnSpPr>
          <p:cNvPr id="173" name="Straight Arrow Connector 172">
            <a:extLst>
              <a:ext uri="{FF2B5EF4-FFF2-40B4-BE49-F238E27FC236}">
                <a16:creationId xmlns:a16="http://schemas.microsoft.com/office/drawing/2014/main" id="{2D0979F3-CE2B-F34D-45DA-DE10048DBC5C}"/>
              </a:ext>
            </a:extLst>
          </p:cNvPr>
          <p:cNvCxnSpPr/>
          <p:nvPr/>
        </p:nvCxnSpPr>
        <p:spPr>
          <a:xfrm>
            <a:off x="2470677" y="5070397"/>
            <a:ext cx="260195" cy="750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74" name="TextBox 173">
            <a:extLst>
              <a:ext uri="{FF2B5EF4-FFF2-40B4-BE49-F238E27FC236}">
                <a16:creationId xmlns:a16="http://schemas.microsoft.com/office/drawing/2014/main" id="{870B9199-710D-24E1-96F0-3A19615A1EF0}"/>
              </a:ext>
            </a:extLst>
          </p:cNvPr>
          <p:cNvSpPr txBox="1"/>
          <p:nvPr/>
        </p:nvSpPr>
        <p:spPr>
          <a:xfrm>
            <a:off x="3020288" y="6127620"/>
            <a:ext cx="173627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Clade assignment model from t</a:t>
            </a:r>
            <a:r>
              <a:rPr lang="en-US" sz="1200" baseline="-25000" dirty="0"/>
              <a:t>1</a:t>
            </a:r>
          </a:p>
        </p:txBody>
      </p:sp>
      <p:cxnSp>
        <p:nvCxnSpPr>
          <p:cNvPr id="175" name="Straight Arrow Connector 174">
            <a:extLst>
              <a:ext uri="{FF2B5EF4-FFF2-40B4-BE49-F238E27FC236}">
                <a16:creationId xmlns:a16="http://schemas.microsoft.com/office/drawing/2014/main" id="{FA1B88C7-EC5C-3997-A058-37008542829E}"/>
              </a:ext>
            </a:extLst>
          </p:cNvPr>
          <p:cNvCxnSpPr/>
          <p:nvPr/>
        </p:nvCxnSpPr>
        <p:spPr>
          <a:xfrm>
            <a:off x="4896528" y="5037530"/>
            <a:ext cx="260195" cy="750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10" name="Straight Connector 209">
            <a:extLst>
              <a:ext uri="{FF2B5EF4-FFF2-40B4-BE49-F238E27FC236}">
                <a16:creationId xmlns:a16="http://schemas.microsoft.com/office/drawing/2014/main" id="{5E9BA7CA-FFD6-664D-5F73-7613A0F32E1A}"/>
              </a:ext>
            </a:extLst>
          </p:cNvPr>
          <p:cNvCxnSpPr/>
          <p:nvPr/>
        </p:nvCxnSpPr>
        <p:spPr>
          <a:xfrm>
            <a:off x="10018640" y="4675892"/>
            <a:ext cx="0" cy="85468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11" name="Straight Connector 210">
            <a:extLst>
              <a:ext uri="{FF2B5EF4-FFF2-40B4-BE49-F238E27FC236}">
                <a16:creationId xmlns:a16="http://schemas.microsoft.com/office/drawing/2014/main" id="{535CB1EA-C6AC-59CE-4EB3-4A7BDABFC5F1}"/>
              </a:ext>
            </a:extLst>
          </p:cNvPr>
          <p:cNvCxnSpPr>
            <a:cxnSpLocks/>
          </p:cNvCxnSpPr>
          <p:nvPr/>
        </p:nvCxnSpPr>
        <p:spPr>
          <a:xfrm flipH="1">
            <a:off x="10018640" y="5519488"/>
            <a:ext cx="1590907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12" name="Freeform 211">
            <a:extLst>
              <a:ext uri="{FF2B5EF4-FFF2-40B4-BE49-F238E27FC236}">
                <a16:creationId xmlns:a16="http://schemas.microsoft.com/office/drawing/2014/main" id="{F488ED17-A7C8-C76B-2CF9-1249D2575CCF}"/>
              </a:ext>
            </a:extLst>
          </p:cNvPr>
          <p:cNvSpPr/>
          <p:nvPr/>
        </p:nvSpPr>
        <p:spPr>
          <a:xfrm>
            <a:off x="10085547" y="4742161"/>
            <a:ext cx="1445196" cy="635896"/>
          </a:xfrm>
          <a:custGeom>
            <a:avLst/>
            <a:gdLst>
              <a:gd name="connsiteX0" fmla="*/ 0 w 1445196"/>
              <a:gd name="connsiteY0" fmla="*/ 0 h 635896"/>
              <a:gd name="connsiteX1" fmla="*/ 542693 w 1445196"/>
              <a:gd name="connsiteY1" fmla="*/ 185854 h 635896"/>
              <a:gd name="connsiteX2" fmla="*/ 683942 w 1445196"/>
              <a:gd name="connsiteY2" fmla="*/ 535258 h 635896"/>
              <a:gd name="connsiteX3" fmla="*/ 1360449 w 1445196"/>
              <a:gd name="connsiteY3" fmla="*/ 624468 h 635896"/>
              <a:gd name="connsiteX4" fmla="*/ 1412488 w 1445196"/>
              <a:gd name="connsiteY4" fmla="*/ 631902 h 6358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445196" h="635896">
                <a:moveTo>
                  <a:pt x="0" y="0"/>
                </a:moveTo>
                <a:cubicBezTo>
                  <a:pt x="214351" y="48322"/>
                  <a:pt x="428703" y="96644"/>
                  <a:pt x="542693" y="185854"/>
                </a:cubicBezTo>
                <a:cubicBezTo>
                  <a:pt x="656683" y="275064"/>
                  <a:pt x="547649" y="462156"/>
                  <a:pt x="683942" y="535258"/>
                </a:cubicBezTo>
                <a:cubicBezTo>
                  <a:pt x="820235" y="608360"/>
                  <a:pt x="1239025" y="608361"/>
                  <a:pt x="1360449" y="624468"/>
                </a:cubicBezTo>
                <a:cubicBezTo>
                  <a:pt x="1481873" y="640575"/>
                  <a:pt x="1447180" y="636238"/>
                  <a:pt x="1412488" y="631902"/>
                </a:cubicBezTo>
              </a:path>
            </a:pathLst>
          </a:custGeom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3" name="Freeform 212">
            <a:extLst>
              <a:ext uri="{FF2B5EF4-FFF2-40B4-BE49-F238E27FC236}">
                <a16:creationId xmlns:a16="http://schemas.microsoft.com/office/drawing/2014/main" id="{B574B79F-6FC4-4B8E-19A9-B412B6D46FA5}"/>
              </a:ext>
            </a:extLst>
          </p:cNvPr>
          <p:cNvSpPr/>
          <p:nvPr/>
        </p:nvSpPr>
        <p:spPr>
          <a:xfrm>
            <a:off x="10092981" y="4816502"/>
            <a:ext cx="1434791" cy="572430"/>
          </a:xfrm>
          <a:custGeom>
            <a:avLst/>
            <a:gdLst>
              <a:gd name="connsiteX0" fmla="*/ 0 w 1434791"/>
              <a:gd name="connsiteY0" fmla="*/ 572430 h 572430"/>
              <a:gd name="connsiteX1" fmla="*/ 431181 w 1434791"/>
              <a:gd name="connsiteY1" fmla="*/ 483220 h 572430"/>
              <a:gd name="connsiteX2" fmla="*/ 661639 w 1434791"/>
              <a:gd name="connsiteY2" fmla="*/ 81776 h 572430"/>
              <a:gd name="connsiteX3" fmla="*/ 1405054 w 1434791"/>
              <a:gd name="connsiteY3" fmla="*/ 0 h 572430"/>
              <a:gd name="connsiteX4" fmla="*/ 1405054 w 1434791"/>
              <a:gd name="connsiteY4" fmla="*/ 0 h 572430"/>
              <a:gd name="connsiteX5" fmla="*/ 1434791 w 1434791"/>
              <a:gd name="connsiteY5" fmla="*/ 0 h 5724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34791" h="572430">
                <a:moveTo>
                  <a:pt x="0" y="572430"/>
                </a:moveTo>
                <a:cubicBezTo>
                  <a:pt x="160454" y="568713"/>
                  <a:pt x="320908" y="564996"/>
                  <a:pt x="431181" y="483220"/>
                </a:cubicBezTo>
                <a:cubicBezTo>
                  <a:pt x="541454" y="401444"/>
                  <a:pt x="499327" y="162313"/>
                  <a:pt x="661639" y="81776"/>
                </a:cubicBezTo>
                <a:cubicBezTo>
                  <a:pt x="823951" y="1239"/>
                  <a:pt x="1405054" y="0"/>
                  <a:pt x="1405054" y="0"/>
                </a:cubicBezTo>
                <a:lnTo>
                  <a:pt x="1405054" y="0"/>
                </a:lnTo>
                <a:lnTo>
                  <a:pt x="1434791" y="0"/>
                </a:lnTo>
              </a:path>
            </a:pathLst>
          </a:cu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4" name="Freeform 213">
            <a:extLst>
              <a:ext uri="{FF2B5EF4-FFF2-40B4-BE49-F238E27FC236}">
                <a16:creationId xmlns:a16="http://schemas.microsoft.com/office/drawing/2014/main" id="{4A195B4F-0FAD-3F5F-54E7-C894582B8AE7}"/>
              </a:ext>
            </a:extLst>
          </p:cNvPr>
          <p:cNvSpPr/>
          <p:nvPr/>
        </p:nvSpPr>
        <p:spPr>
          <a:xfrm>
            <a:off x="10085547" y="5396366"/>
            <a:ext cx="1427356" cy="52039"/>
          </a:xfrm>
          <a:custGeom>
            <a:avLst/>
            <a:gdLst>
              <a:gd name="connsiteX0" fmla="*/ 0 w 1427356"/>
              <a:gd name="connsiteY0" fmla="*/ 52039 h 52039"/>
              <a:gd name="connsiteX1" fmla="*/ 520391 w 1427356"/>
              <a:gd name="connsiteY1" fmla="*/ 0 h 52039"/>
              <a:gd name="connsiteX2" fmla="*/ 1427356 w 1427356"/>
              <a:gd name="connsiteY2" fmla="*/ 52039 h 520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427356" h="52039">
                <a:moveTo>
                  <a:pt x="0" y="52039"/>
                </a:moveTo>
                <a:cubicBezTo>
                  <a:pt x="141249" y="26019"/>
                  <a:pt x="282498" y="0"/>
                  <a:pt x="520391" y="0"/>
                </a:cubicBezTo>
                <a:cubicBezTo>
                  <a:pt x="758284" y="0"/>
                  <a:pt x="1092820" y="26019"/>
                  <a:pt x="1427356" y="52039"/>
                </a:cubicBezTo>
              </a:path>
            </a:pathLst>
          </a:custGeom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6" name="TextBox 215">
            <a:extLst>
              <a:ext uri="{FF2B5EF4-FFF2-40B4-BE49-F238E27FC236}">
                <a16:creationId xmlns:a16="http://schemas.microsoft.com/office/drawing/2014/main" id="{A56592CD-420C-BFF6-A5CB-92DA16F122CF}"/>
              </a:ext>
            </a:extLst>
          </p:cNvPr>
          <p:cNvSpPr txBox="1"/>
          <p:nvPr/>
        </p:nvSpPr>
        <p:spPr>
          <a:xfrm>
            <a:off x="9699965" y="4884764"/>
            <a:ext cx="2398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𝜃</a:t>
            </a:r>
          </a:p>
        </p:txBody>
      </p:sp>
      <p:sp>
        <p:nvSpPr>
          <p:cNvPr id="217" name="TextBox 216">
            <a:extLst>
              <a:ext uri="{FF2B5EF4-FFF2-40B4-BE49-F238E27FC236}">
                <a16:creationId xmlns:a16="http://schemas.microsoft.com/office/drawing/2014/main" id="{1FD35085-6F2B-CDEE-68E3-460AA87C3E74}"/>
              </a:ext>
            </a:extLst>
          </p:cNvPr>
          <p:cNvSpPr txBox="1"/>
          <p:nvPr/>
        </p:nvSpPr>
        <p:spPr>
          <a:xfrm>
            <a:off x="5667650" y="6027003"/>
            <a:ext cx="217290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All sequences from t</a:t>
            </a:r>
            <a:r>
              <a:rPr lang="en-US" sz="1200" baseline="-25000" dirty="0"/>
              <a:t>2</a:t>
            </a:r>
            <a:r>
              <a:rPr lang="en-US" sz="1200" dirty="0"/>
              <a:t> assigned the clade they would have been assigned if available at t</a:t>
            </a:r>
            <a:r>
              <a:rPr lang="en-US" sz="1200" baseline="-25000" dirty="0"/>
              <a:t>1</a:t>
            </a:r>
          </a:p>
        </p:txBody>
      </p:sp>
      <p:sp>
        <p:nvSpPr>
          <p:cNvPr id="219" name="Oval 218">
            <a:extLst>
              <a:ext uri="{FF2B5EF4-FFF2-40B4-BE49-F238E27FC236}">
                <a16:creationId xmlns:a16="http://schemas.microsoft.com/office/drawing/2014/main" id="{81789432-D783-E219-27F6-45BAC9D9B035}"/>
              </a:ext>
            </a:extLst>
          </p:cNvPr>
          <p:cNvSpPr/>
          <p:nvPr/>
        </p:nvSpPr>
        <p:spPr>
          <a:xfrm>
            <a:off x="10930464" y="4724128"/>
            <a:ext cx="45719" cy="82502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2" name="Oval 221">
            <a:extLst>
              <a:ext uri="{FF2B5EF4-FFF2-40B4-BE49-F238E27FC236}">
                <a16:creationId xmlns:a16="http://schemas.microsoft.com/office/drawing/2014/main" id="{5D212E56-53B1-6BD3-3090-A3145A0C4BF5}"/>
              </a:ext>
            </a:extLst>
          </p:cNvPr>
          <p:cNvSpPr/>
          <p:nvPr/>
        </p:nvSpPr>
        <p:spPr>
          <a:xfrm>
            <a:off x="10200159" y="5253152"/>
            <a:ext cx="45719" cy="82502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5" name="Oval 224">
            <a:extLst>
              <a:ext uri="{FF2B5EF4-FFF2-40B4-BE49-F238E27FC236}">
                <a16:creationId xmlns:a16="http://schemas.microsoft.com/office/drawing/2014/main" id="{FE17E9D9-C26D-ADA3-F913-67D5131930A1}"/>
              </a:ext>
            </a:extLst>
          </p:cNvPr>
          <p:cNvSpPr/>
          <p:nvPr/>
        </p:nvSpPr>
        <p:spPr>
          <a:xfrm>
            <a:off x="10181436" y="4876406"/>
            <a:ext cx="45719" cy="82502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29" name="Straight Connector 228">
            <a:extLst>
              <a:ext uri="{FF2B5EF4-FFF2-40B4-BE49-F238E27FC236}">
                <a16:creationId xmlns:a16="http://schemas.microsoft.com/office/drawing/2014/main" id="{A3A97F28-3C92-ABAB-B6E9-E1EA7FBE1E2C}"/>
              </a:ext>
            </a:extLst>
          </p:cNvPr>
          <p:cNvCxnSpPr/>
          <p:nvPr/>
        </p:nvCxnSpPr>
        <p:spPr>
          <a:xfrm>
            <a:off x="10036110" y="2671127"/>
            <a:ext cx="0" cy="85468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30" name="Straight Connector 229">
            <a:extLst>
              <a:ext uri="{FF2B5EF4-FFF2-40B4-BE49-F238E27FC236}">
                <a16:creationId xmlns:a16="http://schemas.microsoft.com/office/drawing/2014/main" id="{B0366019-0385-DA15-6F6C-1581F2F6C00E}"/>
              </a:ext>
            </a:extLst>
          </p:cNvPr>
          <p:cNvCxnSpPr>
            <a:cxnSpLocks/>
          </p:cNvCxnSpPr>
          <p:nvPr/>
        </p:nvCxnSpPr>
        <p:spPr>
          <a:xfrm flipH="1">
            <a:off x="10036110" y="3514723"/>
            <a:ext cx="1590907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31" name="Freeform 230">
            <a:extLst>
              <a:ext uri="{FF2B5EF4-FFF2-40B4-BE49-F238E27FC236}">
                <a16:creationId xmlns:a16="http://schemas.microsoft.com/office/drawing/2014/main" id="{F8F5AB94-828F-A86D-CA1E-DE54F6726441}"/>
              </a:ext>
            </a:extLst>
          </p:cNvPr>
          <p:cNvSpPr/>
          <p:nvPr/>
        </p:nvSpPr>
        <p:spPr>
          <a:xfrm>
            <a:off x="10103017" y="2737396"/>
            <a:ext cx="1445196" cy="635896"/>
          </a:xfrm>
          <a:custGeom>
            <a:avLst/>
            <a:gdLst>
              <a:gd name="connsiteX0" fmla="*/ 0 w 1445196"/>
              <a:gd name="connsiteY0" fmla="*/ 0 h 635896"/>
              <a:gd name="connsiteX1" fmla="*/ 542693 w 1445196"/>
              <a:gd name="connsiteY1" fmla="*/ 185854 h 635896"/>
              <a:gd name="connsiteX2" fmla="*/ 683942 w 1445196"/>
              <a:gd name="connsiteY2" fmla="*/ 535258 h 635896"/>
              <a:gd name="connsiteX3" fmla="*/ 1360449 w 1445196"/>
              <a:gd name="connsiteY3" fmla="*/ 624468 h 635896"/>
              <a:gd name="connsiteX4" fmla="*/ 1412488 w 1445196"/>
              <a:gd name="connsiteY4" fmla="*/ 631902 h 6358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445196" h="635896">
                <a:moveTo>
                  <a:pt x="0" y="0"/>
                </a:moveTo>
                <a:cubicBezTo>
                  <a:pt x="214351" y="48322"/>
                  <a:pt x="428703" y="96644"/>
                  <a:pt x="542693" y="185854"/>
                </a:cubicBezTo>
                <a:cubicBezTo>
                  <a:pt x="656683" y="275064"/>
                  <a:pt x="547649" y="462156"/>
                  <a:pt x="683942" y="535258"/>
                </a:cubicBezTo>
                <a:cubicBezTo>
                  <a:pt x="820235" y="608360"/>
                  <a:pt x="1239025" y="608361"/>
                  <a:pt x="1360449" y="624468"/>
                </a:cubicBezTo>
                <a:cubicBezTo>
                  <a:pt x="1481873" y="640575"/>
                  <a:pt x="1447180" y="636238"/>
                  <a:pt x="1412488" y="631902"/>
                </a:cubicBezTo>
              </a:path>
            </a:pathLst>
          </a:custGeom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2" name="Freeform 231">
            <a:extLst>
              <a:ext uri="{FF2B5EF4-FFF2-40B4-BE49-F238E27FC236}">
                <a16:creationId xmlns:a16="http://schemas.microsoft.com/office/drawing/2014/main" id="{DDF7506C-106A-E85D-2814-2B0E65D14156}"/>
              </a:ext>
            </a:extLst>
          </p:cNvPr>
          <p:cNvSpPr/>
          <p:nvPr/>
        </p:nvSpPr>
        <p:spPr>
          <a:xfrm>
            <a:off x="10110451" y="2811737"/>
            <a:ext cx="1434791" cy="572430"/>
          </a:xfrm>
          <a:custGeom>
            <a:avLst/>
            <a:gdLst>
              <a:gd name="connsiteX0" fmla="*/ 0 w 1434791"/>
              <a:gd name="connsiteY0" fmla="*/ 572430 h 572430"/>
              <a:gd name="connsiteX1" fmla="*/ 431181 w 1434791"/>
              <a:gd name="connsiteY1" fmla="*/ 483220 h 572430"/>
              <a:gd name="connsiteX2" fmla="*/ 661639 w 1434791"/>
              <a:gd name="connsiteY2" fmla="*/ 81776 h 572430"/>
              <a:gd name="connsiteX3" fmla="*/ 1405054 w 1434791"/>
              <a:gd name="connsiteY3" fmla="*/ 0 h 572430"/>
              <a:gd name="connsiteX4" fmla="*/ 1405054 w 1434791"/>
              <a:gd name="connsiteY4" fmla="*/ 0 h 572430"/>
              <a:gd name="connsiteX5" fmla="*/ 1434791 w 1434791"/>
              <a:gd name="connsiteY5" fmla="*/ 0 h 5724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34791" h="572430">
                <a:moveTo>
                  <a:pt x="0" y="572430"/>
                </a:moveTo>
                <a:cubicBezTo>
                  <a:pt x="160454" y="568713"/>
                  <a:pt x="320908" y="564996"/>
                  <a:pt x="431181" y="483220"/>
                </a:cubicBezTo>
                <a:cubicBezTo>
                  <a:pt x="541454" y="401444"/>
                  <a:pt x="499327" y="162313"/>
                  <a:pt x="661639" y="81776"/>
                </a:cubicBezTo>
                <a:cubicBezTo>
                  <a:pt x="823951" y="1239"/>
                  <a:pt x="1405054" y="0"/>
                  <a:pt x="1405054" y="0"/>
                </a:cubicBezTo>
                <a:lnTo>
                  <a:pt x="1405054" y="0"/>
                </a:lnTo>
                <a:lnTo>
                  <a:pt x="1434791" y="0"/>
                </a:lnTo>
              </a:path>
            </a:pathLst>
          </a:cu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3" name="Freeform 232">
            <a:extLst>
              <a:ext uri="{FF2B5EF4-FFF2-40B4-BE49-F238E27FC236}">
                <a16:creationId xmlns:a16="http://schemas.microsoft.com/office/drawing/2014/main" id="{707E2027-97B8-5405-2F43-8E5736B37759}"/>
              </a:ext>
            </a:extLst>
          </p:cNvPr>
          <p:cNvSpPr/>
          <p:nvPr/>
        </p:nvSpPr>
        <p:spPr>
          <a:xfrm>
            <a:off x="10103017" y="3391601"/>
            <a:ext cx="1427356" cy="52039"/>
          </a:xfrm>
          <a:custGeom>
            <a:avLst/>
            <a:gdLst>
              <a:gd name="connsiteX0" fmla="*/ 0 w 1427356"/>
              <a:gd name="connsiteY0" fmla="*/ 52039 h 52039"/>
              <a:gd name="connsiteX1" fmla="*/ 520391 w 1427356"/>
              <a:gd name="connsiteY1" fmla="*/ 0 h 52039"/>
              <a:gd name="connsiteX2" fmla="*/ 1427356 w 1427356"/>
              <a:gd name="connsiteY2" fmla="*/ 52039 h 520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427356" h="52039">
                <a:moveTo>
                  <a:pt x="0" y="52039"/>
                </a:moveTo>
                <a:cubicBezTo>
                  <a:pt x="141249" y="26019"/>
                  <a:pt x="282498" y="0"/>
                  <a:pt x="520391" y="0"/>
                </a:cubicBezTo>
                <a:cubicBezTo>
                  <a:pt x="758284" y="0"/>
                  <a:pt x="1092820" y="26019"/>
                  <a:pt x="1427356" y="52039"/>
                </a:cubicBezTo>
              </a:path>
            </a:pathLst>
          </a:custGeom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4" name="TextBox 233">
            <a:extLst>
              <a:ext uri="{FF2B5EF4-FFF2-40B4-BE49-F238E27FC236}">
                <a16:creationId xmlns:a16="http://schemas.microsoft.com/office/drawing/2014/main" id="{3BFED0F2-1405-ED06-3B09-15C66BC7EB3E}"/>
              </a:ext>
            </a:extLst>
          </p:cNvPr>
          <p:cNvSpPr txBox="1"/>
          <p:nvPr/>
        </p:nvSpPr>
        <p:spPr>
          <a:xfrm>
            <a:off x="10712310" y="3551937"/>
            <a:ext cx="51295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𝛕</a:t>
            </a:r>
          </a:p>
        </p:txBody>
      </p:sp>
      <p:sp>
        <p:nvSpPr>
          <p:cNvPr id="235" name="TextBox 234">
            <a:extLst>
              <a:ext uri="{FF2B5EF4-FFF2-40B4-BE49-F238E27FC236}">
                <a16:creationId xmlns:a16="http://schemas.microsoft.com/office/drawing/2014/main" id="{44D1C258-6837-F92C-C4F7-4B412D9DF9FD}"/>
              </a:ext>
            </a:extLst>
          </p:cNvPr>
          <p:cNvSpPr txBox="1"/>
          <p:nvPr/>
        </p:nvSpPr>
        <p:spPr>
          <a:xfrm>
            <a:off x="9762786" y="2900320"/>
            <a:ext cx="2398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𝜃</a:t>
            </a:r>
          </a:p>
        </p:txBody>
      </p:sp>
      <p:cxnSp>
        <p:nvCxnSpPr>
          <p:cNvPr id="236" name="Straight Arrow Connector 235">
            <a:extLst>
              <a:ext uri="{FF2B5EF4-FFF2-40B4-BE49-F238E27FC236}">
                <a16:creationId xmlns:a16="http://schemas.microsoft.com/office/drawing/2014/main" id="{96DD0351-C10D-882B-461C-0F81E4CC3546}"/>
              </a:ext>
            </a:extLst>
          </p:cNvPr>
          <p:cNvCxnSpPr/>
          <p:nvPr/>
        </p:nvCxnSpPr>
        <p:spPr>
          <a:xfrm>
            <a:off x="9216007" y="992851"/>
            <a:ext cx="260195" cy="750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240" name="Graphic 239" descr="No sign outline">
            <a:extLst>
              <a:ext uri="{FF2B5EF4-FFF2-40B4-BE49-F238E27FC236}">
                <a16:creationId xmlns:a16="http://schemas.microsoft.com/office/drawing/2014/main" id="{6F1627AE-20AE-DC6C-08C5-0088B2A1EC2D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9186713" y="2501829"/>
            <a:ext cx="526779" cy="526779"/>
          </a:xfrm>
          <a:prstGeom prst="rect">
            <a:avLst/>
          </a:prstGeom>
        </p:spPr>
      </p:pic>
      <p:cxnSp>
        <p:nvCxnSpPr>
          <p:cNvPr id="241" name="Straight Arrow Connector 240">
            <a:extLst>
              <a:ext uri="{FF2B5EF4-FFF2-40B4-BE49-F238E27FC236}">
                <a16:creationId xmlns:a16="http://schemas.microsoft.com/office/drawing/2014/main" id="{7079BC90-BF36-FB40-BF5D-11D642B3B9FC}"/>
              </a:ext>
            </a:extLst>
          </p:cNvPr>
          <p:cNvCxnSpPr/>
          <p:nvPr/>
        </p:nvCxnSpPr>
        <p:spPr>
          <a:xfrm>
            <a:off x="9316069" y="4943458"/>
            <a:ext cx="260195" cy="750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42" name="Oval 241">
            <a:extLst>
              <a:ext uri="{FF2B5EF4-FFF2-40B4-BE49-F238E27FC236}">
                <a16:creationId xmlns:a16="http://schemas.microsoft.com/office/drawing/2014/main" id="{50F489A1-0555-1822-CE00-C2BE89EAC19B}"/>
              </a:ext>
            </a:extLst>
          </p:cNvPr>
          <p:cNvSpPr/>
          <p:nvPr/>
        </p:nvSpPr>
        <p:spPr>
          <a:xfrm>
            <a:off x="10190192" y="3233349"/>
            <a:ext cx="45719" cy="82502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5" name="Oval 244">
            <a:extLst>
              <a:ext uri="{FF2B5EF4-FFF2-40B4-BE49-F238E27FC236}">
                <a16:creationId xmlns:a16="http://schemas.microsoft.com/office/drawing/2014/main" id="{5AA3E660-51B9-93C6-257A-0F42CE6D029C}"/>
              </a:ext>
            </a:extLst>
          </p:cNvPr>
          <p:cNvSpPr/>
          <p:nvPr/>
        </p:nvSpPr>
        <p:spPr>
          <a:xfrm>
            <a:off x="10190818" y="3178753"/>
            <a:ext cx="45719" cy="82502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8" name="Oval 247">
            <a:extLst>
              <a:ext uri="{FF2B5EF4-FFF2-40B4-BE49-F238E27FC236}">
                <a16:creationId xmlns:a16="http://schemas.microsoft.com/office/drawing/2014/main" id="{07F6F1F9-BAD4-6D0B-D686-335EB244530B}"/>
              </a:ext>
            </a:extLst>
          </p:cNvPr>
          <p:cNvSpPr/>
          <p:nvPr/>
        </p:nvSpPr>
        <p:spPr>
          <a:xfrm>
            <a:off x="11077892" y="2724894"/>
            <a:ext cx="45719" cy="82502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6" name="Oval 255">
            <a:extLst>
              <a:ext uri="{FF2B5EF4-FFF2-40B4-BE49-F238E27FC236}">
                <a16:creationId xmlns:a16="http://schemas.microsoft.com/office/drawing/2014/main" id="{7AF2E8FB-4F45-31E6-581C-E0CE665C36FC}"/>
              </a:ext>
            </a:extLst>
          </p:cNvPr>
          <p:cNvSpPr/>
          <p:nvPr/>
        </p:nvSpPr>
        <p:spPr>
          <a:xfrm>
            <a:off x="10192051" y="3129050"/>
            <a:ext cx="45719" cy="82502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7" name="TextBox 256">
            <a:extLst>
              <a:ext uri="{FF2B5EF4-FFF2-40B4-BE49-F238E27FC236}">
                <a16:creationId xmlns:a16="http://schemas.microsoft.com/office/drawing/2014/main" id="{1FE1CFFB-731D-776D-90ED-E6474031B8F8}"/>
              </a:ext>
            </a:extLst>
          </p:cNvPr>
          <p:cNvSpPr txBox="1"/>
          <p:nvPr/>
        </p:nvSpPr>
        <p:spPr>
          <a:xfrm>
            <a:off x="9786447" y="6101640"/>
            <a:ext cx="21729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Evaluation of t</a:t>
            </a:r>
            <a:r>
              <a:rPr lang="en-US" sz="1200" baseline="-25000" dirty="0"/>
              <a:t>1</a:t>
            </a:r>
            <a:r>
              <a:rPr lang="en-US" sz="1200" dirty="0"/>
              <a:t> estimates using clade assignment as of t</a:t>
            </a:r>
            <a:r>
              <a:rPr lang="en-US" sz="1200" baseline="-25000" dirty="0"/>
              <a:t>1</a:t>
            </a:r>
            <a:r>
              <a:rPr lang="en-US" sz="1200" dirty="0"/>
              <a:t> but sequences as of t</a:t>
            </a:r>
            <a:r>
              <a:rPr lang="en-US" sz="1200" baseline="-25000" dirty="0"/>
              <a:t>2</a:t>
            </a:r>
          </a:p>
        </p:txBody>
      </p:sp>
      <p:sp>
        <p:nvSpPr>
          <p:cNvPr id="258" name="TextBox 257">
            <a:extLst>
              <a:ext uri="{FF2B5EF4-FFF2-40B4-BE49-F238E27FC236}">
                <a16:creationId xmlns:a16="http://schemas.microsoft.com/office/drawing/2014/main" id="{F86C1828-8395-E3A6-3A1E-54663BC12CE0}"/>
              </a:ext>
            </a:extLst>
          </p:cNvPr>
          <p:cNvSpPr txBox="1"/>
          <p:nvPr/>
        </p:nvSpPr>
        <p:spPr>
          <a:xfrm>
            <a:off x="10671097" y="1721137"/>
            <a:ext cx="51295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𝛕</a:t>
            </a:r>
          </a:p>
        </p:txBody>
      </p:sp>
      <p:sp>
        <p:nvSpPr>
          <p:cNvPr id="259" name="TextBox 258">
            <a:extLst>
              <a:ext uri="{FF2B5EF4-FFF2-40B4-BE49-F238E27FC236}">
                <a16:creationId xmlns:a16="http://schemas.microsoft.com/office/drawing/2014/main" id="{ADF0A5F3-D645-134D-226B-60574D64B2E9}"/>
              </a:ext>
            </a:extLst>
          </p:cNvPr>
          <p:cNvSpPr txBox="1"/>
          <p:nvPr/>
        </p:nvSpPr>
        <p:spPr>
          <a:xfrm>
            <a:off x="10729341" y="5631180"/>
            <a:ext cx="51295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𝛕</a:t>
            </a:r>
          </a:p>
        </p:txBody>
      </p:sp>
      <p:sp>
        <p:nvSpPr>
          <p:cNvPr id="260" name="TextBox 259">
            <a:extLst>
              <a:ext uri="{FF2B5EF4-FFF2-40B4-BE49-F238E27FC236}">
                <a16:creationId xmlns:a16="http://schemas.microsoft.com/office/drawing/2014/main" id="{73004063-0D77-DB49-C92E-128D17DF4647}"/>
              </a:ext>
            </a:extLst>
          </p:cNvPr>
          <p:cNvSpPr txBox="1"/>
          <p:nvPr/>
        </p:nvSpPr>
        <p:spPr>
          <a:xfrm>
            <a:off x="801251" y="3810485"/>
            <a:ext cx="78954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𝛕 = 𝛕</a:t>
            </a:r>
            <a:r>
              <a:rPr lang="en-US" sz="1200" baseline="-25000" dirty="0"/>
              <a:t>1</a:t>
            </a:r>
            <a:r>
              <a:rPr lang="en-US" sz="1200" dirty="0"/>
              <a:t> </a:t>
            </a:r>
          </a:p>
        </p:txBody>
      </p:sp>
      <p:sp>
        <p:nvSpPr>
          <p:cNvPr id="263" name="TextBox 262">
            <a:extLst>
              <a:ext uri="{FF2B5EF4-FFF2-40B4-BE49-F238E27FC236}">
                <a16:creationId xmlns:a16="http://schemas.microsoft.com/office/drawing/2014/main" id="{CE2F4049-BEBA-9412-7E0E-89E7B50D64A0}"/>
              </a:ext>
            </a:extLst>
          </p:cNvPr>
          <p:cNvSpPr txBox="1"/>
          <p:nvPr/>
        </p:nvSpPr>
        <p:spPr>
          <a:xfrm>
            <a:off x="1884430" y="3832517"/>
            <a:ext cx="78954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𝛕 = 𝛕</a:t>
            </a:r>
            <a:r>
              <a:rPr lang="en-US" sz="1200" baseline="-25000" dirty="0"/>
              <a:t>2</a:t>
            </a:r>
            <a:r>
              <a:rPr lang="en-US" sz="1200" dirty="0"/>
              <a:t> </a:t>
            </a:r>
          </a:p>
        </p:txBody>
      </p:sp>
      <p:sp>
        <p:nvSpPr>
          <p:cNvPr id="264" name="TextBox 263">
            <a:extLst>
              <a:ext uri="{FF2B5EF4-FFF2-40B4-BE49-F238E27FC236}">
                <a16:creationId xmlns:a16="http://schemas.microsoft.com/office/drawing/2014/main" id="{25F8870D-84E2-3E2E-F833-C78D1BE15432}"/>
              </a:ext>
            </a:extLst>
          </p:cNvPr>
          <p:cNvSpPr txBox="1"/>
          <p:nvPr/>
        </p:nvSpPr>
        <p:spPr>
          <a:xfrm>
            <a:off x="737578" y="1522699"/>
            <a:ext cx="78954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𝛕 = 𝛕</a:t>
            </a:r>
            <a:r>
              <a:rPr lang="en-US" sz="1200" baseline="-25000" dirty="0"/>
              <a:t>1</a:t>
            </a:r>
            <a:r>
              <a:rPr lang="en-US" sz="1200" dirty="0"/>
              <a:t> </a:t>
            </a:r>
          </a:p>
        </p:txBody>
      </p:sp>
      <p:sp>
        <p:nvSpPr>
          <p:cNvPr id="265" name="TextBox 264">
            <a:extLst>
              <a:ext uri="{FF2B5EF4-FFF2-40B4-BE49-F238E27FC236}">
                <a16:creationId xmlns:a16="http://schemas.microsoft.com/office/drawing/2014/main" id="{B751C740-F787-93FF-665D-73268AE1136C}"/>
              </a:ext>
            </a:extLst>
          </p:cNvPr>
          <p:cNvSpPr txBox="1"/>
          <p:nvPr/>
        </p:nvSpPr>
        <p:spPr>
          <a:xfrm>
            <a:off x="5803362" y="3788991"/>
            <a:ext cx="78954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𝛕 = 𝛕</a:t>
            </a:r>
            <a:r>
              <a:rPr lang="en-US" sz="1200" baseline="-25000" dirty="0"/>
              <a:t>1</a:t>
            </a:r>
            <a:r>
              <a:rPr lang="en-US" sz="1200" dirty="0"/>
              <a:t> </a:t>
            </a:r>
          </a:p>
        </p:txBody>
      </p:sp>
      <p:sp>
        <p:nvSpPr>
          <p:cNvPr id="266" name="TextBox 265">
            <a:extLst>
              <a:ext uri="{FF2B5EF4-FFF2-40B4-BE49-F238E27FC236}">
                <a16:creationId xmlns:a16="http://schemas.microsoft.com/office/drawing/2014/main" id="{E19F9EF6-6D88-BA09-27B8-1EE4F42A2A50}"/>
              </a:ext>
            </a:extLst>
          </p:cNvPr>
          <p:cNvSpPr txBox="1"/>
          <p:nvPr/>
        </p:nvSpPr>
        <p:spPr>
          <a:xfrm>
            <a:off x="7081918" y="3773422"/>
            <a:ext cx="78954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𝛕 = 𝛕</a:t>
            </a:r>
            <a:r>
              <a:rPr lang="en-US" sz="1200" baseline="-25000" dirty="0"/>
              <a:t>2</a:t>
            </a:r>
            <a:r>
              <a:rPr lang="en-US" sz="1200" dirty="0"/>
              <a:t> </a:t>
            </a:r>
          </a:p>
        </p:txBody>
      </p:sp>
      <p:sp>
        <p:nvSpPr>
          <p:cNvPr id="269" name="TextBox 268">
            <a:extLst>
              <a:ext uri="{FF2B5EF4-FFF2-40B4-BE49-F238E27FC236}">
                <a16:creationId xmlns:a16="http://schemas.microsoft.com/office/drawing/2014/main" id="{2B2E27F3-C076-3AA1-9348-AFC18B43201D}"/>
              </a:ext>
            </a:extLst>
          </p:cNvPr>
          <p:cNvSpPr txBox="1"/>
          <p:nvPr/>
        </p:nvSpPr>
        <p:spPr>
          <a:xfrm>
            <a:off x="7392703" y="24123"/>
            <a:ext cx="20574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Observed clade counts</a:t>
            </a:r>
          </a:p>
        </p:txBody>
      </p:sp>
      <p:cxnSp>
        <p:nvCxnSpPr>
          <p:cNvPr id="270" name="Straight Connector 269">
            <a:extLst>
              <a:ext uri="{FF2B5EF4-FFF2-40B4-BE49-F238E27FC236}">
                <a16:creationId xmlns:a16="http://schemas.microsoft.com/office/drawing/2014/main" id="{B01031D5-C672-9FE2-8FD0-C2997CAAAA4F}"/>
              </a:ext>
            </a:extLst>
          </p:cNvPr>
          <p:cNvCxnSpPr>
            <a:cxnSpLocks/>
          </p:cNvCxnSpPr>
          <p:nvPr/>
        </p:nvCxnSpPr>
        <p:spPr>
          <a:xfrm flipH="1">
            <a:off x="8230815" y="1663897"/>
            <a:ext cx="851433" cy="10838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73" name="Rectangle 272">
            <a:extLst>
              <a:ext uri="{FF2B5EF4-FFF2-40B4-BE49-F238E27FC236}">
                <a16:creationId xmlns:a16="http://schemas.microsoft.com/office/drawing/2014/main" id="{113DE9C0-290F-D820-2F51-C6056E126F20}"/>
              </a:ext>
            </a:extLst>
          </p:cNvPr>
          <p:cNvSpPr/>
          <p:nvPr/>
        </p:nvSpPr>
        <p:spPr>
          <a:xfrm>
            <a:off x="8386526" y="1300549"/>
            <a:ext cx="193965" cy="347158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6" name="Rectangle 275">
            <a:extLst>
              <a:ext uri="{FF2B5EF4-FFF2-40B4-BE49-F238E27FC236}">
                <a16:creationId xmlns:a16="http://schemas.microsoft.com/office/drawing/2014/main" id="{FD6415EF-6E0F-C19B-65A7-B12BEE47C5E7}"/>
              </a:ext>
            </a:extLst>
          </p:cNvPr>
          <p:cNvSpPr/>
          <p:nvPr/>
        </p:nvSpPr>
        <p:spPr>
          <a:xfrm>
            <a:off x="8383414" y="935882"/>
            <a:ext cx="193965" cy="347158"/>
          </a:xfrm>
          <a:prstGeom prst="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77" name="Straight Connector 276">
            <a:extLst>
              <a:ext uri="{FF2B5EF4-FFF2-40B4-BE49-F238E27FC236}">
                <a16:creationId xmlns:a16="http://schemas.microsoft.com/office/drawing/2014/main" id="{382B0B35-B697-5939-2A7A-1FA7B57B5AF5}"/>
              </a:ext>
            </a:extLst>
          </p:cNvPr>
          <p:cNvCxnSpPr>
            <a:cxnSpLocks/>
          </p:cNvCxnSpPr>
          <p:nvPr/>
        </p:nvCxnSpPr>
        <p:spPr>
          <a:xfrm>
            <a:off x="8235293" y="545498"/>
            <a:ext cx="0" cy="1126587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78" name="TextBox 277">
            <a:extLst>
              <a:ext uri="{FF2B5EF4-FFF2-40B4-BE49-F238E27FC236}">
                <a16:creationId xmlns:a16="http://schemas.microsoft.com/office/drawing/2014/main" id="{F407D79B-7482-7E45-6116-BD33C157C97A}"/>
              </a:ext>
            </a:extLst>
          </p:cNvPr>
          <p:cNvSpPr txBox="1"/>
          <p:nvPr/>
        </p:nvSpPr>
        <p:spPr>
          <a:xfrm>
            <a:off x="7832390" y="970097"/>
            <a:ext cx="3145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>
                <a:latin typeface="Cambria" panose="02040503050406030204" pitchFamily="18" charset="0"/>
              </a:rPr>
              <a:t>C</a:t>
            </a:r>
          </a:p>
        </p:txBody>
      </p:sp>
      <p:sp>
        <p:nvSpPr>
          <p:cNvPr id="282" name="TextBox 281">
            <a:extLst>
              <a:ext uri="{FF2B5EF4-FFF2-40B4-BE49-F238E27FC236}">
                <a16:creationId xmlns:a16="http://schemas.microsoft.com/office/drawing/2014/main" id="{F115BA96-1676-91FF-0BF2-7472D2CDB8B6}"/>
              </a:ext>
            </a:extLst>
          </p:cNvPr>
          <p:cNvSpPr txBox="1"/>
          <p:nvPr/>
        </p:nvSpPr>
        <p:spPr>
          <a:xfrm>
            <a:off x="8511478" y="1691986"/>
            <a:ext cx="51295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𝛕</a:t>
            </a:r>
          </a:p>
        </p:txBody>
      </p:sp>
      <p:cxnSp>
        <p:nvCxnSpPr>
          <p:cNvPr id="283" name="Straight Arrow Connector 282">
            <a:extLst>
              <a:ext uri="{FF2B5EF4-FFF2-40B4-BE49-F238E27FC236}">
                <a16:creationId xmlns:a16="http://schemas.microsoft.com/office/drawing/2014/main" id="{E9837D3F-7FA0-9AF4-FD9F-C4CA5B4CBED5}"/>
              </a:ext>
            </a:extLst>
          </p:cNvPr>
          <p:cNvCxnSpPr/>
          <p:nvPr/>
        </p:nvCxnSpPr>
        <p:spPr>
          <a:xfrm>
            <a:off x="6935290" y="963183"/>
            <a:ext cx="260195" cy="750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84" name="Straight Arrow Connector 283">
            <a:extLst>
              <a:ext uri="{FF2B5EF4-FFF2-40B4-BE49-F238E27FC236}">
                <a16:creationId xmlns:a16="http://schemas.microsoft.com/office/drawing/2014/main" id="{5767C9F2-74A8-47FE-1569-AB61D5C2823B}"/>
              </a:ext>
            </a:extLst>
          </p:cNvPr>
          <p:cNvCxnSpPr/>
          <p:nvPr/>
        </p:nvCxnSpPr>
        <p:spPr>
          <a:xfrm>
            <a:off x="7137402" y="2659179"/>
            <a:ext cx="260195" cy="750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85" name="Straight Connector 284">
            <a:extLst>
              <a:ext uri="{FF2B5EF4-FFF2-40B4-BE49-F238E27FC236}">
                <a16:creationId xmlns:a16="http://schemas.microsoft.com/office/drawing/2014/main" id="{B55A5EC2-97E8-6111-6BC7-377FC5C3555F}"/>
              </a:ext>
            </a:extLst>
          </p:cNvPr>
          <p:cNvCxnSpPr>
            <a:cxnSpLocks/>
          </p:cNvCxnSpPr>
          <p:nvPr/>
        </p:nvCxnSpPr>
        <p:spPr>
          <a:xfrm flipH="1">
            <a:off x="8303971" y="3571263"/>
            <a:ext cx="851433" cy="10838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86" name="Rectangle 285">
            <a:extLst>
              <a:ext uri="{FF2B5EF4-FFF2-40B4-BE49-F238E27FC236}">
                <a16:creationId xmlns:a16="http://schemas.microsoft.com/office/drawing/2014/main" id="{6A5CEE6B-BFCE-0322-5F76-6BBA68C6EE24}"/>
              </a:ext>
            </a:extLst>
          </p:cNvPr>
          <p:cNvSpPr/>
          <p:nvPr/>
        </p:nvSpPr>
        <p:spPr>
          <a:xfrm>
            <a:off x="8464418" y="3202814"/>
            <a:ext cx="193965" cy="347158"/>
          </a:xfrm>
          <a:prstGeom prst="rect">
            <a:avLst/>
          </a:prstGeom>
          <a:solidFill>
            <a:schemeClr val="accent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7" name="Rectangle 286">
            <a:extLst>
              <a:ext uri="{FF2B5EF4-FFF2-40B4-BE49-F238E27FC236}">
                <a16:creationId xmlns:a16="http://schemas.microsoft.com/office/drawing/2014/main" id="{78A5731C-9B4E-8D1E-542E-82C03C2A0DF6}"/>
              </a:ext>
            </a:extLst>
          </p:cNvPr>
          <p:cNvSpPr/>
          <p:nvPr/>
        </p:nvSpPr>
        <p:spPr>
          <a:xfrm>
            <a:off x="8464916" y="2836795"/>
            <a:ext cx="193965" cy="347158"/>
          </a:xfrm>
          <a:prstGeom prst="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88" name="Straight Connector 287">
            <a:extLst>
              <a:ext uri="{FF2B5EF4-FFF2-40B4-BE49-F238E27FC236}">
                <a16:creationId xmlns:a16="http://schemas.microsoft.com/office/drawing/2014/main" id="{97137357-6BF1-690E-9EC3-C9D43EF2B170}"/>
              </a:ext>
            </a:extLst>
          </p:cNvPr>
          <p:cNvCxnSpPr>
            <a:cxnSpLocks/>
          </p:cNvCxnSpPr>
          <p:nvPr/>
        </p:nvCxnSpPr>
        <p:spPr>
          <a:xfrm>
            <a:off x="8307742" y="2448990"/>
            <a:ext cx="0" cy="1126587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89" name="TextBox 288">
            <a:extLst>
              <a:ext uri="{FF2B5EF4-FFF2-40B4-BE49-F238E27FC236}">
                <a16:creationId xmlns:a16="http://schemas.microsoft.com/office/drawing/2014/main" id="{F84B970F-430A-D553-784B-4851BEBFF8A7}"/>
              </a:ext>
            </a:extLst>
          </p:cNvPr>
          <p:cNvSpPr txBox="1"/>
          <p:nvPr/>
        </p:nvSpPr>
        <p:spPr>
          <a:xfrm>
            <a:off x="7946098" y="2771322"/>
            <a:ext cx="3145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>
                <a:latin typeface="Cambria" panose="02040503050406030204" pitchFamily="18" charset="0"/>
              </a:rPr>
              <a:t>C</a:t>
            </a:r>
          </a:p>
        </p:txBody>
      </p:sp>
      <p:sp>
        <p:nvSpPr>
          <p:cNvPr id="290" name="TextBox 289">
            <a:extLst>
              <a:ext uri="{FF2B5EF4-FFF2-40B4-BE49-F238E27FC236}">
                <a16:creationId xmlns:a16="http://schemas.microsoft.com/office/drawing/2014/main" id="{06D853BD-9462-00C0-6395-5E3195E81B9C}"/>
              </a:ext>
            </a:extLst>
          </p:cNvPr>
          <p:cNvSpPr txBox="1"/>
          <p:nvPr/>
        </p:nvSpPr>
        <p:spPr>
          <a:xfrm>
            <a:off x="8630606" y="3667554"/>
            <a:ext cx="51295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𝛕</a:t>
            </a:r>
          </a:p>
        </p:txBody>
      </p:sp>
      <p:sp>
        <p:nvSpPr>
          <p:cNvPr id="291" name="Rectangle 290">
            <a:extLst>
              <a:ext uri="{FF2B5EF4-FFF2-40B4-BE49-F238E27FC236}">
                <a16:creationId xmlns:a16="http://schemas.microsoft.com/office/drawing/2014/main" id="{40688F1A-FF4C-391C-F5FD-9115728106F8}"/>
              </a:ext>
            </a:extLst>
          </p:cNvPr>
          <p:cNvSpPr/>
          <p:nvPr/>
        </p:nvSpPr>
        <p:spPr>
          <a:xfrm>
            <a:off x="8463407" y="2485600"/>
            <a:ext cx="193965" cy="347158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2" name="Rectangle 291">
            <a:extLst>
              <a:ext uri="{FF2B5EF4-FFF2-40B4-BE49-F238E27FC236}">
                <a16:creationId xmlns:a16="http://schemas.microsoft.com/office/drawing/2014/main" id="{9499FA6F-70C1-1597-CFD5-4086B5F503EB}"/>
              </a:ext>
            </a:extLst>
          </p:cNvPr>
          <p:cNvSpPr/>
          <p:nvPr/>
        </p:nvSpPr>
        <p:spPr>
          <a:xfrm>
            <a:off x="8814512" y="3222701"/>
            <a:ext cx="193965" cy="324917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3" name="TextBox 292">
            <a:extLst>
              <a:ext uri="{FF2B5EF4-FFF2-40B4-BE49-F238E27FC236}">
                <a16:creationId xmlns:a16="http://schemas.microsoft.com/office/drawing/2014/main" id="{5E166435-0B86-A09C-905B-196595D66DED}"/>
              </a:ext>
            </a:extLst>
          </p:cNvPr>
          <p:cNvSpPr txBox="1"/>
          <p:nvPr/>
        </p:nvSpPr>
        <p:spPr>
          <a:xfrm rot="16200000">
            <a:off x="-154142" y="4621781"/>
            <a:ext cx="6776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 = t</a:t>
            </a:r>
            <a:r>
              <a:rPr lang="en-US" baseline="-25000" dirty="0"/>
              <a:t>2</a:t>
            </a:r>
            <a:r>
              <a:rPr lang="en-US" dirty="0"/>
              <a:t> </a:t>
            </a:r>
          </a:p>
        </p:txBody>
      </p:sp>
      <p:sp>
        <p:nvSpPr>
          <p:cNvPr id="294" name="TextBox 293">
            <a:extLst>
              <a:ext uri="{FF2B5EF4-FFF2-40B4-BE49-F238E27FC236}">
                <a16:creationId xmlns:a16="http://schemas.microsoft.com/office/drawing/2014/main" id="{B169DD55-C6EA-79E9-3C6F-CD6B5BE74264}"/>
              </a:ext>
            </a:extLst>
          </p:cNvPr>
          <p:cNvSpPr txBox="1"/>
          <p:nvPr/>
        </p:nvSpPr>
        <p:spPr>
          <a:xfrm rot="19233967">
            <a:off x="346069" y="4423254"/>
            <a:ext cx="104214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AGCTACCTA</a:t>
            </a:r>
          </a:p>
        </p:txBody>
      </p:sp>
      <p:sp>
        <p:nvSpPr>
          <p:cNvPr id="295" name="TextBox 294">
            <a:extLst>
              <a:ext uri="{FF2B5EF4-FFF2-40B4-BE49-F238E27FC236}">
                <a16:creationId xmlns:a16="http://schemas.microsoft.com/office/drawing/2014/main" id="{25721384-778B-CC9D-08A6-4F43924E11E2}"/>
              </a:ext>
            </a:extLst>
          </p:cNvPr>
          <p:cNvSpPr txBox="1"/>
          <p:nvPr/>
        </p:nvSpPr>
        <p:spPr>
          <a:xfrm rot="19371636">
            <a:off x="361658" y="4939989"/>
            <a:ext cx="104214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AGCTACGAA</a:t>
            </a:r>
          </a:p>
        </p:txBody>
      </p:sp>
      <p:pic>
        <p:nvPicPr>
          <p:cNvPr id="296" name="Graphic 295" descr="DNA outline">
            <a:extLst>
              <a:ext uri="{FF2B5EF4-FFF2-40B4-BE49-F238E27FC236}">
                <a16:creationId xmlns:a16="http://schemas.microsoft.com/office/drawing/2014/main" id="{7105901D-DDB5-674C-A9B6-C1FA910D108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2967273">
            <a:off x="591429" y="4039851"/>
            <a:ext cx="302212" cy="914400"/>
          </a:xfrm>
          <a:prstGeom prst="rect">
            <a:avLst/>
          </a:prstGeom>
        </p:spPr>
      </p:pic>
      <p:pic>
        <p:nvPicPr>
          <p:cNvPr id="297" name="Graphic 296" descr="DNA outline">
            <a:extLst>
              <a:ext uri="{FF2B5EF4-FFF2-40B4-BE49-F238E27FC236}">
                <a16:creationId xmlns:a16="http://schemas.microsoft.com/office/drawing/2014/main" id="{11813C5A-5658-375A-039A-899C213ED1A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2967273">
            <a:off x="623187" y="4490084"/>
            <a:ext cx="302212" cy="914400"/>
          </a:xfrm>
          <a:prstGeom prst="rect">
            <a:avLst/>
          </a:prstGeom>
        </p:spPr>
      </p:pic>
      <p:sp>
        <p:nvSpPr>
          <p:cNvPr id="298" name="TextBox 297">
            <a:extLst>
              <a:ext uri="{FF2B5EF4-FFF2-40B4-BE49-F238E27FC236}">
                <a16:creationId xmlns:a16="http://schemas.microsoft.com/office/drawing/2014/main" id="{C46F73DD-3668-1231-A2F1-8378FF276156}"/>
              </a:ext>
            </a:extLst>
          </p:cNvPr>
          <p:cNvSpPr txBox="1"/>
          <p:nvPr/>
        </p:nvSpPr>
        <p:spPr>
          <a:xfrm rot="19233967">
            <a:off x="1444944" y="5247665"/>
            <a:ext cx="104214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AGCTACGTA</a:t>
            </a:r>
          </a:p>
        </p:txBody>
      </p:sp>
      <p:sp>
        <p:nvSpPr>
          <p:cNvPr id="299" name="TextBox 298">
            <a:extLst>
              <a:ext uri="{FF2B5EF4-FFF2-40B4-BE49-F238E27FC236}">
                <a16:creationId xmlns:a16="http://schemas.microsoft.com/office/drawing/2014/main" id="{E97EB5D6-3CFD-1AA0-7550-7EA0301F69AB}"/>
              </a:ext>
            </a:extLst>
          </p:cNvPr>
          <p:cNvSpPr txBox="1"/>
          <p:nvPr/>
        </p:nvSpPr>
        <p:spPr>
          <a:xfrm rot="19107639">
            <a:off x="393191" y="5391969"/>
            <a:ext cx="104214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AGCTACGTT</a:t>
            </a:r>
          </a:p>
        </p:txBody>
      </p:sp>
      <p:pic>
        <p:nvPicPr>
          <p:cNvPr id="300" name="Graphic 299" descr="DNA outline">
            <a:extLst>
              <a:ext uri="{FF2B5EF4-FFF2-40B4-BE49-F238E27FC236}">
                <a16:creationId xmlns:a16="http://schemas.microsoft.com/office/drawing/2014/main" id="{9BE97438-64DF-AB72-3072-82FDE614832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2967273">
            <a:off x="1708478" y="4826748"/>
            <a:ext cx="302212" cy="914400"/>
          </a:xfrm>
          <a:prstGeom prst="rect">
            <a:avLst/>
          </a:prstGeom>
        </p:spPr>
      </p:pic>
      <p:pic>
        <p:nvPicPr>
          <p:cNvPr id="301" name="Graphic 300" descr="DNA outline">
            <a:extLst>
              <a:ext uri="{FF2B5EF4-FFF2-40B4-BE49-F238E27FC236}">
                <a16:creationId xmlns:a16="http://schemas.microsoft.com/office/drawing/2014/main" id="{4E86AA37-35BF-931E-14D3-49C1B09D97F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2967273">
            <a:off x="658045" y="4974205"/>
            <a:ext cx="302212" cy="914400"/>
          </a:xfrm>
          <a:prstGeom prst="rect">
            <a:avLst/>
          </a:prstGeom>
        </p:spPr>
      </p:pic>
      <p:sp>
        <p:nvSpPr>
          <p:cNvPr id="303" name="TextBox 302">
            <a:extLst>
              <a:ext uri="{FF2B5EF4-FFF2-40B4-BE49-F238E27FC236}">
                <a16:creationId xmlns:a16="http://schemas.microsoft.com/office/drawing/2014/main" id="{A066AC8C-8BD1-D0BC-BDAA-63126A34C146}"/>
              </a:ext>
            </a:extLst>
          </p:cNvPr>
          <p:cNvSpPr txBox="1"/>
          <p:nvPr/>
        </p:nvSpPr>
        <p:spPr>
          <a:xfrm>
            <a:off x="524573" y="5845610"/>
            <a:ext cx="78954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𝛕 = 𝛕</a:t>
            </a:r>
            <a:r>
              <a:rPr lang="en-US" sz="1200" baseline="-25000" dirty="0"/>
              <a:t>1</a:t>
            </a:r>
            <a:r>
              <a:rPr lang="en-US" sz="1200" dirty="0"/>
              <a:t> </a:t>
            </a:r>
          </a:p>
        </p:txBody>
      </p:sp>
      <p:sp>
        <p:nvSpPr>
          <p:cNvPr id="304" name="TextBox 303">
            <a:extLst>
              <a:ext uri="{FF2B5EF4-FFF2-40B4-BE49-F238E27FC236}">
                <a16:creationId xmlns:a16="http://schemas.microsoft.com/office/drawing/2014/main" id="{DB3F6A1A-7647-3D92-9B24-32BF9A185AC3}"/>
              </a:ext>
            </a:extLst>
          </p:cNvPr>
          <p:cNvSpPr txBox="1"/>
          <p:nvPr/>
        </p:nvSpPr>
        <p:spPr>
          <a:xfrm>
            <a:off x="1607752" y="5867642"/>
            <a:ext cx="78954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𝛕 = 𝛕</a:t>
            </a:r>
            <a:r>
              <a:rPr lang="en-US" sz="1200" baseline="-25000" dirty="0"/>
              <a:t>2</a:t>
            </a:r>
            <a:r>
              <a:rPr lang="en-US" sz="1200" dirty="0"/>
              <a:t> </a:t>
            </a:r>
          </a:p>
        </p:txBody>
      </p:sp>
      <p:sp>
        <p:nvSpPr>
          <p:cNvPr id="307" name="TextBox 306">
            <a:extLst>
              <a:ext uri="{FF2B5EF4-FFF2-40B4-BE49-F238E27FC236}">
                <a16:creationId xmlns:a16="http://schemas.microsoft.com/office/drawing/2014/main" id="{CF4A34B2-80C8-0EFE-AF06-581125356C36}"/>
              </a:ext>
            </a:extLst>
          </p:cNvPr>
          <p:cNvSpPr txBox="1"/>
          <p:nvPr/>
        </p:nvSpPr>
        <p:spPr>
          <a:xfrm rot="19233967">
            <a:off x="5407246" y="4449510"/>
            <a:ext cx="104214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AGCTACCTA</a:t>
            </a:r>
          </a:p>
        </p:txBody>
      </p:sp>
      <p:sp>
        <p:nvSpPr>
          <p:cNvPr id="308" name="TextBox 307">
            <a:extLst>
              <a:ext uri="{FF2B5EF4-FFF2-40B4-BE49-F238E27FC236}">
                <a16:creationId xmlns:a16="http://schemas.microsoft.com/office/drawing/2014/main" id="{5281F489-7EEF-1566-D79C-272F3EFD24CA}"/>
              </a:ext>
            </a:extLst>
          </p:cNvPr>
          <p:cNvSpPr txBox="1"/>
          <p:nvPr/>
        </p:nvSpPr>
        <p:spPr>
          <a:xfrm rot="19371636">
            <a:off x="5590453" y="4874520"/>
            <a:ext cx="104214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AGCTACGAA</a:t>
            </a:r>
          </a:p>
        </p:txBody>
      </p:sp>
      <p:pic>
        <p:nvPicPr>
          <p:cNvPr id="310" name="Graphic 309" descr="DNA outline">
            <a:extLst>
              <a:ext uri="{FF2B5EF4-FFF2-40B4-BE49-F238E27FC236}">
                <a16:creationId xmlns:a16="http://schemas.microsoft.com/office/drawing/2014/main" id="{27B95FAD-E9CF-8BE9-6AB8-D42036293020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 rot="2967273">
            <a:off x="5849737" y="4452470"/>
            <a:ext cx="302212" cy="914400"/>
          </a:xfrm>
          <a:prstGeom prst="rect">
            <a:avLst/>
          </a:prstGeom>
        </p:spPr>
      </p:pic>
      <p:sp>
        <p:nvSpPr>
          <p:cNvPr id="311" name="TextBox 310">
            <a:extLst>
              <a:ext uri="{FF2B5EF4-FFF2-40B4-BE49-F238E27FC236}">
                <a16:creationId xmlns:a16="http://schemas.microsoft.com/office/drawing/2014/main" id="{ABA6964F-B933-02FF-B908-387B02472628}"/>
              </a:ext>
            </a:extLst>
          </p:cNvPr>
          <p:cNvSpPr txBox="1"/>
          <p:nvPr/>
        </p:nvSpPr>
        <p:spPr>
          <a:xfrm rot="19233967">
            <a:off x="6787158" y="5261675"/>
            <a:ext cx="104214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AGCTACGTA</a:t>
            </a:r>
          </a:p>
        </p:txBody>
      </p:sp>
      <p:sp>
        <p:nvSpPr>
          <p:cNvPr id="312" name="TextBox 311">
            <a:extLst>
              <a:ext uri="{FF2B5EF4-FFF2-40B4-BE49-F238E27FC236}">
                <a16:creationId xmlns:a16="http://schemas.microsoft.com/office/drawing/2014/main" id="{4D6C4D1E-4626-8292-0D3A-51D5DD12EB70}"/>
              </a:ext>
            </a:extLst>
          </p:cNvPr>
          <p:cNvSpPr txBox="1"/>
          <p:nvPr/>
        </p:nvSpPr>
        <p:spPr>
          <a:xfrm rot="19128486">
            <a:off x="5722206" y="5372726"/>
            <a:ext cx="104214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AGCTACGTT</a:t>
            </a:r>
          </a:p>
        </p:txBody>
      </p:sp>
      <p:pic>
        <p:nvPicPr>
          <p:cNvPr id="314" name="Graphic 313" descr="DNA outline">
            <a:extLst>
              <a:ext uri="{FF2B5EF4-FFF2-40B4-BE49-F238E27FC236}">
                <a16:creationId xmlns:a16="http://schemas.microsoft.com/office/drawing/2014/main" id="{715C96F7-62DE-54FB-C94F-E129A7BEDA65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 rot="2967273">
            <a:off x="5993952" y="4931127"/>
            <a:ext cx="302212" cy="914400"/>
          </a:xfrm>
          <a:prstGeom prst="rect">
            <a:avLst/>
          </a:prstGeom>
        </p:spPr>
      </p:pic>
      <p:sp>
        <p:nvSpPr>
          <p:cNvPr id="315" name="TextBox 314">
            <a:extLst>
              <a:ext uri="{FF2B5EF4-FFF2-40B4-BE49-F238E27FC236}">
                <a16:creationId xmlns:a16="http://schemas.microsoft.com/office/drawing/2014/main" id="{C6621558-12F3-12C2-90DD-C51153FE1D09}"/>
              </a:ext>
            </a:extLst>
          </p:cNvPr>
          <p:cNvSpPr txBox="1"/>
          <p:nvPr/>
        </p:nvSpPr>
        <p:spPr>
          <a:xfrm>
            <a:off x="6179516" y="4135510"/>
            <a:ext cx="27603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A</a:t>
            </a:r>
          </a:p>
        </p:txBody>
      </p:sp>
      <p:pic>
        <p:nvPicPr>
          <p:cNvPr id="316" name="Graphic 315" descr="Tag outline">
            <a:extLst>
              <a:ext uri="{FF2B5EF4-FFF2-40B4-BE49-F238E27FC236}">
                <a16:creationId xmlns:a16="http://schemas.microsoft.com/office/drawing/2014/main" id="{EAC5E6AF-9EC1-001F-9926-F2FE8C0C774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20175687">
            <a:off x="6290837" y="4446580"/>
            <a:ext cx="434846" cy="434846"/>
          </a:xfrm>
          <a:prstGeom prst="rect">
            <a:avLst/>
          </a:prstGeom>
        </p:spPr>
      </p:pic>
      <p:sp>
        <p:nvSpPr>
          <p:cNvPr id="317" name="TextBox 316">
            <a:extLst>
              <a:ext uri="{FF2B5EF4-FFF2-40B4-BE49-F238E27FC236}">
                <a16:creationId xmlns:a16="http://schemas.microsoft.com/office/drawing/2014/main" id="{8D785221-FB63-6E41-3BA3-753066DE82A6}"/>
              </a:ext>
            </a:extLst>
          </p:cNvPr>
          <p:cNvSpPr txBox="1"/>
          <p:nvPr/>
        </p:nvSpPr>
        <p:spPr>
          <a:xfrm>
            <a:off x="6397933" y="4537326"/>
            <a:ext cx="27764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B</a:t>
            </a:r>
          </a:p>
        </p:txBody>
      </p:sp>
      <p:pic>
        <p:nvPicPr>
          <p:cNvPr id="318" name="Graphic 317" descr="Tag outline">
            <a:extLst>
              <a:ext uri="{FF2B5EF4-FFF2-40B4-BE49-F238E27FC236}">
                <a16:creationId xmlns:a16="http://schemas.microsoft.com/office/drawing/2014/main" id="{D33ED25F-A127-D406-3193-6D7598EF0A6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20175687">
            <a:off x="7501830" y="4781990"/>
            <a:ext cx="434846" cy="446275"/>
          </a:xfrm>
          <a:prstGeom prst="rect">
            <a:avLst/>
          </a:prstGeom>
        </p:spPr>
      </p:pic>
      <p:sp>
        <p:nvSpPr>
          <p:cNvPr id="319" name="TextBox 318">
            <a:extLst>
              <a:ext uri="{FF2B5EF4-FFF2-40B4-BE49-F238E27FC236}">
                <a16:creationId xmlns:a16="http://schemas.microsoft.com/office/drawing/2014/main" id="{42D59D42-46CD-795B-D958-EAF922A80BD3}"/>
              </a:ext>
            </a:extLst>
          </p:cNvPr>
          <p:cNvSpPr txBox="1"/>
          <p:nvPr/>
        </p:nvSpPr>
        <p:spPr>
          <a:xfrm flipH="1">
            <a:off x="7612267" y="4894852"/>
            <a:ext cx="25559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B</a:t>
            </a:r>
          </a:p>
        </p:txBody>
      </p:sp>
      <p:pic>
        <p:nvPicPr>
          <p:cNvPr id="320" name="Graphic 319" descr="Tag outline">
            <a:extLst>
              <a:ext uri="{FF2B5EF4-FFF2-40B4-BE49-F238E27FC236}">
                <a16:creationId xmlns:a16="http://schemas.microsoft.com/office/drawing/2014/main" id="{C5F1F428-FC00-E7EA-8BDD-95BFB20B2BC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20175687">
            <a:off x="6431780" y="4923312"/>
            <a:ext cx="434846" cy="446275"/>
          </a:xfrm>
          <a:prstGeom prst="rect">
            <a:avLst/>
          </a:prstGeom>
        </p:spPr>
      </p:pic>
      <p:sp>
        <p:nvSpPr>
          <p:cNvPr id="321" name="TextBox 320">
            <a:extLst>
              <a:ext uri="{FF2B5EF4-FFF2-40B4-BE49-F238E27FC236}">
                <a16:creationId xmlns:a16="http://schemas.microsoft.com/office/drawing/2014/main" id="{2415A183-907E-8794-A30F-B8FBB391B111}"/>
              </a:ext>
            </a:extLst>
          </p:cNvPr>
          <p:cNvSpPr txBox="1"/>
          <p:nvPr/>
        </p:nvSpPr>
        <p:spPr>
          <a:xfrm>
            <a:off x="6525187" y="5024212"/>
            <a:ext cx="27603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A</a:t>
            </a:r>
          </a:p>
        </p:txBody>
      </p:sp>
      <p:sp>
        <p:nvSpPr>
          <p:cNvPr id="322" name="TextBox 321">
            <a:extLst>
              <a:ext uri="{FF2B5EF4-FFF2-40B4-BE49-F238E27FC236}">
                <a16:creationId xmlns:a16="http://schemas.microsoft.com/office/drawing/2014/main" id="{D313B104-F58C-76FF-EF47-0ABA6CB879B1}"/>
              </a:ext>
            </a:extLst>
          </p:cNvPr>
          <p:cNvSpPr txBox="1"/>
          <p:nvPr/>
        </p:nvSpPr>
        <p:spPr>
          <a:xfrm>
            <a:off x="5792432" y="5829922"/>
            <a:ext cx="78954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𝛕 = 𝛕</a:t>
            </a:r>
            <a:r>
              <a:rPr lang="en-US" sz="1200" baseline="-25000" dirty="0"/>
              <a:t>1</a:t>
            </a:r>
            <a:r>
              <a:rPr lang="en-US" sz="1200" dirty="0"/>
              <a:t> </a:t>
            </a:r>
          </a:p>
        </p:txBody>
      </p:sp>
      <p:sp>
        <p:nvSpPr>
          <p:cNvPr id="323" name="TextBox 322">
            <a:extLst>
              <a:ext uri="{FF2B5EF4-FFF2-40B4-BE49-F238E27FC236}">
                <a16:creationId xmlns:a16="http://schemas.microsoft.com/office/drawing/2014/main" id="{05888646-C43B-41BC-910F-BCFE9682A2FA}"/>
              </a:ext>
            </a:extLst>
          </p:cNvPr>
          <p:cNvSpPr txBox="1"/>
          <p:nvPr/>
        </p:nvSpPr>
        <p:spPr>
          <a:xfrm>
            <a:off x="7070988" y="5814353"/>
            <a:ext cx="78954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𝛕 = 𝛕</a:t>
            </a:r>
            <a:r>
              <a:rPr lang="en-US" sz="1200" baseline="-25000" dirty="0"/>
              <a:t>2</a:t>
            </a:r>
            <a:r>
              <a:rPr lang="en-US" sz="1200" dirty="0"/>
              <a:t> </a:t>
            </a:r>
          </a:p>
        </p:txBody>
      </p:sp>
      <p:cxnSp>
        <p:nvCxnSpPr>
          <p:cNvPr id="324" name="Straight Arrow Connector 323">
            <a:extLst>
              <a:ext uri="{FF2B5EF4-FFF2-40B4-BE49-F238E27FC236}">
                <a16:creationId xmlns:a16="http://schemas.microsoft.com/office/drawing/2014/main" id="{B3E9EE01-E5BA-68D2-4989-A4C69A611C6B}"/>
              </a:ext>
            </a:extLst>
          </p:cNvPr>
          <p:cNvCxnSpPr/>
          <p:nvPr/>
        </p:nvCxnSpPr>
        <p:spPr>
          <a:xfrm>
            <a:off x="7126472" y="4700110"/>
            <a:ext cx="260195" cy="750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25" name="Straight Connector 324">
            <a:extLst>
              <a:ext uri="{FF2B5EF4-FFF2-40B4-BE49-F238E27FC236}">
                <a16:creationId xmlns:a16="http://schemas.microsoft.com/office/drawing/2014/main" id="{D2BB9ECA-8207-DA7A-1063-6AB764C23934}"/>
              </a:ext>
            </a:extLst>
          </p:cNvPr>
          <p:cNvCxnSpPr>
            <a:cxnSpLocks/>
          </p:cNvCxnSpPr>
          <p:nvPr/>
        </p:nvCxnSpPr>
        <p:spPr>
          <a:xfrm flipH="1">
            <a:off x="8293041" y="5612194"/>
            <a:ext cx="851433" cy="10838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27" name="Rectangle 326">
            <a:extLst>
              <a:ext uri="{FF2B5EF4-FFF2-40B4-BE49-F238E27FC236}">
                <a16:creationId xmlns:a16="http://schemas.microsoft.com/office/drawing/2014/main" id="{4C5A228F-E1CD-CA27-AF8D-B57BDF1799B4}"/>
              </a:ext>
            </a:extLst>
          </p:cNvPr>
          <p:cNvSpPr/>
          <p:nvPr/>
        </p:nvSpPr>
        <p:spPr>
          <a:xfrm>
            <a:off x="8453986" y="4877725"/>
            <a:ext cx="193965" cy="695021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28" name="Straight Connector 327">
            <a:extLst>
              <a:ext uri="{FF2B5EF4-FFF2-40B4-BE49-F238E27FC236}">
                <a16:creationId xmlns:a16="http://schemas.microsoft.com/office/drawing/2014/main" id="{A6549AC7-03A8-1949-A6C7-537D93B4291C}"/>
              </a:ext>
            </a:extLst>
          </p:cNvPr>
          <p:cNvCxnSpPr>
            <a:cxnSpLocks/>
          </p:cNvCxnSpPr>
          <p:nvPr/>
        </p:nvCxnSpPr>
        <p:spPr>
          <a:xfrm>
            <a:off x="8296812" y="4489921"/>
            <a:ext cx="0" cy="1126587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29" name="TextBox 328">
            <a:extLst>
              <a:ext uri="{FF2B5EF4-FFF2-40B4-BE49-F238E27FC236}">
                <a16:creationId xmlns:a16="http://schemas.microsoft.com/office/drawing/2014/main" id="{7E99952C-1C4A-A445-5195-283BB20C65EC}"/>
              </a:ext>
            </a:extLst>
          </p:cNvPr>
          <p:cNvSpPr txBox="1"/>
          <p:nvPr/>
        </p:nvSpPr>
        <p:spPr>
          <a:xfrm>
            <a:off x="7893909" y="4914520"/>
            <a:ext cx="3145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>
                <a:latin typeface="Cambria" panose="02040503050406030204" pitchFamily="18" charset="0"/>
              </a:rPr>
              <a:t>C</a:t>
            </a:r>
          </a:p>
        </p:txBody>
      </p:sp>
      <p:sp>
        <p:nvSpPr>
          <p:cNvPr id="330" name="TextBox 329">
            <a:extLst>
              <a:ext uri="{FF2B5EF4-FFF2-40B4-BE49-F238E27FC236}">
                <a16:creationId xmlns:a16="http://schemas.microsoft.com/office/drawing/2014/main" id="{466C8B1B-C2AF-AC06-1617-9B649F01A1B4}"/>
              </a:ext>
            </a:extLst>
          </p:cNvPr>
          <p:cNvSpPr txBox="1"/>
          <p:nvPr/>
        </p:nvSpPr>
        <p:spPr>
          <a:xfrm>
            <a:off x="8619676" y="5708485"/>
            <a:ext cx="51295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𝛕</a:t>
            </a:r>
          </a:p>
        </p:txBody>
      </p:sp>
      <p:sp>
        <p:nvSpPr>
          <p:cNvPr id="331" name="Rectangle 330">
            <a:extLst>
              <a:ext uri="{FF2B5EF4-FFF2-40B4-BE49-F238E27FC236}">
                <a16:creationId xmlns:a16="http://schemas.microsoft.com/office/drawing/2014/main" id="{10CDF7E4-6EC5-00BF-9AAD-576FD85DEA32}"/>
              </a:ext>
            </a:extLst>
          </p:cNvPr>
          <p:cNvSpPr/>
          <p:nvPr/>
        </p:nvSpPr>
        <p:spPr>
          <a:xfrm>
            <a:off x="8452477" y="4526531"/>
            <a:ext cx="193965" cy="347158"/>
          </a:xfrm>
          <a:prstGeom prst="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2" name="Rectangle 331">
            <a:extLst>
              <a:ext uri="{FF2B5EF4-FFF2-40B4-BE49-F238E27FC236}">
                <a16:creationId xmlns:a16="http://schemas.microsoft.com/office/drawing/2014/main" id="{0384E883-4847-CB58-2508-B23AEAE96D54}"/>
              </a:ext>
            </a:extLst>
          </p:cNvPr>
          <p:cNvSpPr/>
          <p:nvPr/>
        </p:nvSpPr>
        <p:spPr>
          <a:xfrm>
            <a:off x="8813107" y="5223994"/>
            <a:ext cx="193965" cy="347158"/>
          </a:xfrm>
          <a:prstGeom prst="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34" name="Graphic 333" descr="Tag outline">
            <a:extLst>
              <a:ext uri="{FF2B5EF4-FFF2-40B4-BE49-F238E27FC236}">
                <a16:creationId xmlns:a16="http://schemas.microsoft.com/office/drawing/2014/main" id="{1DDF5A51-58BE-5449-9276-F268F31A002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20175687">
            <a:off x="6097613" y="4045453"/>
            <a:ext cx="434846" cy="446275"/>
          </a:xfrm>
          <a:prstGeom prst="rect">
            <a:avLst/>
          </a:prstGeom>
        </p:spPr>
      </p:pic>
      <p:pic>
        <p:nvPicPr>
          <p:cNvPr id="335" name="Graphic 334" descr="DNA outline">
            <a:extLst>
              <a:ext uri="{FF2B5EF4-FFF2-40B4-BE49-F238E27FC236}">
                <a16:creationId xmlns:a16="http://schemas.microsoft.com/office/drawing/2014/main" id="{D4E80E81-7031-D070-A6D5-ABB32A258CD9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 rot="2967273">
            <a:off x="5663770" y="4048735"/>
            <a:ext cx="302212" cy="914400"/>
          </a:xfrm>
          <a:prstGeom prst="rect">
            <a:avLst/>
          </a:prstGeom>
        </p:spPr>
      </p:pic>
      <p:sp>
        <p:nvSpPr>
          <p:cNvPr id="336" name="Oval 335">
            <a:extLst>
              <a:ext uri="{FF2B5EF4-FFF2-40B4-BE49-F238E27FC236}">
                <a16:creationId xmlns:a16="http://schemas.microsoft.com/office/drawing/2014/main" id="{B02D231C-5EEE-A4A9-D33A-8DE0FD41D9F4}"/>
              </a:ext>
            </a:extLst>
          </p:cNvPr>
          <p:cNvSpPr/>
          <p:nvPr/>
        </p:nvSpPr>
        <p:spPr>
          <a:xfrm>
            <a:off x="10104392" y="1162891"/>
            <a:ext cx="45719" cy="82502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7" name="Oval 336">
            <a:extLst>
              <a:ext uri="{FF2B5EF4-FFF2-40B4-BE49-F238E27FC236}">
                <a16:creationId xmlns:a16="http://schemas.microsoft.com/office/drawing/2014/main" id="{24E4790D-75BE-40C4-FEBC-69A8DE952467}"/>
              </a:ext>
            </a:extLst>
          </p:cNvPr>
          <p:cNvSpPr/>
          <p:nvPr/>
        </p:nvSpPr>
        <p:spPr>
          <a:xfrm>
            <a:off x="10103719" y="1222692"/>
            <a:ext cx="45719" cy="82502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8" name="TextBox 337">
            <a:extLst>
              <a:ext uri="{FF2B5EF4-FFF2-40B4-BE49-F238E27FC236}">
                <a16:creationId xmlns:a16="http://schemas.microsoft.com/office/drawing/2014/main" id="{EDF9B514-6494-13EA-6FB8-9EE0791F4FF0}"/>
              </a:ext>
            </a:extLst>
          </p:cNvPr>
          <p:cNvSpPr txBox="1"/>
          <p:nvPr/>
        </p:nvSpPr>
        <p:spPr>
          <a:xfrm>
            <a:off x="7733476" y="6194406"/>
            <a:ext cx="217290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”Final” count of  the number of sequences of each clade</a:t>
            </a:r>
          </a:p>
        </p:txBody>
      </p:sp>
      <p:pic>
        <p:nvPicPr>
          <p:cNvPr id="339" name="Graphic 338" descr="DNA outline">
            <a:extLst>
              <a:ext uri="{FF2B5EF4-FFF2-40B4-BE49-F238E27FC236}">
                <a16:creationId xmlns:a16="http://schemas.microsoft.com/office/drawing/2014/main" id="{4F2FB1A0-BBE5-88FC-923E-2648F251E8E8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 rot="2967273">
            <a:off x="7069353" y="4803652"/>
            <a:ext cx="302212" cy="91440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5AEB9628-46F5-24A4-9A7F-B66101883ED7}"/>
              </a:ext>
            </a:extLst>
          </p:cNvPr>
          <p:cNvSpPr txBox="1"/>
          <p:nvPr/>
        </p:nvSpPr>
        <p:spPr>
          <a:xfrm>
            <a:off x="68908" y="394472"/>
            <a:ext cx="2868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A754C09-D7AA-809D-F55E-0C4C393738D0}"/>
              </a:ext>
            </a:extLst>
          </p:cNvPr>
          <p:cNvSpPr txBox="1"/>
          <p:nvPr/>
        </p:nvSpPr>
        <p:spPr>
          <a:xfrm>
            <a:off x="110078" y="2166544"/>
            <a:ext cx="2868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B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839391D-FAF2-D078-E2D6-1B71F2B89CA4}"/>
              </a:ext>
            </a:extLst>
          </p:cNvPr>
          <p:cNvSpPr txBox="1"/>
          <p:nvPr/>
        </p:nvSpPr>
        <p:spPr>
          <a:xfrm>
            <a:off x="44831" y="4198947"/>
            <a:ext cx="2868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</a:t>
            </a:r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2154E059-E9E5-43C1-D89C-B590ECDBBD38}"/>
              </a:ext>
            </a:extLst>
          </p:cNvPr>
          <p:cNvSpPr/>
          <p:nvPr/>
        </p:nvSpPr>
        <p:spPr>
          <a:xfrm>
            <a:off x="0" y="357234"/>
            <a:ext cx="12192000" cy="1592145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9D2E43A9-EAFB-C9E1-751D-588FC1A67D38}"/>
              </a:ext>
            </a:extLst>
          </p:cNvPr>
          <p:cNvSpPr/>
          <p:nvPr/>
        </p:nvSpPr>
        <p:spPr>
          <a:xfrm>
            <a:off x="26456" y="2054433"/>
            <a:ext cx="12192000" cy="2019845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B1FE9234-EAE4-BC34-BD3C-29FDC2C64A79}"/>
              </a:ext>
            </a:extLst>
          </p:cNvPr>
          <p:cNvSpPr/>
          <p:nvPr/>
        </p:nvSpPr>
        <p:spPr>
          <a:xfrm>
            <a:off x="-49828" y="4126078"/>
            <a:ext cx="12192000" cy="2731921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732200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6916</TotalTime>
  <Words>327</Words>
  <Application>Microsoft Macintosh PowerPoint</Application>
  <PresentationFormat>Widescreen</PresentationFormat>
  <Paragraphs>80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7" baseType="lpstr">
      <vt:lpstr>Aptos</vt:lpstr>
      <vt:lpstr>Aptos Display</vt:lpstr>
      <vt:lpstr>Arial</vt:lpstr>
      <vt:lpstr>Cambria</vt:lpstr>
      <vt:lpstr>Courier New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Kaitlyn Johnson</dc:creator>
  <cp:lastModifiedBy>Kaitlyn Johnson</cp:lastModifiedBy>
  <cp:revision>4</cp:revision>
  <dcterms:created xsi:type="dcterms:W3CDTF">2026-01-09T10:20:20Z</dcterms:created>
  <dcterms:modified xsi:type="dcterms:W3CDTF">2026-03-30T08:06:06Z</dcterms:modified>
</cp:coreProperties>
</file>