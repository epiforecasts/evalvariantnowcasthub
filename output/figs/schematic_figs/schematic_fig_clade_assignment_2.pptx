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183"/>
  </p:normalViewPr>
  <p:slideViewPr>
    <p:cSldViewPr snapToGrid="0">
      <p:cViewPr>
        <p:scale>
          <a:sx n="100" d="100"/>
          <a:sy n="100" d="100"/>
        </p:scale>
        <p:origin x="1192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655F7-AB5B-BD93-28E1-78E391082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6FCC6-B72A-118C-9B84-209396A49A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A5D5D-AEA3-3CF0-C0AB-253BFCB99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9109B-ABD1-DE95-D41D-44B96CD5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53F27-638D-D0F8-6CE0-22F2AED8E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464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441D3-893F-C55D-152B-1054F63F1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09E5A-9FEC-AE7B-545B-F23F2941C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95054-4269-FC25-5DF5-34FCA77C6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FA1E0-7B7F-DF1F-268E-C2AD37FC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50526-1F4F-EBC1-316C-1685693F9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439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D03AD-AD04-4410-5E63-2A6E64E0A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57426-A8EA-1EB1-98F8-A421075AB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5F6C7-AF65-62F8-B507-4356507F6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EDCEE-18F6-37A8-72D3-FFA752F75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8D93E-CAF6-06A9-89FC-1D4A150DD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40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E2859-4B8F-AB00-0315-32371B494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84F52-C9CA-0F54-C859-38625576FF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BD4A7-01C0-6955-23F5-AA27ABA6B8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AB6122-B1C4-4400-5CBE-531F3FA87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6A2859-3CBB-A91F-147D-E7DEA029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624A5-A9B6-D77C-1E0B-E48CAA022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760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8E35C-DD78-6A21-AB1E-3A69C5738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7173B9-E7DD-E11A-C9CC-A57519E708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43BAA8-C33F-A519-8F95-AFA71C1A47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121663-EEA4-422D-F660-DEA5EE780A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E96C80-C79F-3EED-A0E0-27994BAC59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A2F4FF-E808-B7C1-7930-4B22358DC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1/9/26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3C1284-DA29-6158-7FD1-5E79948AF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79369-B3BA-2AD3-6FB8-BA16CAF2D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90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6A55D-21F8-0FD7-611C-80E55A8B6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4A8E64-E540-FCD7-F9EE-44BCA91B2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1/9/26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A51A5E-1241-8F17-EFA0-18099E67A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ABC808-668A-47A4-52BD-BCF1B9B87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282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7C62A-310B-5A3A-7FB4-B69CCF87B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1/9/26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981BE3-A7A7-6600-20A9-2A6F074A2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3A09C-4104-3635-FB3D-A5D32AAC6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484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413FD-55BC-F5EB-BFF9-87A4D0CF5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5F1D3C-F9AC-D9CF-217A-124318E49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4EEF7-A327-8204-FC4A-E5E49A4CCE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405242-B860-8E96-BAF8-7E8B9864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EF91E4-D9D3-2102-D297-848454AE4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783CB3-9A3A-A97A-71E3-88CA04FB9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3390C-DF9F-90B3-E8A0-3DD7DCC56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2B83C7-FDD3-2D77-4789-BF3574788F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CFE410-B329-788D-9D44-24A4FF2BDB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BAC5BE-8410-0DDE-9066-6B4A1CD94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3FA2D2-699E-45BB-6C15-CA34E7271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312905-80DD-DEEE-FC5E-10900832D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385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82562-C93B-FB21-A240-F7FF91D5E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FC3DF9-0454-9D03-7387-889D9A274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6EF63-D211-17EF-1A78-AB3FCF7D5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2BB10-A654-F631-12F5-47E408F4C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767F61-326B-5BB6-CAF1-48CBA9054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335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4A86BA-E780-65A1-1120-A727C6F69B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00A544-173C-D6D1-A8BD-A3F1CB4DCA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BC9BE1-A7DF-78B7-4D3E-A65974DD8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CE7EB-2B3F-E0BD-38EA-77CB09A94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B70B8-BD40-32FC-6561-01DB8F42F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884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2337C4-3FE5-A521-AB7B-B4B011245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65D4EF-8C1F-AF32-9818-E84EE389DA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6943D-AF31-35E1-B52D-35B77C7FAF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F85839-247B-534A-BD25-CCD76748D5B6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DCFD71-54C2-F73A-B5F1-D3E28E6C4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FFAEA4-2B86-4B71-CDCD-86B64A42C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987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C588341-310C-4847-FFB9-099820350A93}"/>
              </a:ext>
            </a:extLst>
          </p:cNvPr>
          <p:cNvSpPr txBox="1"/>
          <p:nvPr/>
        </p:nvSpPr>
        <p:spPr>
          <a:xfrm rot="16200000">
            <a:off x="-7140" y="890647"/>
            <a:ext cx="677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 = t</a:t>
            </a:r>
            <a:r>
              <a:rPr lang="en-US" baseline="-25000" dirty="0"/>
              <a:t>1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E4103-9113-8A5E-6E11-233EA91B7468}"/>
              </a:ext>
            </a:extLst>
          </p:cNvPr>
          <p:cNvSpPr txBox="1"/>
          <p:nvPr/>
        </p:nvSpPr>
        <p:spPr>
          <a:xfrm rot="16200000">
            <a:off x="26262" y="2268013"/>
            <a:ext cx="677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 = t</a:t>
            </a:r>
            <a:r>
              <a:rPr lang="en-US" baseline="-25000" dirty="0"/>
              <a:t>2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FB92AC-139F-6D77-F7F9-5072A6DB811D}"/>
              </a:ext>
            </a:extLst>
          </p:cNvPr>
          <p:cNvSpPr txBox="1"/>
          <p:nvPr/>
        </p:nvSpPr>
        <p:spPr>
          <a:xfrm>
            <a:off x="147001" y="3817037"/>
            <a:ext cx="55218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Retrospective clade assignment for evaluation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1284EE-5B0E-BB8A-2CD7-6BF22E5F2C35}"/>
              </a:ext>
            </a:extLst>
          </p:cNvPr>
          <p:cNvSpPr txBox="1"/>
          <p:nvPr/>
        </p:nvSpPr>
        <p:spPr>
          <a:xfrm>
            <a:off x="786854" y="84717"/>
            <a:ext cx="2057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Set of sequences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953842-81A1-BD04-07D6-2BA957792967}"/>
              </a:ext>
            </a:extLst>
          </p:cNvPr>
          <p:cNvSpPr txBox="1"/>
          <p:nvPr/>
        </p:nvSpPr>
        <p:spPr>
          <a:xfrm>
            <a:off x="2989930" y="84717"/>
            <a:ext cx="2057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Clade assignment model (reference tree)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D5156D-CFA8-B432-8EBD-2B8179C80791}"/>
              </a:ext>
            </a:extLst>
          </p:cNvPr>
          <p:cNvSpPr txBox="1"/>
          <p:nvPr/>
        </p:nvSpPr>
        <p:spPr>
          <a:xfrm>
            <a:off x="5193006" y="98162"/>
            <a:ext cx="2057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Clade designation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684A52-CE16-2A10-BB81-C97C51C3A4DD}"/>
              </a:ext>
            </a:extLst>
          </p:cNvPr>
          <p:cNvSpPr txBox="1"/>
          <p:nvPr/>
        </p:nvSpPr>
        <p:spPr>
          <a:xfrm>
            <a:off x="9663868" y="110029"/>
            <a:ext cx="20144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Estimated vs observed clade proportions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DB8549-3079-3C81-A413-7E9E799A09BD}"/>
              </a:ext>
            </a:extLst>
          </p:cNvPr>
          <p:cNvSpPr txBox="1"/>
          <p:nvPr/>
        </p:nvSpPr>
        <p:spPr>
          <a:xfrm rot="19233967">
            <a:off x="483020" y="702731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7DF8AD-4F7F-8298-9620-6860EF73D933}"/>
              </a:ext>
            </a:extLst>
          </p:cNvPr>
          <p:cNvSpPr txBox="1"/>
          <p:nvPr/>
        </p:nvSpPr>
        <p:spPr>
          <a:xfrm rot="19371636">
            <a:off x="666227" y="1127741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14" name="Graphic 13" descr="Tag outline">
            <a:extLst>
              <a:ext uri="{FF2B5EF4-FFF2-40B4-BE49-F238E27FC236}">
                <a16:creationId xmlns:a16="http://schemas.microsoft.com/office/drawing/2014/main" id="{565512C9-A5F4-C114-21D6-B437C9462B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175687">
            <a:off x="6262422" y="682198"/>
            <a:ext cx="434846" cy="446275"/>
          </a:xfrm>
          <a:prstGeom prst="rect">
            <a:avLst/>
          </a:prstGeom>
        </p:spPr>
      </p:pic>
      <p:pic>
        <p:nvPicPr>
          <p:cNvPr id="18" name="Graphic 17" descr="DNA outline">
            <a:extLst>
              <a:ext uri="{FF2B5EF4-FFF2-40B4-BE49-F238E27FC236}">
                <a16:creationId xmlns:a16="http://schemas.microsoft.com/office/drawing/2014/main" id="{654FD3A1-4CC1-D6D0-66C1-CA0BEC9DFB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967273">
            <a:off x="728380" y="319328"/>
            <a:ext cx="302212" cy="914400"/>
          </a:xfrm>
          <a:prstGeom prst="rect">
            <a:avLst/>
          </a:prstGeom>
        </p:spPr>
      </p:pic>
      <p:pic>
        <p:nvPicPr>
          <p:cNvPr id="19" name="Graphic 18" descr="DNA outline">
            <a:extLst>
              <a:ext uri="{FF2B5EF4-FFF2-40B4-BE49-F238E27FC236}">
                <a16:creationId xmlns:a16="http://schemas.microsoft.com/office/drawing/2014/main" id="{75230894-A82E-1FD8-3EE2-B7A6E61033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967273">
            <a:off x="925511" y="705691"/>
            <a:ext cx="302212" cy="914400"/>
          </a:xfrm>
          <a:prstGeom prst="rect">
            <a:avLst/>
          </a:prstGeom>
        </p:spPr>
      </p:pic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747B23F9-6BD8-342C-D9D1-0F043F855275}"/>
              </a:ext>
            </a:extLst>
          </p:cNvPr>
          <p:cNvCxnSpPr/>
          <p:nvPr/>
        </p:nvCxnSpPr>
        <p:spPr>
          <a:xfrm>
            <a:off x="2989930" y="981228"/>
            <a:ext cx="786107" cy="310895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4969CB6-34FF-BD89-A506-A54BAA4CA5BB}"/>
              </a:ext>
            </a:extLst>
          </p:cNvPr>
          <p:cNvCxnSpPr/>
          <p:nvPr/>
        </p:nvCxnSpPr>
        <p:spPr>
          <a:xfrm>
            <a:off x="3776037" y="1175832"/>
            <a:ext cx="0" cy="2991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9FFB3E-9C9B-08E0-78AB-3F71073182F5}"/>
              </a:ext>
            </a:extLst>
          </p:cNvPr>
          <p:cNvCxnSpPr>
            <a:cxnSpLocks/>
          </p:cNvCxnSpPr>
          <p:nvPr/>
        </p:nvCxnSpPr>
        <p:spPr>
          <a:xfrm flipH="1">
            <a:off x="3776037" y="1475012"/>
            <a:ext cx="5631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3C0F026-AA32-F438-C478-CE5377AB4E33}"/>
              </a:ext>
            </a:extLst>
          </p:cNvPr>
          <p:cNvCxnSpPr>
            <a:cxnSpLocks/>
          </p:cNvCxnSpPr>
          <p:nvPr/>
        </p:nvCxnSpPr>
        <p:spPr>
          <a:xfrm flipH="1">
            <a:off x="3776037" y="1175832"/>
            <a:ext cx="2564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B8A136A-F861-19B9-0C91-0149F8C6485E}"/>
              </a:ext>
            </a:extLst>
          </p:cNvPr>
          <p:cNvCxnSpPr>
            <a:cxnSpLocks/>
          </p:cNvCxnSpPr>
          <p:nvPr/>
        </p:nvCxnSpPr>
        <p:spPr>
          <a:xfrm>
            <a:off x="3382983" y="763804"/>
            <a:ext cx="0" cy="221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EFF496D-C238-8D7E-EE85-8E26C0AB949E}"/>
              </a:ext>
            </a:extLst>
          </p:cNvPr>
          <p:cNvCxnSpPr>
            <a:cxnSpLocks/>
          </p:cNvCxnSpPr>
          <p:nvPr/>
        </p:nvCxnSpPr>
        <p:spPr>
          <a:xfrm>
            <a:off x="3382983" y="763804"/>
            <a:ext cx="90601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942CEC7-F9A7-83FF-E05E-68665E0144C9}"/>
              </a:ext>
            </a:extLst>
          </p:cNvPr>
          <p:cNvCxnSpPr>
            <a:cxnSpLocks/>
          </p:cNvCxnSpPr>
          <p:nvPr/>
        </p:nvCxnSpPr>
        <p:spPr>
          <a:xfrm>
            <a:off x="4032515" y="1062260"/>
            <a:ext cx="0" cy="2169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F2A87EB-08C0-FD8C-0130-82FC691FE05A}"/>
              </a:ext>
            </a:extLst>
          </p:cNvPr>
          <p:cNvCxnSpPr>
            <a:cxnSpLocks/>
          </p:cNvCxnSpPr>
          <p:nvPr/>
        </p:nvCxnSpPr>
        <p:spPr>
          <a:xfrm flipH="1">
            <a:off x="4032515" y="1062260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58028C76-0F8A-7D3A-4959-9392D40947C9}"/>
              </a:ext>
            </a:extLst>
          </p:cNvPr>
          <p:cNvCxnSpPr>
            <a:cxnSpLocks/>
          </p:cNvCxnSpPr>
          <p:nvPr/>
        </p:nvCxnSpPr>
        <p:spPr>
          <a:xfrm flipH="1">
            <a:off x="4030656" y="1279181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BE66AFE2-3C3E-4D57-AE48-668C706179A1}"/>
              </a:ext>
            </a:extLst>
          </p:cNvPr>
          <p:cNvSpPr/>
          <p:nvPr/>
        </p:nvSpPr>
        <p:spPr>
          <a:xfrm>
            <a:off x="4145549" y="625950"/>
            <a:ext cx="434843" cy="237195"/>
          </a:xfrm>
          <a:prstGeom prst="ellipse">
            <a:avLst/>
          </a:prstGeom>
          <a:noFill/>
          <a:ln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63E36FC8-CADB-39D1-509D-52B912D9F8F1}"/>
              </a:ext>
            </a:extLst>
          </p:cNvPr>
          <p:cNvSpPr/>
          <p:nvPr/>
        </p:nvSpPr>
        <p:spPr>
          <a:xfrm>
            <a:off x="4235094" y="966936"/>
            <a:ext cx="355663" cy="369323"/>
          </a:xfrm>
          <a:prstGeom prst="ellipse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9316D25D-48C2-06F7-E827-9EC4D2370EAF}"/>
              </a:ext>
            </a:extLst>
          </p:cNvPr>
          <p:cNvSpPr/>
          <p:nvPr/>
        </p:nvSpPr>
        <p:spPr>
          <a:xfrm>
            <a:off x="4235094" y="1389978"/>
            <a:ext cx="405837" cy="197875"/>
          </a:xfrm>
          <a:prstGeom prst="ellipse">
            <a:avLst/>
          </a:prstGeom>
          <a:noFill/>
          <a:ln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9EA710B-3597-79D8-4CA9-111172CEFB8A}"/>
              </a:ext>
            </a:extLst>
          </p:cNvPr>
          <p:cNvSpPr txBox="1"/>
          <p:nvPr/>
        </p:nvSpPr>
        <p:spPr>
          <a:xfrm rot="19233967">
            <a:off x="5386431" y="696805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D00F053-2329-6F3B-33F9-D27F6478D28B}"/>
              </a:ext>
            </a:extLst>
          </p:cNvPr>
          <p:cNvSpPr txBox="1"/>
          <p:nvPr/>
        </p:nvSpPr>
        <p:spPr>
          <a:xfrm rot="19092760">
            <a:off x="5567613" y="1111746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69" name="Graphic 68" descr="DNA outline">
            <a:extLst>
              <a:ext uri="{FF2B5EF4-FFF2-40B4-BE49-F238E27FC236}">
                <a16:creationId xmlns:a16="http://schemas.microsoft.com/office/drawing/2014/main" id="{CC6E532E-8F32-D79F-7B5C-82F7B99E60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967273">
            <a:off x="5631791" y="313402"/>
            <a:ext cx="302212" cy="914400"/>
          </a:xfrm>
          <a:prstGeom prst="rect">
            <a:avLst/>
          </a:prstGeom>
        </p:spPr>
      </p:pic>
      <p:pic>
        <p:nvPicPr>
          <p:cNvPr id="70" name="Graphic 69" descr="DNA outline">
            <a:extLst>
              <a:ext uri="{FF2B5EF4-FFF2-40B4-BE49-F238E27FC236}">
                <a16:creationId xmlns:a16="http://schemas.microsoft.com/office/drawing/2014/main" id="{CDA35340-D453-D33D-57A8-0595E0DAACF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967273">
            <a:off x="5828922" y="699765"/>
            <a:ext cx="302212" cy="914400"/>
          </a:xfrm>
          <a:prstGeom prst="rect">
            <a:avLst/>
          </a:prstGeom>
        </p:spPr>
      </p:pic>
      <p:pic>
        <p:nvPicPr>
          <p:cNvPr id="71" name="Graphic 70" descr="Tag outline">
            <a:extLst>
              <a:ext uri="{FF2B5EF4-FFF2-40B4-BE49-F238E27FC236}">
                <a16:creationId xmlns:a16="http://schemas.microsoft.com/office/drawing/2014/main" id="{E5861DD8-4876-DACA-242C-7E3ECB8595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175687">
            <a:off x="6068946" y="293006"/>
            <a:ext cx="434846" cy="434846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0455EBB2-E781-F904-BE48-599B61E8140A}"/>
              </a:ext>
            </a:extLst>
          </p:cNvPr>
          <p:cNvSpPr txBox="1"/>
          <p:nvPr/>
        </p:nvSpPr>
        <p:spPr>
          <a:xfrm>
            <a:off x="6170355" y="384530"/>
            <a:ext cx="2760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5B0801F-DB08-01EA-9942-172481334325}"/>
              </a:ext>
            </a:extLst>
          </p:cNvPr>
          <p:cNvSpPr txBox="1"/>
          <p:nvPr/>
        </p:nvSpPr>
        <p:spPr>
          <a:xfrm>
            <a:off x="6360348" y="786877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52E8C6E-AE64-C6A6-A55B-FD7CAD20C222}"/>
              </a:ext>
            </a:extLst>
          </p:cNvPr>
          <p:cNvCxnSpPr/>
          <p:nvPr/>
        </p:nvCxnSpPr>
        <p:spPr>
          <a:xfrm>
            <a:off x="9939836" y="809211"/>
            <a:ext cx="0" cy="8546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F831C77-9058-92F2-B7D7-BFBDC1521DC9}"/>
              </a:ext>
            </a:extLst>
          </p:cNvPr>
          <p:cNvCxnSpPr>
            <a:cxnSpLocks/>
          </p:cNvCxnSpPr>
          <p:nvPr/>
        </p:nvCxnSpPr>
        <p:spPr>
          <a:xfrm flipH="1">
            <a:off x="9939836" y="1652807"/>
            <a:ext cx="159090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Freeform 78">
            <a:extLst>
              <a:ext uri="{FF2B5EF4-FFF2-40B4-BE49-F238E27FC236}">
                <a16:creationId xmlns:a16="http://schemas.microsoft.com/office/drawing/2014/main" id="{B8860C28-0424-2074-7B33-0FA67747E3C4}"/>
              </a:ext>
            </a:extLst>
          </p:cNvPr>
          <p:cNvSpPr/>
          <p:nvPr/>
        </p:nvSpPr>
        <p:spPr>
          <a:xfrm>
            <a:off x="10006743" y="875480"/>
            <a:ext cx="1445196" cy="635896"/>
          </a:xfrm>
          <a:custGeom>
            <a:avLst/>
            <a:gdLst>
              <a:gd name="connsiteX0" fmla="*/ 0 w 1445196"/>
              <a:gd name="connsiteY0" fmla="*/ 0 h 635896"/>
              <a:gd name="connsiteX1" fmla="*/ 542693 w 1445196"/>
              <a:gd name="connsiteY1" fmla="*/ 185854 h 635896"/>
              <a:gd name="connsiteX2" fmla="*/ 683942 w 1445196"/>
              <a:gd name="connsiteY2" fmla="*/ 535258 h 635896"/>
              <a:gd name="connsiteX3" fmla="*/ 1360449 w 1445196"/>
              <a:gd name="connsiteY3" fmla="*/ 624468 h 635896"/>
              <a:gd name="connsiteX4" fmla="*/ 1412488 w 1445196"/>
              <a:gd name="connsiteY4" fmla="*/ 631902 h 63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5196" h="635896">
                <a:moveTo>
                  <a:pt x="0" y="0"/>
                </a:moveTo>
                <a:cubicBezTo>
                  <a:pt x="214351" y="48322"/>
                  <a:pt x="428703" y="96644"/>
                  <a:pt x="542693" y="185854"/>
                </a:cubicBezTo>
                <a:cubicBezTo>
                  <a:pt x="656683" y="275064"/>
                  <a:pt x="547649" y="462156"/>
                  <a:pt x="683942" y="535258"/>
                </a:cubicBezTo>
                <a:cubicBezTo>
                  <a:pt x="820235" y="608360"/>
                  <a:pt x="1239025" y="608361"/>
                  <a:pt x="1360449" y="624468"/>
                </a:cubicBezTo>
                <a:cubicBezTo>
                  <a:pt x="1481873" y="640575"/>
                  <a:pt x="1447180" y="636238"/>
                  <a:pt x="1412488" y="631902"/>
                </a:cubicBez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 79">
            <a:extLst>
              <a:ext uri="{FF2B5EF4-FFF2-40B4-BE49-F238E27FC236}">
                <a16:creationId xmlns:a16="http://schemas.microsoft.com/office/drawing/2014/main" id="{E97D5EFA-D002-FA7D-1460-A052728811ED}"/>
              </a:ext>
            </a:extLst>
          </p:cNvPr>
          <p:cNvSpPr/>
          <p:nvPr/>
        </p:nvSpPr>
        <p:spPr>
          <a:xfrm>
            <a:off x="10014177" y="949821"/>
            <a:ext cx="1434791" cy="572430"/>
          </a:xfrm>
          <a:custGeom>
            <a:avLst/>
            <a:gdLst>
              <a:gd name="connsiteX0" fmla="*/ 0 w 1434791"/>
              <a:gd name="connsiteY0" fmla="*/ 572430 h 572430"/>
              <a:gd name="connsiteX1" fmla="*/ 431181 w 1434791"/>
              <a:gd name="connsiteY1" fmla="*/ 483220 h 572430"/>
              <a:gd name="connsiteX2" fmla="*/ 661639 w 1434791"/>
              <a:gd name="connsiteY2" fmla="*/ 81776 h 572430"/>
              <a:gd name="connsiteX3" fmla="*/ 1405054 w 1434791"/>
              <a:gd name="connsiteY3" fmla="*/ 0 h 572430"/>
              <a:gd name="connsiteX4" fmla="*/ 1405054 w 1434791"/>
              <a:gd name="connsiteY4" fmla="*/ 0 h 572430"/>
              <a:gd name="connsiteX5" fmla="*/ 1434791 w 1434791"/>
              <a:gd name="connsiteY5" fmla="*/ 0 h 572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34791" h="572430">
                <a:moveTo>
                  <a:pt x="0" y="572430"/>
                </a:moveTo>
                <a:cubicBezTo>
                  <a:pt x="160454" y="568713"/>
                  <a:pt x="320908" y="564996"/>
                  <a:pt x="431181" y="483220"/>
                </a:cubicBezTo>
                <a:cubicBezTo>
                  <a:pt x="541454" y="401444"/>
                  <a:pt x="499327" y="162313"/>
                  <a:pt x="661639" y="81776"/>
                </a:cubicBezTo>
                <a:cubicBezTo>
                  <a:pt x="823951" y="1239"/>
                  <a:pt x="1405054" y="0"/>
                  <a:pt x="1405054" y="0"/>
                </a:cubicBezTo>
                <a:lnTo>
                  <a:pt x="1405054" y="0"/>
                </a:lnTo>
                <a:lnTo>
                  <a:pt x="1434791" y="0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675985F1-A711-F163-772F-A528C925D159}"/>
              </a:ext>
            </a:extLst>
          </p:cNvPr>
          <p:cNvSpPr/>
          <p:nvPr/>
        </p:nvSpPr>
        <p:spPr>
          <a:xfrm>
            <a:off x="10006743" y="1529685"/>
            <a:ext cx="1427356" cy="52039"/>
          </a:xfrm>
          <a:custGeom>
            <a:avLst/>
            <a:gdLst>
              <a:gd name="connsiteX0" fmla="*/ 0 w 1427356"/>
              <a:gd name="connsiteY0" fmla="*/ 52039 h 52039"/>
              <a:gd name="connsiteX1" fmla="*/ 520391 w 1427356"/>
              <a:gd name="connsiteY1" fmla="*/ 0 h 52039"/>
              <a:gd name="connsiteX2" fmla="*/ 1427356 w 1427356"/>
              <a:gd name="connsiteY2" fmla="*/ 52039 h 52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27356" h="52039">
                <a:moveTo>
                  <a:pt x="0" y="52039"/>
                </a:moveTo>
                <a:cubicBezTo>
                  <a:pt x="141249" y="26019"/>
                  <a:pt x="282498" y="0"/>
                  <a:pt x="520391" y="0"/>
                </a:cubicBezTo>
                <a:cubicBezTo>
                  <a:pt x="758284" y="0"/>
                  <a:pt x="1092820" y="26019"/>
                  <a:pt x="1427356" y="52039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7087483-8A39-0F51-8AE3-96D9BA978EEE}"/>
              </a:ext>
            </a:extLst>
          </p:cNvPr>
          <p:cNvSpPr txBox="1"/>
          <p:nvPr/>
        </p:nvSpPr>
        <p:spPr>
          <a:xfrm>
            <a:off x="9666512" y="1038404"/>
            <a:ext cx="239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𝜃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96B2257-1621-710E-FDD7-F07BDA934155}"/>
              </a:ext>
            </a:extLst>
          </p:cNvPr>
          <p:cNvCxnSpPr/>
          <p:nvPr/>
        </p:nvCxnSpPr>
        <p:spPr>
          <a:xfrm>
            <a:off x="2600775" y="966935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B8214EF-60C8-6B1D-03BF-F45C0FD34A88}"/>
              </a:ext>
            </a:extLst>
          </p:cNvPr>
          <p:cNvCxnSpPr/>
          <p:nvPr/>
        </p:nvCxnSpPr>
        <p:spPr>
          <a:xfrm>
            <a:off x="5069619" y="936766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41653020-5BB3-6C8F-C729-F5ED1A476FA3}"/>
              </a:ext>
            </a:extLst>
          </p:cNvPr>
          <p:cNvCxnSpPr/>
          <p:nvPr/>
        </p:nvCxnSpPr>
        <p:spPr>
          <a:xfrm>
            <a:off x="9223732" y="2455104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3DD42BF5-D8CB-7AD1-FC91-BAC9E4206F52}"/>
              </a:ext>
            </a:extLst>
          </p:cNvPr>
          <p:cNvSpPr txBox="1"/>
          <p:nvPr/>
        </p:nvSpPr>
        <p:spPr>
          <a:xfrm rot="19233967">
            <a:off x="526473" y="2069486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5E8998A-5A98-5D85-D6E2-98FB713A9362}"/>
              </a:ext>
            </a:extLst>
          </p:cNvPr>
          <p:cNvSpPr txBox="1"/>
          <p:nvPr/>
        </p:nvSpPr>
        <p:spPr>
          <a:xfrm rot="19371636">
            <a:off x="542062" y="2586221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91" name="Graphic 90" descr="DNA outline">
            <a:extLst>
              <a:ext uri="{FF2B5EF4-FFF2-40B4-BE49-F238E27FC236}">
                <a16:creationId xmlns:a16="http://schemas.microsoft.com/office/drawing/2014/main" id="{0BA2DB33-B937-297D-2877-BF65303668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967273">
            <a:off x="771833" y="1686083"/>
            <a:ext cx="302212" cy="914400"/>
          </a:xfrm>
          <a:prstGeom prst="rect">
            <a:avLst/>
          </a:prstGeom>
        </p:spPr>
      </p:pic>
      <p:pic>
        <p:nvPicPr>
          <p:cNvPr id="92" name="Graphic 91" descr="DNA outline">
            <a:extLst>
              <a:ext uri="{FF2B5EF4-FFF2-40B4-BE49-F238E27FC236}">
                <a16:creationId xmlns:a16="http://schemas.microsoft.com/office/drawing/2014/main" id="{E4AA6157-29B9-1656-B249-E3D93D35E1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967273">
            <a:off x="803591" y="2136316"/>
            <a:ext cx="302212" cy="914400"/>
          </a:xfrm>
          <a:prstGeom prst="rect">
            <a:avLst/>
          </a:prstGeom>
        </p:spPr>
      </p:pic>
      <p:sp>
        <p:nvSpPr>
          <p:cNvPr id="93" name="TextBox 92">
            <a:extLst>
              <a:ext uri="{FF2B5EF4-FFF2-40B4-BE49-F238E27FC236}">
                <a16:creationId xmlns:a16="http://schemas.microsoft.com/office/drawing/2014/main" id="{00B18AC7-D5F4-659C-577C-ED14BECA7470}"/>
              </a:ext>
            </a:extLst>
          </p:cNvPr>
          <p:cNvSpPr txBox="1"/>
          <p:nvPr/>
        </p:nvSpPr>
        <p:spPr>
          <a:xfrm rot="19233967">
            <a:off x="1625348" y="2893897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AGCTACGTA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3CE87FB-D91B-694A-886E-5E8A8D54245B}"/>
              </a:ext>
            </a:extLst>
          </p:cNvPr>
          <p:cNvSpPr txBox="1"/>
          <p:nvPr/>
        </p:nvSpPr>
        <p:spPr>
          <a:xfrm rot="19107639">
            <a:off x="573595" y="3038201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AGCTACGTT</a:t>
            </a:r>
          </a:p>
        </p:txBody>
      </p:sp>
      <p:pic>
        <p:nvPicPr>
          <p:cNvPr id="95" name="Graphic 94" descr="DNA outline">
            <a:extLst>
              <a:ext uri="{FF2B5EF4-FFF2-40B4-BE49-F238E27FC236}">
                <a16:creationId xmlns:a16="http://schemas.microsoft.com/office/drawing/2014/main" id="{0840AD86-D56D-57E0-8F2F-999D394C93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967273">
            <a:off x="1888882" y="2472980"/>
            <a:ext cx="302212" cy="914400"/>
          </a:xfrm>
          <a:prstGeom prst="rect">
            <a:avLst/>
          </a:prstGeom>
        </p:spPr>
      </p:pic>
      <p:pic>
        <p:nvPicPr>
          <p:cNvPr id="96" name="Graphic 95" descr="DNA outline">
            <a:extLst>
              <a:ext uri="{FF2B5EF4-FFF2-40B4-BE49-F238E27FC236}">
                <a16:creationId xmlns:a16="http://schemas.microsoft.com/office/drawing/2014/main" id="{16141F6F-81DC-244A-F938-E73E3CE259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967273">
            <a:off x="838449" y="2620437"/>
            <a:ext cx="302212" cy="914400"/>
          </a:xfrm>
          <a:prstGeom prst="rect">
            <a:avLst/>
          </a:prstGeom>
        </p:spPr>
      </p:pic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A7EEE853-B939-1C79-A800-A90C736954A9}"/>
              </a:ext>
            </a:extLst>
          </p:cNvPr>
          <p:cNvCxnSpPr/>
          <p:nvPr/>
        </p:nvCxnSpPr>
        <p:spPr>
          <a:xfrm>
            <a:off x="3073274" y="2042583"/>
            <a:ext cx="786107" cy="310895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4D35CC0D-EF2D-5FA3-9C29-DE6E6C6CC204}"/>
              </a:ext>
            </a:extLst>
          </p:cNvPr>
          <p:cNvCxnSpPr/>
          <p:nvPr/>
        </p:nvCxnSpPr>
        <p:spPr>
          <a:xfrm>
            <a:off x="3859381" y="2237187"/>
            <a:ext cx="0" cy="2991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29C92BA-4EBE-C01F-9289-CD08EB9EDE5E}"/>
              </a:ext>
            </a:extLst>
          </p:cNvPr>
          <p:cNvCxnSpPr>
            <a:cxnSpLocks/>
          </p:cNvCxnSpPr>
          <p:nvPr/>
        </p:nvCxnSpPr>
        <p:spPr>
          <a:xfrm flipH="1">
            <a:off x="3859381" y="2536367"/>
            <a:ext cx="7815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501482A-1996-33FC-9C88-1499F36FCE28}"/>
              </a:ext>
            </a:extLst>
          </p:cNvPr>
          <p:cNvCxnSpPr>
            <a:cxnSpLocks/>
          </p:cNvCxnSpPr>
          <p:nvPr/>
        </p:nvCxnSpPr>
        <p:spPr>
          <a:xfrm flipH="1">
            <a:off x="3859381" y="2237187"/>
            <a:ext cx="2564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65452CF-EB02-AE99-6031-E95EAA8737D0}"/>
              </a:ext>
            </a:extLst>
          </p:cNvPr>
          <p:cNvCxnSpPr>
            <a:cxnSpLocks/>
          </p:cNvCxnSpPr>
          <p:nvPr/>
        </p:nvCxnSpPr>
        <p:spPr>
          <a:xfrm>
            <a:off x="3466327" y="1825159"/>
            <a:ext cx="0" cy="221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236A421-831D-1224-D7D3-A85225301659}"/>
              </a:ext>
            </a:extLst>
          </p:cNvPr>
          <p:cNvCxnSpPr>
            <a:cxnSpLocks/>
          </p:cNvCxnSpPr>
          <p:nvPr/>
        </p:nvCxnSpPr>
        <p:spPr>
          <a:xfrm>
            <a:off x="3466327" y="1825159"/>
            <a:ext cx="71858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908CA187-2959-66CE-3290-DFC79E693307}"/>
              </a:ext>
            </a:extLst>
          </p:cNvPr>
          <p:cNvCxnSpPr>
            <a:cxnSpLocks/>
          </p:cNvCxnSpPr>
          <p:nvPr/>
        </p:nvCxnSpPr>
        <p:spPr>
          <a:xfrm>
            <a:off x="4115859" y="2123615"/>
            <a:ext cx="0" cy="2169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5DC6BA0-D25A-1DCF-5C43-37BDC315392D}"/>
              </a:ext>
            </a:extLst>
          </p:cNvPr>
          <p:cNvCxnSpPr>
            <a:cxnSpLocks/>
          </p:cNvCxnSpPr>
          <p:nvPr/>
        </p:nvCxnSpPr>
        <p:spPr>
          <a:xfrm flipH="1">
            <a:off x="4115859" y="2123615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5D1057F-0167-D490-BFAD-738ADE509955}"/>
              </a:ext>
            </a:extLst>
          </p:cNvPr>
          <p:cNvCxnSpPr>
            <a:cxnSpLocks/>
          </p:cNvCxnSpPr>
          <p:nvPr/>
        </p:nvCxnSpPr>
        <p:spPr>
          <a:xfrm flipH="1">
            <a:off x="4114000" y="2340536"/>
            <a:ext cx="52693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81DC5546-ADF6-C34A-D4D3-0CB9EDCBF263}"/>
              </a:ext>
            </a:extLst>
          </p:cNvPr>
          <p:cNvSpPr/>
          <p:nvPr/>
        </p:nvSpPr>
        <p:spPr>
          <a:xfrm>
            <a:off x="4715085" y="1847901"/>
            <a:ext cx="434843" cy="237195"/>
          </a:xfrm>
          <a:prstGeom prst="ellipse">
            <a:avLst/>
          </a:prstGeom>
          <a:noFill/>
          <a:ln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56243BC2-FA7C-3391-E6C7-0FF091B20C64}"/>
              </a:ext>
            </a:extLst>
          </p:cNvPr>
          <p:cNvSpPr/>
          <p:nvPr/>
        </p:nvSpPr>
        <p:spPr>
          <a:xfrm>
            <a:off x="4640931" y="2277982"/>
            <a:ext cx="240636" cy="192571"/>
          </a:xfrm>
          <a:prstGeom prst="ellipse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32C18B5C-0753-E839-E96C-F6497776E5C7}"/>
              </a:ext>
            </a:extLst>
          </p:cNvPr>
          <p:cNvSpPr/>
          <p:nvPr/>
        </p:nvSpPr>
        <p:spPr>
          <a:xfrm>
            <a:off x="4553659" y="2482059"/>
            <a:ext cx="405837" cy="197875"/>
          </a:xfrm>
          <a:prstGeom prst="ellipse">
            <a:avLst/>
          </a:prstGeom>
          <a:noFill/>
          <a:ln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A3CE7F9A-3E99-D478-8E27-FBA5BA38FDEF}"/>
              </a:ext>
            </a:extLst>
          </p:cNvPr>
          <p:cNvCxnSpPr>
            <a:cxnSpLocks/>
          </p:cNvCxnSpPr>
          <p:nvPr/>
        </p:nvCxnSpPr>
        <p:spPr>
          <a:xfrm>
            <a:off x="4184914" y="1760795"/>
            <a:ext cx="0" cy="2135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C97C5427-28CA-6D44-D79B-CCFD9D625AD1}"/>
              </a:ext>
            </a:extLst>
          </p:cNvPr>
          <p:cNvCxnSpPr>
            <a:cxnSpLocks/>
          </p:cNvCxnSpPr>
          <p:nvPr/>
        </p:nvCxnSpPr>
        <p:spPr>
          <a:xfrm flipH="1">
            <a:off x="4184914" y="1973310"/>
            <a:ext cx="661000" cy="88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F16967C-50D6-8220-7DAA-23C378EB54D4}"/>
              </a:ext>
            </a:extLst>
          </p:cNvPr>
          <p:cNvCxnSpPr>
            <a:cxnSpLocks/>
          </p:cNvCxnSpPr>
          <p:nvPr/>
        </p:nvCxnSpPr>
        <p:spPr>
          <a:xfrm flipH="1">
            <a:off x="4184914" y="1760795"/>
            <a:ext cx="25309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6ABEECF6-DE70-E568-5DA0-3C7B4671912B}"/>
              </a:ext>
            </a:extLst>
          </p:cNvPr>
          <p:cNvCxnSpPr>
            <a:cxnSpLocks/>
          </p:cNvCxnSpPr>
          <p:nvPr/>
        </p:nvCxnSpPr>
        <p:spPr>
          <a:xfrm flipV="1">
            <a:off x="4452589" y="1679493"/>
            <a:ext cx="0" cy="1733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85CA5D8-21F9-6A04-C7C0-BD249E1BE7FE}"/>
              </a:ext>
            </a:extLst>
          </p:cNvPr>
          <p:cNvCxnSpPr>
            <a:cxnSpLocks/>
          </p:cNvCxnSpPr>
          <p:nvPr/>
        </p:nvCxnSpPr>
        <p:spPr>
          <a:xfrm flipH="1">
            <a:off x="4456015" y="1679493"/>
            <a:ext cx="2682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43D77B8-C4E3-5AED-0EAC-E821F9BFFE1F}"/>
              </a:ext>
            </a:extLst>
          </p:cNvPr>
          <p:cNvCxnSpPr>
            <a:cxnSpLocks/>
          </p:cNvCxnSpPr>
          <p:nvPr/>
        </p:nvCxnSpPr>
        <p:spPr>
          <a:xfrm flipH="1">
            <a:off x="4456015" y="1852844"/>
            <a:ext cx="2682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Oval 124">
            <a:extLst>
              <a:ext uri="{FF2B5EF4-FFF2-40B4-BE49-F238E27FC236}">
                <a16:creationId xmlns:a16="http://schemas.microsoft.com/office/drawing/2014/main" id="{A1F1D049-CB01-F6DC-FE77-222B52107765}"/>
              </a:ext>
            </a:extLst>
          </p:cNvPr>
          <p:cNvSpPr/>
          <p:nvPr/>
        </p:nvSpPr>
        <p:spPr>
          <a:xfrm>
            <a:off x="4616628" y="1620414"/>
            <a:ext cx="279900" cy="304566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D</a:t>
            </a:r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3AE651FE-681B-0C4B-FFC1-60CEFF1DBAF3}"/>
              </a:ext>
            </a:extLst>
          </p:cNvPr>
          <p:cNvCxnSpPr>
            <a:cxnSpLocks/>
          </p:cNvCxnSpPr>
          <p:nvPr/>
        </p:nvCxnSpPr>
        <p:spPr>
          <a:xfrm flipV="1">
            <a:off x="4441482" y="2046217"/>
            <a:ext cx="0" cy="1733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83AC6042-2114-E093-B348-6437935400BA}"/>
              </a:ext>
            </a:extLst>
          </p:cNvPr>
          <p:cNvCxnSpPr>
            <a:cxnSpLocks/>
          </p:cNvCxnSpPr>
          <p:nvPr/>
        </p:nvCxnSpPr>
        <p:spPr>
          <a:xfrm flipH="1">
            <a:off x="4444908" y="2046217"/>
            <a:ext cx="2682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1BDAF1E3-2DAA-A1B6-D3F7-A8996CD1EB5C}"/>
              </a:ext>
            </a:extLst>
          </p:cNvPr>
          <p:cNvCxnSpPr>
            <a:cxnSpLocks/>
          </p:cNvCxnSpPr>
          <p:nvPr/>
        </p:nvCxnSpPr>
        <p:spPr>
          <a:xfrm flipH="1">
            <a:off x="4444908" y="2219568"/>
            <a:ext cx="2682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30">
            <a:extLst>
              <a:ext uri="{FF2B5EF4-FFF2-40B4-BE49-F238E27FC236}">
                <a16:creationId xmlns:a16="http://schemas.microsoft.com/office/drawing/2014/main" id="{3B124FFC-4335-EE6F-7493-FB37023E6769}"/>
              </a:ext>
            </a:extLst>
          </p:cNvPr>
          <p:cNvSpPr/>
          <p:nvPr/>
        </p:nvSpPr>
        <p:spPr>
          <a:xfrm>
            <a:off x="4627155" y="1989617"/>
            <a:ext cx="279900" cy="304566"/>
          </a:xfrm>
          <a:prstGeom prst="ellipse">
            <a:avLst/>
          </a:prstGeom>
          <a:noFill/>
          <a:ln>
            <a:solidFill>
              <a:srgbClr val="FFC000"/>
            </a:solidFill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E4FB9C86-A093-FED3-07BA-4F1F3B13EB70}"/>
              </a:ext>
            </a:extLst>
          </p:cNvPr>
          <p:cNvCxnSpPr/>
          <p:nvPr/>
        </p:nvCxnSpPr>
        <p:spPr>
          <a:xfrm>
            <a:off x="2606625" y="2054036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E751C8F9-E20D-97CC-D9BD-D1D98FFD570A}"/>
              </a:ext>
            </a:extLst>
          </p:cNvPr>
          <p:cNvCxnSpPr/>
          <p:nvPr/>
        </p:nvCxnSpPr>
        <p:spPr>
          <a:xfrm>
            <a:off x="5107662" y="2116112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95C47EE4-9B48-45C9-B129-A3110C9592D0}"/>
              </a:ext>
            </a:extLst>
          </p:cNvPr>
          <p:cNvSpPr txBox="1"/>
          <p:nvPr/>
        </p:nvSpPr>
        <p:spPr>
          <a:xfrm rot="19233967">
            <a:off x="5321902" y="2089936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D8DA759-1BDC-8F0E-EFE2-209F7B6490D7}"/>
              </a:ext>
            </a:extLst>
          </p:cNvPr>
          <p:cNvSpPr txBox="1"/>
          <p:nvPr/>
        </p:nvSpPr>
        <p:spPr>
          <a:xfrm rot="19371636">
            <a:off x="5505109" y="2514946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136" name="Graphic 135" descr="DNA outline">
            <a:extLst>
              <a:ext uri="{FF2B5EF4-FFF2-40B4-BE49-F238E27FC236}">
                <a16:creationId xmlns:a16="http://schemas.microsoft.com/office/drawing/2014/main" id="{1EB59CF3-4E36-07C2-13A8-899A305E4E8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967273">
            <a:off x="5567262" y="1706533"/>
            <a:ext cx="302212" cy="914400"/>
          </a:xfrm>
          <a:prstGeom prst="rect">
            <a:avLst/>
          </a:prstGeom>
        </p:spPr>
      </p:pic>
      <p:pic>
        <p:nvPicPr>
          <p:cNvPr id="137" name="Graphic 136" descr="DNA outline">
            <a:extLst>
              <a:ext uri="{FF2B5EF4-FFF2-40B4-BE49-F238E27FC236}">
                <a16:creationId xmlns:a16="http://schemas.microsoft.com/office/drawing/2014/main" id="{2CB07D5A-F469-6F12-F438-7E66A69B580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967273">
            <a:off x="5764393" y="2092896"/>
            <a:ext cx="302212" cy="914400"/>
          </a:xfrm>
          <a:prstGeom prst="rect">
            <a:avLst/>
          </a:prstGeom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F158A43D-BDDB-CE44-FAFE-4A9F1873A82B}"/>
              </a:ext>
            </a:extLst>
          </p:cNvPr>
          <p:cNvSpPr txBox="1"/>
          <p:nvPr/>
        </p:nvSpPr>
        <p:spPr>
          <a:xfrm rot="19233967">
            <a:off x="6701814" y="2902101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AGCTACGTA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73FDEC1-F352-C678-C430-FD9BE5B31455}"/>
              </a:ext>
            </a:extLst>
          </p:cNvPr>
          <p:cNvSpPr txBox="1"/>
          <p:nvPr/>
        </p:nvSpPr>
        <p:spPr>
          <a:xfrm rot="19128486">
            <a:off x="5636862" y="3013152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AGCTACGTT</a:t>
            </a:r>
          </a:p>
        </p:txBody>
      </p:sp>
      <p:pic>
        <p:nvPicPr>
          <p:cNvPr id="140" name="Graphic 139" descr="DNA outline">
            <a:extLst>
              <a:ext uri="{FF2B5EF4-FFF2-40B4-BE49-F238E27FC236}">
                <a16:creationId xmlns:a16="http://schemas.microsoft.com/office/drawing/2014/main" id="{01DC93DF-818C-5CC3-DA67-776C117DAEA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967273">
            <a:off x="6978705" y="2468394"/>
            <a:ext cx="302212" cy="914400"/>
          </a:xfrm>
          <a:prstGeom prst="rect">
            <a:avLst/>
          </a:prstGeom>
        </p:spPr>
      </p:pic>
      <p:pic>
        <p:nvPicPr>
          <p:cNvPr id="141" name="Graphic 140" descr="DNA outline">
            <a:extLst>
              <a:ext uri="{FF2B5EF4-FFF2-40B4-BE49-F238E27FC236}">
                <a16:creationId xmlns:a16="http://schemas.microsoft.com/office/drawing/2014/main" id="{3086E561-0665-E5F3-E1B4-C506F696AEA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967273">
            <a:off x="5908608" y="2571553"/>
            <a:ext cx="302212" cy="914400"/>
          </a:xfrm>
          <a:prstGeom prst="rect">
            <a:avLst/>
          </a:prstGeom>
        </p:spPr>
      </p:pic>
      <p:sp>
        <p:nvSpPr>
          <p:cNvPr id="143" name="TextBox 142">
            <a:extLst>
              <a:ext uri="{FF2B5EF4-FFF2-40B4-BE49-F238E27FC236}">
                <a16:creationId xmlns:a16="http://schemas.microsoft.com/office/drawing/2014/main" id="{EFFEEC3B-085D-13D4-4216-C549D31848CB}"/>
              </a:ext>
            </a:extLst>
          </p:cNvPr>
          <p:cNvSpPr txBox="1"/>
          <p:nvPr/>
        </p:nvSpPr>
        <p:spPr>
          <a:xfrm>
            <a:off x="6094172" y="1775936"/>
            <a:ext cx="2904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</a:t>
            </a:r>
          </a:p>
        </p:txBody>
      </p:sp>
      <p:pic>
        <p:nvPicPr>
          <p:cNvPr id="145" name="Graphic 144" descr="Tag outline">
            <a:extLst>
              <a:ext uri="{FF2B5EF4-FFF2-40B4-BE49-F238E27FC236}">
                <a16:creationId xmlns:a16="http://schemas.microsoft.com/office/drawing/2014/main" id="{8914BDD3-20E9-C6ED-98BC-0E11509BF5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175687">
            <a:off x="6004283" y="1689088"/>
            <a:ext cx="434846" cy="434846"/>
          </a:xfrm>
          <a:prstGeom prst="rect">
            <a:avLst/>
          </a:prstGeom>
        </p:spPr>
      </p:pic>
      <p:pic>
        <p:nvPicPr>
          <p:cNvPr id="146" name="Graphic 145" descr="Tag outline">
            <a:extLst>
              <a:ext uri="{FF2B5EF4-FFF2-40B4-BE49-F238E27FC236}">
                <a16:creationId xmlns:a16="http://schemas.microsoft.com/office/drawing/2014/main" id="{1705131F-F572-CE63-4D7F-7B6CD7D918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175687">
            <a:off x="6208254" y="2086894"/>
            <a:ext cx="434846" cy="434846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B089DFAD-727D-DC93-F13D-E26A4131B400}"/>
              </a:ext>
            </a:extLst>
          </p:cNvPr>
          <p:cNvSpPr txBox="1"/>
          <p:nvPr/>
        </p:nvSpPr>
        <p:spPr>
          <a:xfrm>
            <a:off x="6314022" y="2180222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pic>
        <p:nvPicPr>
          <p:cNvPr id="148" name="Graphic 147" descr="Tag outline">
            <a:extLst>
              <a:ext uri="{FF2B5EF4-FFF2-40B4-BE49-F238E27FC236}">
                <a16:creationId xmlns:a16="http://schemas.microsoft.com/office/drawing/2014/main" id="{6C42BFDF-B672-7B07-4654-DE03CAE910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175687">
            <a:off x="7410908" y="2449656"/>
            <a:ext cx="434846" cy="446275"/>
          </a:xfrm>
          <a:prstGeom prst="rect">
            <a:avLst/>
          </a:prstGeom>
        </p:spPr>
      </p:pic>
      <p:sp>
        <p:nvSpPr>
          <p:cNvPr id="149" name="TextBox 148">
            <a:extLst>
              <a:ext uri="{FF2B5EF4-FFF2-40B4-BE49-F238E27FC236}">
                <a16:creationId xmlns:a16="http://schemas.microsoft.com/office/drawing/2014/main" id="{B1EA6116-1C72-4CBC-0C44-840E629048AC}"/>
              </a:ext>
            </a:extLst>
          </p:cNvPr>
          <p:cNvSpPr txBox="1"/>
          <p:nvPr/>
        </p:nvSpPr>
        <p:spPr>
          <a:xfrm flipH="1">
            <a:off x="7521345" y="2562518"/>
            <a:ext cx="2555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</a:t>
            </a:r>
          </a:p>
        </p:txBody>
      </p:sp>
      <p:pic>
        <p:nvPicPr>
          <p:cNvPr id="150" name="Graphic 149" descr="Tag outline">
            <a:extLst>
              <a:ext uri="{FF2B5EF4-FFF2-40B4-BE49-F238E27FC236}">
                <a16:creationId xmlns:a16="http://schemas.microsoft.com/office/drawing/2014/main" id="{D13D408E-2F57-90E7-FC93-DCE28693F3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175687">
            <a:off x="6352752" y="2562715"/>
            <a:ext cx="434846" cy="446275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0DDCA826-F894-ADB8-B24B-C540DEA3B7BA}"/>
              </a:ext>
            </a:extLst>
          </p:cNvPr>
          <p:cNvSpPr txBox="1"/>
          <p:nvPr/>
        </p:nvSpPr>
        <p:spPr>
          <a:xfrm>
            <a:off x="6463399" y="2673065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833C3701-3F26-AD7A-EE2E-20DC08518427}"/>
              </a:ext>
            </a:extLst>
          </p:cNvPr>
          <p:cNvSpPr txBox="1"/>
          <p:nvPr/>
        </p:nvSpPr>
        <p:spPr>
          <a:xfrm>
            <a:off x="477290" y="6100942"/>
            <a:ext cx="17362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Sequences from t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cxnSp>
        <p:nvCxnSpPr>
          <p:cNvPr id="161" name="Elbow Connector 160">
            <a:extLst>
              <a:ext uri="{FF2B5EF4-FFF2-40B4-BE49-F238E27FC236}">
                <a16:creationId xmlns:a16="http://schemas.microsoft.com/office/drawing/2014/main" id="{D38E9B0B-DABE-445B-DDD2-4063EB769237}"/>
              </a:ext>
            </a:extLst>
          </p:cNvPr>
          <p:cNvCxnSpPr/>
          <p:nvPr/>
        </p:nvCxnSpPr>
        <p:spPr>
          <a:xfrm>
            <a:off x="3083186" y="4985003"/>
            <a:ext cx="786107" cy="310895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9AF33795-E26E-F7AB-9B8B-E5BFD4444CDC}"/>
              </a:ext>
            </a:extLst>
          </p:cNvPr>
          <p:cNvCxnSpPr/>
          <p:nvPr/>
        </p:nvCxnSpPr>
        <p:spPr>
          <a:xfrm>
            <a:off x="3869293" y="5179607"/>
            <a:ext cx="0" cy="2991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81208C4D-537E-0155-B4D1-9A60E62B8BAA}"/>
              </a:ext>
            </a:extLst>
          </p:cNvPr>
          <p:cNvCxnSpPr>
            <a:cxnSpLocks/>
          </p:cNvCxnSpPr>
          <p:nvPr/>
        </p:nvCxnSpPr>
        <p:spPr>
          <a:xfrm flipH="1">
            <a:off x="3869293" y="5478787"/>
            <a:ext cx="5631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10766029-09FD-F210-FFF4-1CA751D40638}"/>
              </a:ext>
            </a:extLst>
          </p:cNvPr>
          <p:cNvCxnSpPr>
            <a:cxnSpLocks/>
          </p:cNvCxnSpPr>
          <p:nvPr/>
        </p:nvCxnSpPr>
        <p:spPr>
          <a:xfrm flipH="1">
            <a:off x="3869293" y="5179607"/>
            <a:ext cx="2564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989DDB42-B9B3-8D8A-529C-0201114D44F1}"/>
              </a:ext>
            </a:extLst>
          </p:cNvPr>
          <p:cNvCxnSpPr>
            <a:cxnSpLocks/>
          </p:cNvCxnSpPr>
          <p:nvPr/>
        </p:nvCxnSpPr>
        <p:spPr>
          <a:xfrm>
            <a:off x="3476239" y="4767579"/>
            <a:ext cx="0" cy="221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6E3314DB-36DC-6F40-4BE6-E75CB6F90B25}"/>
              </a:ext>
            </a:extLst>
          </p:cNvPr>
          <p:cNvCxnSpPr>
            <a:cxnSpLocks/>
          </p:cNvCxnSpPr>
          <p:nvPr/>
        </p:nvCxnSpPr>
        <p:spPr>
          <a:xfrm>
            <a:off x="3476239" y="4767579"/>
            <a:ext cx="90601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DCBE6B9D-D571-CEF9-1F81-028FC1152ABA}"/>
              </a:ext>
            </a:extLst>
          </p:cNvPr>
          <p:cNvCxnSpPr>
            <a:cxnSpLocks/>
          </p:cNvCxnSpPr>
          <p:nvPr/>
        </p:nvCxnSpPr>
        <p:spPr>
          <a:xfrm>
            <a:off x="4125771" y="5066035"/>
            <a:ext cx="0" cy="2169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B6751226-7796-EE8A-4EEE-395B568FD630}"/>
              </a:ext>
            </a:extLst>
          </p:cNvPr>
          <p:cNvCxnSpPr>
            <a:cxnSpLocks/>
          </p:cNvCxnSpPr>
          <p:nvPr/>
        </p:nvCxnSpPr>
        <p:spPr>
          <a:xfrm flipH="1">
            <a:off x="4125771" y="5066035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0DB0571E-9101-9E5C-97D4-54FE54FEF893}"/>
              </a:ext>
            </a:extLst>
          </p:cNvPr>
          <p:cNvCxnSpPr>
            <a:cxnSpLocks/>
          </p:cNvCxnSpPr>
          <p:nvPr/>
        </p:nvCxnSpPr>
        <p:spPr>
          <a:xfrm flipH="1">
            <a:off x="4123912" y="5282956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891555F4-614E-2ECF-CCDA-6D55860D46B5}"/>
              </a:ext>
            </a:extLst>
          </p:cNvPr>
          <p:cNvSpPr/>
          <p:nvPr/>
        </p:nvSpPr>
        <p:spPr>
          <a:xfrm>
            <a:off x="4238805" y="4629725"/>
            <a:ext cx="434843" cy="237195"/>
          </a:xfrm>
          <a:prstGeom prst="ellipse">
            <a:avLst/>
          </a:prstGeom>
          <a:noFill/>
          <a:ln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DBFF5281-0434-DBD9-DF51-4B11AA463F6F}"/>
              </a:ext>
            </a:extLst>
          </p:cNvPr>
          <p:cNvSpPr/>
          <p:nvPr/>
        </p:nvSpPr>
        <p:spPr>
          <a:xfrm>
            <a:off x="4328350" y="4970711"/>
            <a:ext cx="355663" cy="369323"/>
          </a:xfrm>
          <a:prstGeom prst="ellipse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DA9728C6-8B8A-5E6C-DE98-D43AA23C334E}"/>
              </a:ext>
            </a:extLst>
          </p:cNvPr>
          <p:cNvSpPr/>
          <p:nvPr/>
        </p:nvSpPr>
        <p:spPr>
          <a:xfrm>
            <a:off x="4328350" y="5393753"/>
            <a:ext cx="405837" cy="197875"/>
          </a:xfrm>
          <a:prstGeom prst="ellipse">
            <a:avLst/>
          </a:prstGeom>
          <a:noFill/>
          <a:ln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D0979F3-CE2B-F34D-45DA-DE10048DBC5C}"/>
              </a:ext>
            </a:extLst>
          </p:cNvPr>
          <p:cNvCxnSpPr/>
          <p:nvPr/>
        </p:nvCxnSpPr>
        <p:spPr>
          <a:xfrm>
            <a:off x="2470677" y="5070397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870B9199-710D-24E1-96F0-3A19615A1EF0}"/>
              </a:ext>
            </a:extLst>
          </p:cNvPr>
          <p:cNvSpPr txBox="1"/>
          <p:nvPr/>
        </p:nvSpPr>
        <p:spPr>
          <a:xfrm>
            <a:off x="3020288" y="6127620"/>
            <a:ext cx="17362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Clade assignment model from t</a:t>
            </a:r>
            <a:r>
              <a:rPr lang="en-US" sz="1200" baseline="-25000" dirty="0"/>
              <a:t>1</a:t>
            </a:r>
          </a:p>
        </p:txBody>
      </p: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FA1B88C7-EC5C-3997-A058-37008542829E}"/>
              </a:ext>
            </a:extLst>
          </p:cNvPr>
          <p:cNvCxnSpPr/>
          <p:nvPr/>
        </p:nvCxnSpPr>
        <p:spPr>
          <a:xfrm>
            <a:off x="4896528" y="5037530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5E9BA7CA-FFD6-664D-5F73-7613A0F32E1A}"/>
              </a:ext>
            </a:extLst>
          </p:cNvPr>
          <p:cNvCxnSpPr/>
          <p:nvPr/>
        </p:nvCxnSpPr>
        <p:spPr>
          <a:xfrm>
            <a:off x="10018640" y="4675892"/>
            <a:ext cx="0" cy="8546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535CB1EA-C6AC-59CE-4EB3-4A7BDABFC5F1}"/>
              </a:ext>
            </a:extLst>
          </p:cNvPr>
          <p:cNvCxnSpPr>
            <a:cxnSpLocks/>
          </p:cNvCxnSpPr>
          <p:nvPr/>
        </p:nvCxnSpPr>
        <p:spPr>
          <a:xfrm flipH="1">
            <a:off x="10018640" y="5519488"/>
            <a:ext cx="159090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Freeform 211">
            <a:extLst>
              <a:ext uri="{FF2B5EF4-FFF2-40B4-BE49-F238E27FC236}">
                <a16:creationId xmlns:a16="http://schemas.microsoft.com/office/drawing/2014/main" id="{F488ED17-A7C8-C76B-2CF9-1249D2575CCF}"/>
              </a:ext>
            </a:extLst>
          </p:cNvPr>
          <p:cNvSpPr/>
          <p:nvPr/>
        </p:nvSpPr>
        <p:spPr>
          <a:xfrm>
            <a:off x="10085547" y="4742161"/>
            <a:ext cx="1445196" cy="635896"/>
          </a:xfrm>
          <a:custGeom>
            <a:avLst/>
            <a:gdLst>
              <a:gd name="connsiteX0" fmla="*/ 0 w 1445196"/>
              <a:gd name="connsiteY0" fmla="*/ 0 h 635896"/>
              <a:gd name="connsiteX1" fmla="*/ 542693 w 1445196"/>
              <a:gd name="connsiteY1" fmla="*/ 185854 h 635896"/>
              <a:gd name="connsiteX2" fmla="*/ 683942 w 1445196"/>
              <a:gd name="connsiteY2" fmla="*/ 535258 h 635896"/>
              <a:gd name="connsiteX3" fmla="*/ 1360449 w 1445196"/>
              <a:gd name="connsiteY3" fmla="*/ 624468 h 635896"/>
              <a:gd name="connsiteX4" fmla="*/ 1412488 w 1445196"/>
              <a:gd name="connsiteY4" fmla="*/ 631902 h 63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5196" h="635896">
                <a:moveTo>
                  <a:pt x="0" y="0"/>
                </a:moveTo>
                <a:cubicBezTo>
                  <a:pt x="214351" y="48322"/>
                  <a:pt x="428703" y="96644"/>
                  <a:pt x="542693" y="185854"/>
                </a:cubicBezTo>
                <a:cubicBezTo>
                  <a:pt x="656683" y="275064"/>
                  <a:pt x="547649" y="462156"/>
                  <a:pt x="683942" y="535258"/>
                </a:cubicBezTo>
                <a:cubicBezTo>
                  <a:pt x="820235" y="608360"/>
                  <a:pt x="1239025" y="608361"/>
                  <a:pt x="1360449" y="624468"/>
                </a:cubicBezTo>
                <a:cubicBezTo>
                  <a:pt x="1481873" y="640575"/>
                  <a:pt x="1447180" y="636238"/>
                  <a:pt x="1412488" y="631902"/>
                </a:cubicBez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3" name="Freeform 212">
            <a:extLst>
              <a:ext uri="{FF2B5EF4-FFF2-40B4-BE49-F238E27FC236}">
                <a16:creationId xmlns:a16="http://schemas.microsoft.com/office/drawing/2014/main" id="{B574B79F-6FC4-4B8E-19A9-B412B6D46FA5}"/>
              </a:ext>
            </a:extLst>
          </p:cNvPr>
          <p:cNvSpPr/>
          <p:nvPr/>
        </p:nvSpPr>
        <p:spPr>
          <a:xfrm>
            <a:off x="10092981" y="4816502"/>
            <a:ext cx="1434791" cy="572430"/>
          </a:xfrm>
          <a:custGeom>
            <a:avLst/>
            <a:gdLst>
              <a:gd name="connsiteX0" fmla="*/ 0 w 1434791"/>
              <a:gd name="connsiteY0" fmla="*/ 572430 h 572430"/>
              <a:gd name="connsiteX1" fmla="*/ 431181 w 1434791"/>
              <a:gd name="connsiteY1" fmla="*/ 483220 h 572430"/>
              <a:gd name="connsiteX2" fmla="*/ 661639 w 1434791"/>
              <a:gd name="connsiteY2" fmla="*/ 81776 h 572430"/>
              <a:gd name="connsiteX3" fmla="*/ 1405054 w 1434791"/>
              <a:gd name="connsiteY3" fmla="*/ 0 h 572430"/>
              <a:gd name="connsiteX4" fmla="*/ 1405054 w 1434791"/>
              <a:gd name="connsiteY4" fmla="*/ 0 h 572430"/>
              <a:gd name="connsiteX5" fmla="*/ 1434791 w 1434791"/>
              <a:gd name="connsiteY5" fmla="*/ 0 h 572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34791" h="572430">
                <a:moveTo>
                  <a:pt x="0" y="572430"/>
                </a:moveTo>
                <a:cubicBezTo>
                  <a:pt x="160454" y="568713"/>
                  <a:pt x="320908" y="564996"/>
                  <a:pt x="431181" y="483220"/>
                </a:cubicBezTo>
                <a:cubicBezTo>
                  <a:pt x="541454" y="401444"/>
                  <a:pt x="499327" y="162313"/>
                  <a:pt x="661639" y="81776"/>
                </a:cubicBezTo>
                <a:cubicBezTo>
                  <a:pt x="823951" y="1239"/>
                  <a:pt x="1405054" y="0"/>
                  <a:pt x="1405054" y="0"/>
                </a:cubicBezTo>
                <a:lnTo>
                  <a:pt x="1405054" y="0"/>
                </a:lnTo>
                <a:lnTo>
                  <a:pt x="1434791" y="0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4" name="Freeform 213">
            <a:extLst>
              <a:ext uri="{FF2B5EF4-FFF2-40B4-BE49-F238E27FC236}">
                <a16:creationId xmlns:a16="http://schemas.microsoft.com/office/drawing/2014/main" id="{4A195B4F-0FAD-3F5F-54E7-C894582B8AE7}"/>
              </a:ext>
            </a:extLst>
          </p:cNvPr>
          <p:cNvSpPr/>
          <p:nvPr/>
        </p:nvSpPr>
        <p:spPr>
          <a:xfrm>
            <a:off x="10085547" y="5396366"/>
            <a:ext cx="1427356" cy="52039"/>
          </a:xfrm>
          <a:custGeom>
            <a:avLst/>
            <a:gdLst>
              <a:gd name="connsiteX0" fmla="*/ 0 w 1427356"/>
              <a:gd name="connsiteY0" fmla="*/ 52039 h 52039"/>
              <a:gd name="connsiteX1" fmla="*/ 520391 w 1427356"/>
              <a:gd name="connsiteY1" fmla="*/ 0 h 52039"/>
              <a:gd name="connsiteX2" fmla="*/ 1427356 w 1427356"/>
              <a:gd name="connsiteY2" fmla="*/ 52039 h 52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27356" h="52039">
                <a:moveTo>
                  <a:pt x="0" y="52039"/>
                </a:moveTo>
                <a:cubicBezTo>
                  <a:pt x="141249" y="26019"/>
                  <a:pt x="282498" y="0"/>
                  <a:pt x="520391" y="0"/>
                </a:cubicBezTo>
                <a:cubicBezTo>
                  <a:pt x="758284" y="0"/>
                  <a:pt x="1092820" y="26019"/>
                  <a:pt x="1427356" y="52039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A56592CD-420C-BFF6-A5CB-92DA16F122CF}"/>
              </a:ext>
            </a:extLst>
          </p:cNvPr>
          <p:cNvSpPr txBox="1"/>
          <p:nvPr/>
        </p:nvSpPr>
        <p:spPr>
          <a:xfrm>
            <a:off x="9699965" y="4884764"/>
            <a:ext cx="239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𝜃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D35085-6F2B-CDEE-68E3-460AA87C3E74}"/>
              </a:ext>
            </a:extLst>
          </p:cNvPr>
          <p:cNvSpPr txBox="1"/>
          <p:nvPr/>
        </p:nvSpPr>
        <p:spPr>
          <a:xfrm>
            <a:off x="5667650" y="6027003"/>
            <a:ext cx="21729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All sequences from t</a:t>
            </a:r>
            <a:r>
              <a:rPr lang="en-US" sz="1200" baseline="-25000" dirty="0"/>
              <a:t>2</a:t>
            </a:r>
            <a:r>
              <a:rPr lang="en-US" sz="1200" dirty="0"/>
              <a:t> assigned the clade they would have been assigned if available at t</a:t>
            </a:r>
            <a:r>
              <a:rPr lang="en-US" sz="1200" baseline="-25000" dirty="0"/>
              <a:t>1</a:t>
            </a:r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81789432-D783-E219-27F6-45BAC9D9B035}"/>
              </a:ext>
            </a:extLst>
          </p:cNvPr>
          <p:cNvSpPr/>
          <p:nvPr/>
        </p:nvSpPr>
        <p:spPr>
          <a:xfrm>
            <a:off x="10930464" y="4724128"/>
            <a:ext cx="45719" cy="8250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5D212E56-53B1-6BD3-3090-A3145A0C4BF5}"/>
              </a:ext>
            </a:extLst>
          </p:cNvPr>
          <p:cNvSpPr/>
          <p:nvPr/>
        </p:nvSpPr>
        <p:spPr>
          <a:xfrm>
            <a:off x="10200159" y="5253152"/>
            <a:ext cx="45719" cy="8250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" name="Oval 224">
            <a:extLst>
              <a:ext uri="{FF2B5EF4-FFF2-40B4-BE49-F238E27FC236}">
                <a16:creationId xmlns:a16="http://schemas.microsoft.com/office/drawing/2014/main" id="{FE17E9D9-C26D-ADA3-F913-67D5131930A1}"/>
              </a:ext>
            </a:extLst>
          </p:cNvPr>
          <p:cNvSpPr/>
          <p:nvPr/>
        </p:nvSpPr>
        <p:spPr>
          <a:xfrm>
            <a:off x="10181436" y="4876406"/>
            <a:ext cx="45719" cy="8250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A3A97F28-3C92-ABAB-B6E9-E1EA7FBE1E2C}"/>
              </a:ext>
            </a:extLst>
          </p:cNvPr>
          <p:cNvCxnSpPr/>
          <p:nvPr/>
        </p:nvCxnSpPr>
        <p:spPr>
          <a:xfrm>
            <a:off x="9939836" y="2352484"/>
            <a:ext cx="0" cy="8546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0366019-0385-DA15-6F6C-1581F2F6C00E}"/>
              </a:ext>
            </a:extLst>
          </p:cNvPr>
          <p:cNvCxnSpPr>
            <a:cxnSpLocks/>
          </p:cNvCxnSpPr>
          <p:nvPr/>
        </p:nvCxnSpPr>
        <p:spPr>
          <a:xfrm flipH="1">
            <a:off x="9939836" y="3196080"/>
            <a:ext cx="159090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1" name="Freeform 230">
            <a:extLst>
              <a:ext uri="{FF2B5EF4-FFF2-40B4-BE49-F238E27FC236}">
                <a16:creationId xmlns:a16="http://schemas.microsoft.com/office/drawing/2014/main" id="{F8F5AB94-828F-A86D-CA1E-DE54F6726441}"/>
              </a:ext>
            </a:extLst>
          </p:cNvPr>
          <p:cNvSpPr/>
          <p:nvPr/>
        </p:nvSpPr>
        <p:spPr>
          <a:xfrm>
            <a:off x="10006743" y="2418753"/>
            <a:ext cx="1445196" cy="635896"/>
          </a:xfrm>
          <a:custGeom>
            <a:avLst/>
            <a:gdLst>
              <a:gd name="connsiteX0" fmla="*/ 0 w 1445196"/>
              <a:gd name="connsiteY0" fmla="*/ 0 h 635896"/>
              <a:gd name="connsiteX1" fmla="*/ 542693 w 1445196"/>
              <a:gd name="connsiteY1" fmla="*/ 185854 h 635896"/>
              <a:gd name="connsiteX2" fmla="*/ 683942 w 1445196"/>
              <a:gd name="connsiteY2" fmla="*/ 535258 h 635896"/>
              <a:gd name="connsiteX3" fmla="*/ 1360449 w 1445196"/>
              <a:gd name="connsiteY3" fmla="*/ 624468 h 635896"/>
              <a:gd name="connsiteX4" fmla="*/ 1412488 w 1445196"/>
              <a:gd name="connsiteY4" fmla="*/ 631902 h 63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5196" h="635896">
                <a:moveTo>
                  <a:pt x="0" y="0"/>
                </a:moveTo>
                <a:cubicBezTo>
                  <a:pt x="214351" y="48322"/>
                  <a:pt x="428703" y="96644"/>
                  <a:pt x="542693" y="185854"/>
                </a:cubicBezTo>
                <a:cubicBezTo>
                  <a:pt x="656683" y="275064"/>
                  <a:pt x="547649" y="462156"/>
                  <a:pt x="683942" y="535258"/>
                </a:cubicBezTo>
                <a:cubicBezTo>
                  <a:pt x="820235" y="608360"/>
                  <a:pt x="1239025" y="608361"/>
                  <a:pt x="1360449" y="624468"/>
                </a:cubicBezTo>
                <a:cubicBezTo>
                  <a:pt x="1481873" y="640575"/>
                  <a:pt x="1447180" y="636238"/>
                  <a:pt x="1412488" y="631902"/>
                </a:cubicBez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" name="Freeform 231">
            <a:extLst>
              <a:ext uri="{FF2B5EF4-FFF2-40B4-BE49-F238E27FC236}">
                <a16:creationId xmlns:a16="http://schemas.microsoft.com/office/drawing/2014/main" id="{DDF7506C-106A-E85D-2814-2B0E65D14156}"/>
              </a:ext>
            </a:extLst>
          </p:cNvPr>
          <p:cNvSpPr/>
          <p:nvPr/>
        </p:nvSpPr>
        <p:spPr>
          <a:xfrm>
            <a:off x="10014177" y="2493094"/>
            <a:ext cx="1434791" cy="572430"/>
          </a:xfrm>
          <a:custGeom>
            <a:avLst/>
            <a:gdLst>
              <a:gd name="connsiteX0" fmla="*/ 0 w 1434791"/>
              <a:gd name="connsiteY0" fmla="*/ 572430 h 572430"/>
              <a:gd name="connsiteX1" fmla="*/ 431181 w 1434791"/>
              <a:gd name="connsiteY1" fmla="*/ 483220 h 572430"/>
              <a:gd name="connsiteX2" fmla="*/ 661639 w 1434791"/>
              <a:gd name="connsiteY2" fmla="*/ 81776 h 572430"/>
              <a:gd name="connsiteX3" fmla="*/ 1405054 w 1434791"/>
              <a:gd name="connsiteY3" fmla="*/ 0 h 572430"/>
              <a:gd name="connsiteX4" fmla="*/ 1405054 w 1434791"/>
              <a:gd name="connsiteY4" fmla="*/ 0 h 572430"/>
              <a:gd name="connsiteX5" fmla="*/ 1434791 w 1434791"/>
              <a:gd name="connsiteY5" fmla="*/ 0 h 572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34791" h="572430">
                <a:moveTo>
                  <a:pt x="0" y="572430"/>
                </a:moveTo>
                <a:cubicBezTo>
                  <a:pt x="160454" y="568713"/>
                  <a:pt x="320908" y="564996"/>
                  <a:pt x="431181" y="483220"/>
                </a:cubicBezTo>
                <a:cubicBezTo>
                  <a:pt x="541454" y="401444"/>
                  <a:pt x="499327" y="162313"/>
                  <a:pt x="661639" y="81776"/>
                </a:cubicBezTo>
                <a:cubicBezTo>
                  <a:pt x="823951" y="1239"/>
                  <a:pt x="1405054" y="0"/>
                  <a:pt x="1405054" y="0"/>
                </a:cubicBezTo>
                <a:lnTo>
                  <a:pt x="1405054" y="0"/>
                </a:lnTo>
                <a:lnTo>
                  <a:pt x="1434791" y="0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" name="Freeform 232">
            <a:extLst>
              <a:ext uri="{FF2B5EF4-FFF2-40B4-BE49-F238E27FC236}">
                <a16:creationId xmlns:a16="http://schemas.microsoft.com/office/drawing/2014/main" id="{707E2027-97B8-5405-2F43-8E5736B37759}"/>
              </a:ext>
            </a:extLst>
          </p:cNvPr>
          <p:cNvSpPr/>
          <p:nvPr/>
        </p:nvSpPr>
        <p:spPr>
          <a:xfrm>
            <a:off x="10006743" y="3072958"/>
            <a:ext cx="1427356" cy="52039"/>
          </a:xfrm>
          <a:custGeom>
            <a:avLst/>
            <a:gdLst>
              <a:gd name="connsiteX0" fmla="*/ 0 w 1427356"/>
              <a:gd name="connsiteY0" fmla="*/ 52039 h 52039"/>
              <a:gd name="connsiteX1" fmla="*/ 520391 w 1427356"/>
              <a:gd name="connsiteY1" fmla="*/ 0 h 52039"/>
              <a:gd name="connsiteX2" fmla="*/ 1427356 w 1427356"/>
              <a:gd name="connsiteY2" fmla="*/ 52039 h 52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27356" h="52039">
                <a:moveTo>
                  <a:pt x="0" y="52039"/>
                </a:moveTo>
                <a:cubicBezTo>
                  <a:pt x="141249" y="26019"/>
                  <a:pt x="282498" y="0"/>
                  <a:pt x="520391" y="0"/>
                </a:cubicBezTo>
                <a:cubicBezTo>
                  <a:pt x="758284" y="0"/>
                  <a:pt x="1092820" y="26019"/>
                  <a:pt x="1427356" y="52039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3BFED0F2-1405-ED06-3B09-15C66BC7EB3E}"/>
              </a:ext>
            </a:extLst>
          </p:cNvPr>
          <p:cNvSpPr txBox="1"/>
          <p:nvPr/>
        </p:nvSpPr>
        <p:spPr>
          <a:xfrm>
            <a:off x="10616036" y="3233294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44D1C258-6837-F92C-C4F7-4B412D9DF9FD}"/>
              </a:ext>
            </a:extLst>
          </p:cNvPr>
          <p:cNvSpPr txBox="1"/>
          <p:nvPr/>
        </p:nvSpPr>
        <p:spPr>
          <a:xfrm>
            <a:off x="9666512" y="2581677"/>
            <a:ext cx="239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𝜃</a:t>
            </a:r>
          </a:p>
        </p:txBody>
      </p: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96DD0351-C10D-882B-461C-0F81E4CC3546}"/>
              </a:ext>
            </a:extLst>
          </p:cNvPr>
          <p:cNvCxnSpPr/>
          <p:nvPr/>
        </p:nvCxnSpPr>
        <p:spPr>
          <a:xfrm>
            <a:off x="9216007" y="992851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40" name="Graphic 239" descr="No sign outline">
            <a:extLst>
              <a:ext uri="{FF2B5EF4-FFF2-40B4-BE49-F238E27FC236}">
                <a16:creationId xmlns:a16="http://schemas.microsoft.com/office/drawing/2014/main" id="{6F1627AE-20AE-DC6C-08C5-0088B2A1EC2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90439" y="2183186"/>
            <a:ext cx="526779" cy="526779"/>
          </a:xfrm>
          <a:prstGeom prst="rect">
            <a:avLst/>
          </a:prstGeom>
        </p:spPr>
      </p:pic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7079BC90-BF36-FB40-BF5D-11D642B3B9FC}"/>
              </a:ext>
            </a:extLst>
          </p:cNvPr>
          <p:cNvCxnSpPr/>
          <p:nvPr/>
        </p:nvCxnSpPr>
        <p:spPr>
          <a:xfrm>
            <a:off x="9316069" y="4943458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2" name="Oval 241">
            <a:extLst>
              <a:ext uri="{FF2B5EF4-FFF2-40B4-BE49-F238E27FC236}">
                <a16:creationId xmlns:a16="http://schemas.microsoft.com/office/drawing/2014/main" id="{50F489A1-0555-1822-CE00-C2BE89EAC19B}"/>
              </a:ext>
            </a:extLst>
          </p:cNvPr>
          <p:cNvSpPr/>
          <p:nvPr/>
        </p:nvSpPr>
        <p:spPr>
          <a:xfrm>
            <a:off x="10093918" y="2914706"/>
            <a:ext cx="45719" cy="8250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Oval 244">
            <a:extLst>
              <a:ext uri="{FF2B5EF4-FFF2-40B4-BE49-F238E27FC236}">
                <a16:creationId xmlns:a16="http://schemas.microsoft.com/office/drawing/2014/main" id="{5AA3E660-51B9-93C6-257A-0F42CE6D029C}"/>
              </a:ext>
            </a:extLst>
          </p:cNvPr>
          <p:cNvSpPr/>
          <p:nvPr/>
        </p:nvSpPr>
        <p:spPr>
          <a:xfrm>
            <a:off x="10094544" y="2860110"/>
            <a:ext cx="45719" cy="8250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Oval 247">
            <a:extLst>
              <a:ext uri="{FF2B5EF4-FFF2-40B4-BE49-F238E27FC236}">
                <a16:creationId xmlns:a16="http://schemas.microsoft.com/office/drawing/2014/main" id="{07F6F1F9-BAD4-6D0B-D686-335EB244530B}"/>
              </a:ext>
            </a:extLst>
          </p:cNvPr>
          <p:cNvSpPr/>
          <p:nvPr/>
        </p:nvSpPr>
        <p:spPr>
          <a:xfrm>
            <a:off x="10981618" y="2406251"/>
            <a:ext cx="45719" cy="8250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7AF2E8FB-4F45-31E6-581C-E0CE665C36FC}"/>
              </a:ext>
            </a:extLst>
          </p:cNvPr>
          <p:cNvSpPr/>
          <p:nvPr/>
        </p:nvSpPr>
        <p:spPr>
          <a:xfrm>
            <a:off x="10095777" y="2810407"/>
            <a:ext cx="45719" cy="8250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1FE1CFFB-731D-776D-90ED-E6474031B8F8}"/>
              </a:ext>
            </a:extLst>
          </p:cNvPr>
          <p:cNvSpPr txBox="1"/>
          <p:nvPr/>
        </p:nvSpPr>
        <p:spPr>
          <a:xfrm>
            <a:off x="9786447" y="6101640"/>
            <a:ext cx="2172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Evaluation of t</a:t>
            </a:r>
            <a:r>
              <a:rPr lang="en-US" sz="1200" baseline="-25000" dirty="0"/>
              <a:t>1</a:t>
            </a:r>
            <a:r>
              <a:rPr lang="en-US" sz="1200" dirty="0"/>
              <a:t> estimates using clade assignment as of t</a:t>
            </a:r>
            <a:r>
              <a:rPr lang="en-US" sz="1200" baseline="-25000" dirty="0"/>
              <a:t>1</a:t>
            </a:r>
            <a:r>
              <a:rPr lang="en-US" sz="1200" dirty="0"/>
              <a:t> but sequences as of t</a:t>
            </a:r>
            <a:r>
              <a:rPr lang="en-US" sz="1200" baseline="-25000" dirty="0"/>
              <a:t>2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F86C1828-8395-E3A6-3A1E-54663BC12CE0}"/>
              </a:ext>
            </a:extLst>
          </p:cNvPr>
          <p:cNvSpPr txBox="1"/>
          <p:nvPr/>
        </p:nvSpPr>
        <p:spPr>
          <a:xfrm>
            <a:off x="10568713" y="1701048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ADF0A5F3-D645-134D-226B-60574D64B2E9}"/>
              </a:ext>
            </a:extLst>
          </p:cNvPr>
          <p:cNvSpPr txBox="1"/>
          <p:nvPr/>
        </p:nvSpPr>
        <p:spPr>
          <a:xfrm>
            <a:off x="10729341" y="5631180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3004063-0D77-DB49-C92E-128D17DF4647}"/>
              </a:ext>
            </a:extLst>
          </p:cNvPr>
          <p:cNvSpPr txBox="1"/>
          <p:nvPr/>
        </p:nvSpPr>
        <p:spPr>
          <a:xfrm>
            <a:off x="704977" y="3491842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CE2F4049-BEBA-9412-7E0E-89E7B50D64A0}"/>
              </a:ext>
            </a:extLst>
          </p:cNvPr>
          <p:cNvSpPr txBox="1"/>
          <p:nvPr/>
        </p:nvSpPr>
        <p:spPr>
          <a:xfrm>
            <a:off x="1788156" y="3513874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25F8870D-84E2-3E2E-F833-C78D1BE15432}"/>
              </a:ext>
            </a:extLst>
          </p:cNvPr>
          <p:cNvSpPr txBox="1"/>
          <p:nvPr/>
        </p:nvSpPr>
        <p:spPr>
          <a:xfrm>
            <a:off x="737578" y="1522699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B751C740-F787-93FF-665D-73268AE1136C}"/>
              </a:ext>
            </a:extLst>
          </p:cNvPr>
          <p:cNvSpPr txBox="1"/>
          <p:nvPr/>
        </p:nvSpPr>
        <p:spPr>
          <a:xfrm>
            <a:off x="5707088" y="3470348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E19F9EF6-6D88-BA09-27B8-1EE4F42A2A50}"/>
              </a:ext>
            </a:extLst>
          </p:cNvPr>
          <p:cNvSpPr txBox="1"/>
          <p:nvPr/>
        </p:nvSpPr>
        <p:spPr>
          <a:xfrm>
            <a:off x="6985644" y="3454779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2B2E27F3-C076-3AA1-9348-AFC18B43201D}"/>
              </a:ext>
            </a:extLst>
          </p:cNvPr>
          <p:cNvSpPr txBox="1"/>
          <p:nvPr/>
        </p:nvSpPr>
        <p:spPr>
          <a:xfrm>
            <a:off x="7224252" y="117553"/>
            <a:ext cx="2057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Observed clade counts</a:t>
            </a:r>
          </a:p>
        </p:txBody>
      </p: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B01031D5-C672-9FE2-8FD0-C2997CAAAA4F}"/>
              </a:ext>
            </a:extLst>
          </p:cNvPr>
          <p:cNvCxnSpPr>
            <a:cxnSpLocks/>
          </p:cNvCxnSpPr>
          <p:nvPr/>
        </p:nvCxnSpPr>
        <p:spPr>
          <a:xfrm flipH="1">
            <a:off x="8231522" y="1667771"/>
            <a:ext cx="851433" cy="108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3" name="Rectangle 272">
            <a:extLst>
              <a:ext uri="{FF2B5EF4-FFF2-40B4-BE49-F238E27FC236}">
                <a16:creationId xmlns:a16="http://schemas.microsoft.com/office/drawing/2014/main" id="{113DE9C0-290F-D820-2F51-C6056E126F20}"/>
              </a:ext>
            </a:extLst>
          </p:cNvPr>
          <p:cNvSpPr/>
          <p:nvPr/>
        </p:nvSpPr>
        <p:spPr>
          <a:xfrm>
            <a:off x="8386526" y="1300549"/>
            <a:ext cx="193965" cy="34715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FD6415EF-6E0F-C19B-65A7-B12BEE47C5E7}"/>
              </a:ext>
            </a:extLst>
          </p:cNvPr>
          <p:cNvSpPr/>
          <p:nvPr/>
        </p:nvSpPr>
        <p:spPr>
          <a:xfrm>
            <a:off x="8383414" y="935882"/>
            <a:ext cx="193965" cy="34715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382B0B35-B697-5939-2A7A-1FA7B57B5AF5}"/>
              </a:ext>
            </a:extLst>
          </p:cNvPr>
          <p:cNvCxnSpPr>
            <a:cxnSpLocks/>
          </p:cNvCxnSpPr>
          <p:nvPr/>
        </p:nvCxnSpPr>
        <p:spPr>
          <a:xfrm>
            <a:off x="8235293" y="545498"/>
            <a:ext cx="0" cy="11265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8" name="TextBox 277">
            <a:extLst>
              <a:ext uri="{FF2B5EF4-FFF2-40B4-BE49-F238E27FC236}">
                <a16:creationId xmlns:a16="http://schemas.microsoft.com/office/drawing/2014/main" id="{F407D79B-7482-7E45-6116-BD33C157C97A}"/>
              </a:ext>
            </a:extLst>
          </p:cNvPr>
          <p:cNvSpPr txBox="1"/>
          <p:nvPr/>
        </p:nvSpPr>
        <p:spPr>
          <a:xfrm>
            <a:off x="7832390" y="970097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Cambria" panose="02040503050406030204" pitchFamily="18" charset="0"/>
              </a:rPr>
              <a:t>C</a:t>
            </a: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F115BA96-1676-91FF-0BF2-7472D2CDB8B6}"/>
              </a:ext>
            </a:extLst>
          </p:cNvPr>
          <p:cNvSpPr txBox="1"/>
          <p:nvPr/>
        </p:nvSpPr>
        <p:spPr>
          <a:xfrm>
            <a:off x="8561615" y="1689499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cxnSp>
        <p:nvCxnSpPr>
          <p:cNvPr id="283" name="Straight Arrow Connector 282">
            <a:extLst>
              <a:ext uri="{FF2B5EF4-FFF2-40B4-BE49-F238E27FC236}">
                <a16:creationId xmlns:a16="http://schemas.microsoft.com/office/drawing/2014/main" id="{E9837D3F-7FA0-9AF4-FD9F-C4CA5B4CBED5}"/>
              </a:ext>
            </a:extLst>
          </p:cNvPr>
          <p:cNvCxnSpPr/>
          <p:nvPr/>
        </p:nvCxnSpPr>
        <p:spPr>
          <a:xfrm>
            <a:off x="6935290" y="963183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5767C9F2-74A8-47FE-1569-AB61D5C2823B}"/>
              </a:ext>
            </a:extLst>
          </p:cNvPr>
          <p:cNvCxnSpPr/>
          <p:nvPr/>
        </p:nvCxnSpPr>
        <p:spPr>
          <a:xfrm>
            <a:off x="7041128" y="2340536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B55A5EC2-97E8-6111-6BC7-377FC5C3555F}"/>
              </a:ext>
            </a:extLst>
          </p:cNvPr>
          <p:cNvCxnSpPr>
            <a:cxnSpLocks/>
          </p:cNvCxnSpPr>
          <p:nvPr/>
        </p:nvCxnSpPr>
        <p:spPr>
          <a:xfrm flipH="1">
            <a:off x="8207697" y="3252620"/>
            <a:ext cx="851433" cy="108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6" name="Rectangle 285">
            <a:extLst>
              <a:ext uri="{FF2B5EF4-FFF2-40B4-BE49-F238E27FC236}">
                <a16:creationId xmlns:a16="http://schemas.microsoft.com/office/drawing/2014/main" id="{6A5CEE6B-BFCE-0322-5F76-6BBA68C6EE24}"/>
              </a:ext>
            </a:extLst>
          </p:cNvPr>
          <p:cNvSpPr/>
          <p:nvPr/>
        </p:nvSpPr>
        <p:spPr>
          <a:xfrm>
            <a:off x="8368144" y="2884171"/>
            <a:ext cx="193965" cy="347158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78A5731C-9B4E-8D1E-542E-82C03C2A0DF6}"/>
              </a:ext>
            </a:extLst>
          </p:cNvPr>
          <p:cNvSpPr/>
          <p:nvPr/>
        </p:nvSpPr>
        <p:spPr>
          <a:xfrm>
            <a:off x="8368642" y="2518152"/>
            <a:ext cx="193965" cy="34715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97137357-6BF1-690E-9EC3-C9D43EF2B170}"/>
              </a:ext>
            </a:extLst>
          </p:cNvPr>
          <p:cNvCxnSpPr>
            <a:cxnSpLocks/>
          </p:cNvCxnSpPr>
          <p:nvPr/>
        </p:nvCxnSpPr>
        <p:spPr>
          <a:xfrm>
            <a:off x="8211468" y="2130347"/>
            <a:ext cx="0" cy="11265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F84B970F-430A-D553-784B-4851BEBFF8A7}"/>
              </a:ext>
            </a:extLst>
          </p:cNvPr>
          <p:cNvSpPr txBox="1"/>
          <p:nvPr/>
        </p:nvSpPr>
        <p:spPr>
          <a:xfrm>
            <a:off x="7849824" y="2452679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Cambria" panose="02040503050406030204" pitchFamily="18" charset="0"/>
              </a:rPr>
              <a:t>C</a:t>
            </a: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06D853BD-9462-00C0-6395-5E3195E81B9C}"/>
              </a:ext>
            </a:extLst>
          </p:cNvPr>
          <p:cNvSpPr txBox="1"/>
          <p:nvPr/>
        </p:nvSpPr>
        <p:spPr>
          <a:xfrm>
            <a:off x="8534332" y="3348911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40688F1A-FF4C-391C-F5FD-9115728106F8}"/>
              </a:ext>
            </a:extLst>
          </p:cNvPr>
          <p:cNvSpPr/>
          <p:nvPr/>
        </p:nvSpPr>
        <p:spPr>
          <a:xfrm>
            <a:off x="8367133" y="2166957"/>
            <a:ext cx="193965" cy="34715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9499FA6F-70C1-1597-CFD5-4086B5F503EB}"/>
              </a:ext>
            </a:extLst>
          </p:cNvPr>
          <p:cNvSpPr/>
          <p:nvPr/>
        </p:nvSpPr>
        <p:spPr>
          <a:xfrm>
            <a:off x="8718238" y="2904058"/>
            <a:ext cx="193965" cy="324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5E166435-0B86-A09C-905B-196595D66DED}"/>
              </a:ext>
            </a:extLst>
          </p:cNvPr>
          <p:cNvSpPr txBox="1"/>
          <p:nvPr/>
        </p:nvSpPr>
        <p:spPr>
          <a:xfrm rot="16200000">
            <a:off x="-154142" y="4621781"/>
            <a:ext cx="677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 = t</a:t>
            </a:r>
            <a:r>
              <a:rPr lang="en-US" baseline="-25000" dirty="0"/>
              <a:t>2</a:t>
            </a:r>
            <a:r>
              <a:rPr lang="en-US" dirty="0"/>
              <a:t> </a:t>
            </a: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B169DD55-C6EA-79E9-3C6F-CD6B5BE74264}"/>
              </a:ext>
            </a:extLst>
          </p:cNvPr>
          <p:cNvSpPr txBox="1"/>
          <p:nvPr/>
        </p:nvSpPr>
        <p:spPr>
          <a:xfrm rot="19233967">
            <a:off x="346069" y="4423254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25721384-778B-CC9D-08A6-4F43924E11E2}"/>
              </a:ext>
            </a:extLst>
          </p:cNvPr>
          <p:cNvSpPr txBox="1"/>
          <p:nvPr/>
        </p:nvSpPr>
        <p:spPr>
          <a:xfrm rot="19371636">
            <a:off x="361658" y="4939989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296" name="Graphic 295" descr="DNA outline">
            <a:extLst>
              <a:ext uri="{FF2B5EF4-FFF2-40B4-BE49-F238E27FC236}">
                <a16:creationId xmlns:a16="http://schemas.microsoft.com/office/drawing/2014/main" id="{7105901D-DDB5-674C-A9B6-C1FA910D10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967273">
            <a:off x="591429" y="4039851"/>
            <a:ext cx="302212" cy="914400"/>
          </a:xfrm>
          <a:prstGeom prst="rect">
            <a:avLst/>
          </a:prstGeom>
        </p:spPr>
      </p:pic>
      <p:pic>
        <p:nvPicPr>
          <p:cNvPr id="297" name="Graphic 296" descr="DNA outline">
            <a:extLst>
              <a:ext uri="{FF2B5EF4-FFF2-40B4-BE49-F238E27FC236}">
                <a16:creationId xmlns:a16="http://schemas.microsoft.com/office/drawing/2014/main" id="{11813C5A-5658-375A-039A-899C213ED1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967273">
            <a:off x="623187" y="4490084"/>
            <a:ext cx="302212" cy="914400"/>
          </a:xfrm>
          <a:prstGeom prst="rect">
            <a:avLst/>
          </a:prstGeom>
        </p:spPr>
      </p:pic>
      <p:sp>
        <p:nvSpPr>
          <p:cNvPr id="298" name="TextBox 297">
            <a:extLst>
              <a:ext uri="{FF2B5EF4-FFF2-40B4-BE49-F238E27FC236}">
                <a16:creationId xmlns:a16="http://schemas.microsoft.com/office/drawing/2014/main" id="{C46F73DD-3668-1231-A2F1-8378FF276156}"/>
              </a:ext>
            </a:extLst>
          </p:cNvPr>
          <p:cNvSpPr txBox="1"/>
          <p:nvPr/>
        </p:nvSpPr>
        <p:spPr>
          <a:xfrm rot="19233967">
            <a:off x="1444944" y="5247665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AGCTACGTA</a:t>
            </a: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E97EB5D6-3CFD-1AA0-7550-7EA0301F69AB}"/>
              </a:ext>
            </a:extLst>
          </p:cNvPr>
          <p:cNvSpPr txBox="1"/>
          <p:nvPr/>
        </p:nvSpPr>
        <p:spPr>
          <a:xfrm rot="19107639">
            <a:off x="393191" y="5391969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AGCTACGTT</a:t>
            </a:r>
          </a:p>
        </p:txBody>
      </p:sp>
      <p:pic>
        <p:nvPicPr>
          <p:cNvPr id="300" name="Graphic 299" descr="DNA outline">
            <a:extLst>
              <a:ext uri="{FF2B5EF4-FFF2-40B4-BE49-F238E27FC236}">
                <a16:creationId xmlns:a16="http://schemas.microsoft.com/office/drawing/2014/main" id="{9BE97438-64DF-AB72-3072-82FDE61483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967273">
            <a:off x="1708478" y="4826748"/>
            <a:ext cx="302212" cy="914400"/>
          </a:xfrm>
          <a:prstGeom prst="rect">
            <a:avLst/>
          </a:prstGeom>
        </p:spPr>
      </p:pic>
      <p:pic>
        <p:nvPicPr>
          <p:cNvPr id="301" name="Graphic 300" descr="DNA outline">
            <a:extLst>
              <a:ext uri="{FF2B5EF4-FFF2-40B4-BE49-F238E27FC236}">
                <a16:creationId xmlns:a16="http://schemas.microsoft.com/office/drawing/2014/main" id="{4E86AA37-35BF-931E-14D3-49C1B09D97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967273">
            <a:off x="658045" y="4974205"/>
            <a:ext cx="302212" cy="914400"/>
          </a:xfrm>
          <a:prstGeom prst="rect">
            <a:avLst/>
          </a:prstGeom>
        </p:spPr>
      </p:pic>
      <p:sp>
        <p:nvSpPr>
          <p:cNvPr id="303" name="TextBox 302">
            <a:extLst>
              <a:ext uri="{FF2B5EF4-FFF2-40B4-BE49-F238E27FC236}">
                <a16:creationId xmlns:a16="http://schemas.microsoft.com/office/drawing/2014/main" id="{A066AC8C-8BD1-D0BC-BDAA-63126A34C146}"/>
              </a:ext>
            </a:extLst>
          </p:cNvPr>
          <p:cNvSpPr txBox="1"/>
          <p:nvPr/>
        </p:nvSpPr>
        <p:spPr>
          <a:xfrm>
            <a:off x="524573" y="5845610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DB3F6A1A-7647-3D92-9B24-32BF9A185AC3}"/>
              </a:ext>
            </a:extLst>
          </p:cNvPr>
          <p:cNvSpPr txBox="1"/>
          <p:nvPr/>
        </p:nvSpPr>
        <p:spPr>
          <a:xfrm>
            <a:off x="1607752" y="5867642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CF4A34B2-80C8-0EFE-AF06-581125356C36}"/>
              </a:ext>
            </a:extLst>
          </p:cNvPr>
          <p:cNvSpPr txBox="1"/>
          <p:nvPr/>
        </p:nvSpPr>
        <p:spPr>
          <a:xfrm rot="19233967">
            <a:off x="5407246" y="4449510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5281F489-7EEF-1566-D79C-272F3EFD24CA}"/>
              </a:ext>
            </a:extLst>
          </p:cNvPr>
          <p:cNvSpPr txBox="1"/>
          <p:nvPr/>
        </p:nvSpPr>
        <p:spPr>
          <a:xfrm rot="19371636">
            <a:off x="5590453" y="4874520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310" name="Graphic 309" descr="DNA outline">
            <a:extLst>
              <a:ext uri="{FF2B5EF4-FFF2-40B4-BE49-F238E27FC236}">
                <a16:creationId xmlns:a16="http://schemas.microsoft.com/office/drawing/2014/main" id="{27B95FAD-E9CF-8BE9-6AB8-D420362930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967273">
            <a:off x="5849737" y="4452470"/>
            <a:ext cx="302212" cy="914400"/>
          </a:xfrm>
          <a:prstGeom prst="rect">
            <a:avLst/>
          </a:prstGeom>
        </p:spPr>
      </p:pic>
      <p:sp>
        <p:nvSpPr>
          <p:cNvPr id="311" name="TextBox 310">
            <a:extLst>
              <a:ext uri="{FF2B5EF4-FFF2-40B4-BE49-F238E27FC236}">
                <a16:creationId xmlns:a16="http://schemas.microsoft.com/office/drawing/2014/main" id="{ABA6964F-B933-02FF-B908-387B02472628}"/>
              </a:ext>
            </a:extLst>
          </p:cNvPr>
          <p:cNvSpPr txBox="1"/>
          <p:nvPr/>
        </p:nvSpPr>
        <p:spPr>
          <a:xfrm rot="19233967">
            <a:off x="6787158" y="5261675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AGCTACGTA</a:t>
            </a: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4D6C4D1E-4626-8292-0D3A-51D5DD12EB70}"/>
              </a:ext>
            </a:extLst>
          </p:cNvPr>
          <p:cNvSpPr txBox="1"/>
          <p:nvPr/>
        </p:nvSpPr>
        <p:spPr>
          <a:xfrm rot="19128486">
            <a:off x="5722206" y="5372726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AGCTACGTT</a:t>
            </a:r>
          </a:p>
        </p:txBody>
      </p:sp>
      <p:pic>
        <p:nvPicPr>
          <p:cNvPr id="314" name="Graphic 313" descr="DNA outline">
            <a:extLst>
              <a:ext uri="{FF2B5EF4-FFF2-40B4-BE49-F238E27FC236}">
                <a16:creationId xmlns:a16="http://schemas.microsoft.com/office/drawing/2014/main" id="{715C96F7-62DE-54FB-C94F-E129A7BEDA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2967273">
            <a:off x="5993952" y="4931127"/>
            <a:ext cx="302212" cy="914400"/>
          </a:xfrm>
          <a:prstGeom prst="rect">
            <a:avLst/>
          </a:prstGeom>
        </p:spPr>
      </p:pic>
      <p:sp>
        <p:nvSpPr>
          <p:cNvPr id="315" name="TextBox 314">
            <a:extLst>
              <a:ext uri="{FF2B5EF4-FFF2-40B4-BE49-F238E27FC236}">
                <a16:creationId xmlns:a16="http://schemas.microsoft.com/office/drawing/2014/main" id="{C6621558-12F3-12C2-90DD-C51153FE1D09}"/>
              </a:ext>
            </a:extLst>
          </p:cNvPr>
          <p:cNvSpPr txBox="1"/>
          <p:nvPr/>
        </p:nvSpPr>
        <p:spPr>
          <a:xfrm>
            <a:off x="6179516" y="4135510"/>
            <a:ext cx="2760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</a:t>
            </a:r>
          </a:p>
        </p:txBody>
      </p:sp>
      <p:pic>
        <p:nvPicPr>
          <p:cNvPr id="316" name="Graphic 315" descr="Tag outline">
            <a:extLst>
              <a:ext uri="{FF2B5EF4-FFF2-40B4-BE49-F238E27FC236}">
                <a16:creationId xmlns:a16="http://schemas.microsoft.com/office/drawing/2014/main" id="{EAC5E6AF-9EC1-001F-9926-F2FE8C0C77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175687">
            <a:off x="6290837" y="4446580"/>
            <a:ext cx="434846" cy="434846"/>
          </a:xfrm>
          <a:prstGeom prst="rect">
            <a:avLst/>
          </a:prstGeom>
        </p:spPr>
      </p:pic>
      <p:sp>
        <p:nvSpPr>
          <p:cNvPr id="317" name="TextBox 316">
            <a:extLst>
              <a:ext uri="{FF2B5EF4-FFF2-40B4-BE49-F238E27FC236}">
                <a16:creationId xmlns:a16="http://schemas.microsoft.com/office/drawing/2014/main" id="{8D785221-FB63-6E41-3BA3-753066DE82A6}"/>
              </a:ext>
            </a:extLst>
          </p:cNvPr>
          <p:cNvSpPr txBox="1"/>
          <p:nvPr/>
        </p:nvSpPr>
        <p:spPr>
          <a:xfrm>
            <a:off x="6397933" y="4537326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pic>
        <p:nvPicPr>
          <p:cNvPr id="318" name="Graphic 317" descr="Tag outline">
            <a:extLst>
              <a:ext uri="{FF2B5EF4-FFF2-40B4-BE49-F238E27FC236}">
                <a16:creationId xmlns:a16="http://schemas.microsoft.com/office/drawing/2014/main" id="{D33ED25F-A127-D406-3193-6D7598EF0A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175687">
            <a:off x="7501830" y="4781990"/>
            <a:ext cx="434846" cy="446275"/>
          </a:xfrm>
          <a:prstGeom prst="rect">
            <a:avLst/>
          </a:prstGeom>
        </p:spPr>
      </p:pic>
      <p:sp>
        <p:nvSpPr>
          <p:cNvPr id="319" name="TextBox 318">
            <a:extLst>
              <a:ext uri="{FF2B5EF4-FFF2-40B4-BE49-F238E27FC236}">
                <a16:creationId xmlns:a16="http://schemas.microsoft.com/office/drawing/2014/main" id="{42D59D42-46CD-795B-D958-EAF922A80BD3}"/>
              </a:ext>
            </a:extLst>
          </p:cNvPr>
          <p:cNvSpPr txBox="1"/>
          <p:nvPr/>
        </p:nvSpPr>
        <p:spPr>
          <a:xfrm flipH="1">
            <a:off x="7612267" y="4894852"/>
            <a:ext cx="2555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pic>
        <p:nvPicPr>
          <p:cNvPr id="320" name="Graphic 319" descr="Tag outline">
            <a:extLst>
              <a:ext uri="{FF2B5EF4-FFF2-40B4-BE49-F238E27FC236}">
                <a16:creationId xmlns:a16="http://schemas.microsoft.com/office/drawing/2014/main" id="{C5F1F428-FC00-E7EA-8BDD-95BFB20B2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175687">
            <a:off x="6431780" y="4923312"/>
            <a:ext cx="434846" cy="446275"/>
          </a:xfrm>
          <a:prstGeom prst="rect">
            <a:avLst/>
          </a:prstGeom>
        </p:spPr>
      </p:pic>
      <p:sp>
        <p:nvSpPr>
          <p:cNvPr id="321" name="TextBox 320">
            <a:extLst>
              <a:ext uri="{FF2B5EF4-FFF2-40B4-BE49-F238E27FC236}">
                <a16:creationId xmlns:a16="http://schemas.microsoft.com/office/drawing/2014/main" id="{2415A183-907E-8794-A30F-B8FBB391B111}"/>
              </a:ext>
            </a:extLst>
          </p:cNvPr>
          <p:cNvSpPr txBox="1"/>
          <p:nvPr/>
        </p:nvSpPr>
        <p:spPr>
          <a:xfrm>
            <a:off x="6525187" y="5024212"/>
            <a:ext cx="2760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D313B104-F58C-76FF-EF47-0ABA6CB879B1}"/>
              </a:ext>
            </a:extLst>
          </p:cNvPr>
          <p:cNvSpPr txBox="1"/>
          <p:nvPr/>
        </p:nvSpPr>
        <p:spPr>
          <a:xfrm>
            <a:off x="5792432" y="5829922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05888646-C43B-41BC-910F-BCFE9682A2FA}"/>
              </a:ext>
            </a:extLst>
          </p:cNvPr>
          <p:cNvSpPr txBox="1"/>
          <p:nvPr/>
        </p:nvSpPr>
        <p:spPr>
          <a:xfrm>
            <a:off x="7070988" y="5814353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B3E9EE01-E5BA-68D2-4989-A4C69A611C6B}"/>
              </a:ext>
            </a:extLst>
          </p:cNvPr>
          <p:cNvCxnSpPr/>
          <p:nvPr/>
        </p:nvCxnSpPr>
        <p:spPr>
          <a:xfrm>
            <a:off x="7126472" y="4700110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D2BB9ECA-8207-DA7A-1063-6AB764C23934}"/>
              </a:ext>
            </a:extLst>
          </p:cNvPr>
          <p:cNvCxnSpPr>
            <a:cxnSpLocks/>
          </p:cNvCxnSpPr>
          <p:nvPr/>
        </p:nvCxnSpPr>
        <p:spPr>
          <a:xfrm flipH="1">
            <a:off x="8293041" y="5612194"/>
            <a:ext cx="851433" cy="108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7" name="Rectangle 326">
            <a:extLst>
              <a:ext uri="{FF2B5EF4-FFF2-40B4-BE49-F238E27FC236}">
                <a16:creationId xmlns:a16="http://schemas.microsoft.com/office/drawing/2014/main" id="{4C5A228F-E1CD-CA27-AF8D-B57BDF1799B4}"/>
              </a:ext>
            </a:extLst>
          </p:cNvPr>
          <p:cNvSpPr/>
          <p:nvPr/>
        </p:nvSpPr>
        <p:spPr>
          <a:xfrm>
            <a:off x="8453986" y="4877725"/>
            <a:ext cx="193965" cy="6950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A6549AC7-03A8-1949-A6C7-537D93B4291C}"/>
              </a:ext>
            </a:extLst>
          </p:cNvPr>
          <p:cNvCxnSpPr>
            <a:cxnSpLocks/>
          </p:cNvCxnSpPr>
          <p:nvPr/>
        </p:nvCxnSpPr>
        <p:spPr>
          <a:xfrm>
            <a:off x="8296812" y="4489921"/>
            <a:ext cx="0" cy="11265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9" name="TextBox 328">
            <a:extLst>
              <a:ext uri="{FF2B5EF4-FFF2-40B4-BE49-F238E27FC236}">
                <a16:creationId xmlns:a16="http://schemas.microsoft.com/office/drawing/2014/main" id="{7E99952C-1C4A-A445-5195-283BB20C65EC}"/>
              </a:ext>
            </a:extLst>
          </p:cNvPr>
          <p:cNvSpPr txBox="1"/>
          <p:nvPr/>
        </p:nvSpPr>
        <p:spPr>
          <a:xfrm>
            <a:off x="7893909" y="4914520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Cambria" panose="02040503050406030204" pitchFamily="18" charset="0"/>
              </a:rPr>
              <a:t>C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466C8B1B-C2AF-AC06-1617-9B649F01A1B4}"/>
              </a:ext>
            </a:extLst>
          </p:cNvPr>
          <p:cNvSpPr txBox="1"/>
          <p:nvPr/>
        </p:nvSpPr>
        <p:spPr>
          <a:xfrm>
            <a:off x="8619676" y="5708485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10CDF7E4-6EC5-00BF-9AAD-576FD85DEA32}"/>
              </a:ext>
            </a:extLst>
          </p:cNvPr>
          <p:cNvSpPr/>
          <p:nvPr/>
        </p:nvSpPr>
        <p:spPr>
          <a:xfrm>
            <a:off x="8452477" y="4526531"/>
            <a:ext cx="193965" cy="34715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0384E883-4847-CB58-2508-B23AEAE96D54}"/>
              </a:ext>
            </a:extLst>
          </p:cNvPr>
          <p:cNvSpPr/>
          <p:nvPr/>
        </p:nvSpPr>
        <p:spPr>
          <a:xfrm>
            <a:off x="8813107" y="5223994"/>
            <a:ext cx="193965" cy="34715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4" name="Graphic 333" descr="Tag outline">
            <a:extLst>
              <a:ext uri="{FF2B5EF4-FFF2-40B4-BE49-F238E27FC236}">
                <a16:creationId xmlns:a16="http://schemas.microsoft.com/office/drawing/2014/main" id="{1DDF5A51-58BE-5449-9276-F268F31A00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175687">
            <a:off x="6097613" y="4045453"/>
            <a:ext cx="434846" cy="446275"/>
          </a:xfrm>
          <a:prstGeom prst="rect">
            <a:avLst/>
          </a:prstGeom>
        </p:spPr>
      </p:pic>
      <p:pic>
        <p:nvPicPr>
          <p:cNvPr id="335" name="Graphic 334" descr="DNA outline">
            <a:extLst>
              <a:ext uri="{FF2B5EF4-FFF2-40B4-BE49-F238E27FC236}">
                <a16:creationId xmlns:a16="http://schemas.microsoft.com/office/drawing/2014/main" id="{D4E80E81-7031-D070-A6D5-ABB32A258C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2967273">
            <a:off x="5663770" y="4048735"/>
            <a:ext cx="302212" cy="914400"/>
          </a:xfrm>
          <a:prstGeom prst="rect">
            <a:avLst/>
          </a:prstGeom>
        </p:spPr>
      </p:pic>
      <p:sp>
        <p:nvSpPr>
          <p:cNvPr id="336" name="Oval 335">
            <a:extLst>
              <a:ext uri="{FF2B5EF4-FFF2-40B4-BE49-F238E27FC236}">
                <a16:creationId xmlns:a16="http://schemas.microsoft.com/office/drawing/2014/main" id="{B02D231C-5EEE-A4A9-D33A-8DE0FD41D9F4}"/>
              </a:ext>
            </a:extLst>
          </p:cNvPr>
          <p:cNvSpPr/>
          <p:nvPr/>
        </p:nvSpPr>
        <p:spPr>
          <a:xfrm>
            <a:off x="10104392" y="1162891"/>
            <a:ext cx="45719" cy="8250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7" name="Oval 336">
            <a:extLst>
              <a:ext uri="{FF2B5EF4-FFF2-40B4-BE49-F238E27FC236}">
                <a16:creationId xmlns:a16="http://schemas.microsoft.com/office/drawing/2014/main" id="{24E4790D-75BE-40C4-FEBC-69A8DE952467}"/>
              </a:ext>
            </a:extLst>
          </p:cNvPr>
          <p:cNvSpPr/>
          <p:nvPr/>
        </p:nvSpPr>
        <p:spPr>
          <a:xfrm>
            <a:off x="10103719" y="1222692"/>
            <a:ext cx="45719" cy="8250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EDF9B514-6494-13EA-6FB8-9EE0791F4FF0}"/>
              </a:ext>
            </a:extLst>
          </p:cNvPr>
          <p:cNvSpPr txBox="1"/>
          <p:nvPr/>
        </p:nvSpPr>
        <p:spPr>
          <a:xfrm>
            <a:off x="7733476" y="6194406"/>
            <a:ext cx="21729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”Final” count of  the number of sequences of each clade</a:t>
            </a:r>
          </a:p>
        </p:txBody>
      </p:sp>
      <p:pic>
        <p:nvPicPr>
          <p:cNvPr id="339" name="Graphic 338" descr="DNA outline">
            <a:extLst>
              <a:ext uri="{FF2B5EF4-FFF2-40B4-BE49-F238E27FC236}">
                <a16:creationId xmlns:a16="http://schemas.microsoft.com/office/drawing/2014/main" id="{4F2FB1A0-BBE5-88FC-923E-2648F251E8E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967273">
            <a:off x="7069353" y="4803652"/>
            <a:ext cx="302212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3220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3259</TotalTime>
  <Words>174</Words>
  <Application>Microsoft Macintosh PowerPoint</Application>
  <PresentationFormat>Widescreen</PresentationFormat>
  <Paragraphs>76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</vt:lpstr>
      <vt:lpstr>Courier New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Kaitlyn Johnson</dc:creator>
  <cp:lastModifiedBy>Kaitlyn Johnson</cp:lastModifiedBy>
  <cp:revision>2</cp:revision>
  <dcterms:created xsi:type="dcterms:W3CDTF">2026-01-09T10:20:20Z</dcterms:created>
  <dcterms:modified xsi:type="dcterms:W3CDTF">2026-01-11T16:39:59Z</dcterms:modified>
</cp:coreProperties>
</file>