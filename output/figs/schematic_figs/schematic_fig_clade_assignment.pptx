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2"/>
    <p:restoredTop sz="94563"/>
  </p:normalViewPr>
  <p:slideViewPr>
    <p:cSldViewPr snapToGrid="0">
      <p:cViewPr>
        <p:scale>
          <a:sx n="142" d="100"/>
          <a:sy n="142" d="100"/>
        </p:scale>
        <p:origin x="1360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55F7-AB5B-BD93-28E1-78E391082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6FCC6-B72A-118C-9B84-209396A49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A5D5D-AEA3-3CF0-C0AB-253BFCB9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9109B-ABD1-DE95-D41D-44B96CD5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53F27-638D-D0F8-6CE0-22F2AED8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6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41D3-893F-C55D-152B-1054F63F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09E5A-9FEC-AE7B-545B-F23F2941C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95054-4269-FC25-5DF5-34FCA77C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FA1E0-7B7F-DF1F-268E-C2AD37FC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50526-1F4F-EBC1-316C-1685693F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3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03AD-AD04-4410-5E63-2A6E64E0A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57426-A8EA-1EB1-98F8-A421075AB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F6C7-AF65-62F8-B507-4356507F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EDCEE-18F6-37A8-72D3-FFA752F75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8D93E-CAF6-06A9-89FC-1D4A150D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0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E2859-4B8F-AB00-0315-32371B49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4F52-C9CA-0F54-C859-38625576F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BD4A7-01C0-6955-23F5-AA27ABA6B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B6122-B1C4-4400-5CBE-531F3FA8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A2859-3CBB-A91F-147D-E7DEA029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624A5-A9B6-D77C-1E0B-E48CAA02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6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E35C-DD78-6A21-AB1E-3A69C573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173B9-E7DD-E11A-C9CC-A57519E70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3BAA8-C33F-A519-8F95-AFA71C1A4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21663-EEA4-422D-F660-DEA5EE780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96C80-C79F-3EED-A0E0-27994BAC5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2F4FF-E808-B7C1-7930-4B22358D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C1284-DA29-6158-7FD1-5E79948A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79369-B3BA-2AD3-6FB8-BA16CAF2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0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A55D-21F8-0FD7-611C-80E55A8B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A8E64-E540-FCD7-F9EE-44BCA91B2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51A5E-1241-8F17-EFA0-18099E67A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BC808-668A-47A4-52BD-BCF1B9B8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8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7C62A-310B-5A3A-7FB4-B69CCF87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81BE3-A7A7-6600-20A9-2A6F074A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3A09C-4104-3635-FB3D-A5D32AAC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8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13FD-55BC-F5EB-BFF9-87A4D0CF5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1D3C-F9AC-D9CF-217A-124318E49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4EEF7-A327-8204-FC4A-E5E49A4CC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05242-B860-8E96-BAF8-7E8B9864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F91E4-D9D3-2102-D297-848454AE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83CB3-9A3A-A97A-71E3-88CA04FB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90C-DF9F-90B3-E8A0-3DD7DCC5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B83C7-FDD3-2D77-4789-BF3574788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FE410-B329-788D-9D44-24A4FF2BD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AC5BE-8410-0DDE-9066-6B4A1CD9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FA2D2-699E-45BB-6C15-CA34E727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12905-80DD-DEEE-FC5E-1090083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8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2562-C93B-FB21-A240-F7FF91D5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C3DF9-0454-9D03-7387-889D9A274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6EF63-D211-17EF-1A78-AB3FCF7D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BB10-A654-F631-12F5-47E408F4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67F61-326B-5BB6-CAF1-48CBA905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A86BA-E780-65A1-1120-A727C6F69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0A544-173C-D6D1-A8BD-A3F1CB4DC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C9BE1-A7DF-78B7-4D3E-A65974DD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E7EB-2B3F-E0BD-38EA-77CB09A9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B70B8-BD40-32FC-6561-01DB8F42F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8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337C4-3FE5-A521-AB7B-B4B01124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5D4EF-8C1F-AF32-9818-E84EE389D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6943D-AF31-35E1-B52D-35B77C7FA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85839-247B-534A-BD25-CCD76748D5B6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CFD71-54C2-F73A-B5F1-D3E28E6C4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FAEA4-2B86-4B71-CDCD-86B64A42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602DD-F3B9-5342-BDAB-B6D6B375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8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588341-310C-4847-FFB9-099820350A93}"/>
              </a:ext>
            </a:extLst>
          </p:cNvPr>
          <p:cNvSpPr txBox="1"/>
          <p:nvPr/>
        </p:nvSpPr>
        <p:spPr>
          <a:xfrm rot="16200000">
            <a:off x="50664" y="1075265"/>
            <a:ext cx="677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t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E4103-9113-8A5E-6E11-233EA91B7468}"/>
              </a:ext>
            </a:extLst>
          </p:cNvPr>
          <p:cNvSpPr txBox="1"/>
          <p:nvPr/>
        </p:nvSpPr>
        <p:spPr>
          <a:xfrm rot="16200000">
            <a:off x="19337" y="2465684"/>
            <a:ext cx="677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t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B92AC-139F-6D77-F7F9-5072A6DB811D}"/>
              </a:ext>
            </a:extLst>
          </p:cNvPr>
          <p:cNvSpPr txBox="1"/>
          <p:nvPr/>
        </p:nvSpPr>
        <p:spPr>
          <a:xfrm>
            <a:off x="305418" y="3175714"/>
            <a:ext cx="552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Retrospective clade assignment for evaluation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284EE-5B0E-BB8A-2CD7-6BF22E5F2C35}"/>
              </a:ext>
            </a:extLst>
          </p:cNvPr>
          <p:cNvSpPr txBox="1"/>
          <p:nvPr/>
        </p:nvSpPr>
        <p:spPr>
          <a:xfrm>
            <a:off x="779929" y="282388"/>
            <a:ext cx="205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Set of sequences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53842-81A1-BD04-07D6-2BA957792967}"/>
              </a:ext>
            </a:extLst>
          </p:cNvPr>
          <p:cNvSpPr txBox="1"/>
          <p:nvPr/>
        </p:nvSpPr>
        <p:spPr>
          <a:xfrm>
            <a:off x="2983005" y="282388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Clade assignment model (reference tree)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5156D-CFA8-B432-8EBD-2B8179C80791}"/>
              </a:ext>
            </a:extLst>
          </p:cNvPr>
          <p:cNvSpPr txBox="1"/>
          <p:nvPr/>
        </p:nvSpPr>
        <p:spPr>
          <a:xfrm>
            <a:off x="5186081" y="295833"/>
            <a:ext cx="205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Clade designation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84A52-CE16-2A10-BB81-C97C51C3A4DD}"/>
              </a:ext>
            </a:extLst>
          </p:cNvPr>
          <p:cNvSpPr txBox="1"/>
          <p:nvPr/>
        </p:nvSpPr>
        <p:spPr>
          <a:xfrm>
            <a:off x="7797351" y="318733"/>
            <a:ext cx="2301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Estimated clade proportions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DB8549-3079-3C81-A413-7E9E799A09BD}"/>
              </a:ext>
            </a:extLst>
          </p:cNvPr>
          <p:cNvSpPr txBox="1"/>
          <p:nvPr/>
        </p:nvSpPr>
        <p:spPr>
          <a:xfrm rot="19233967">
            <a:off x="984490" y="913343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DF8AD-4F7F-8298-9620-6860EF73D933}"/>
              </a:ext>
            </a:extLst>
          </p:cNvPr>
          <p:cNvSpPr txBox="1"/>
          <p:nvPr/>
        </p:nvSpPr>
        <p:spPr>
          <a:xfrm rot="19371636">
            <a:off x="1167697" y="1338353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14" name="Graphic 13" descr="Tag outline">
            <a:extLst>
              <a:ext uri="{FF2B5EF4-FFF2-40B4-BE49-F238E27FC236}">
                <a16:creationId xmlns:a16="http://schemas.microsoft.com/office/drawing/2014/main" id="{565512C9-A5F4-C114-21D6-B437C9462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6662893" y="909097"/>
            <a:ext cx="434846" cy="446275"/>
          </a:xfrm>
          <a:prstGeom prst="rect">
            <a:avLst/>
          </a:prstGeom>
        </p:spPr>
      </p:pic>
      <p:pic>
        <p:nvPicPr>
          <p:cNvPr id="18" name="Graphic 17" descr="DNA outline">
            <a:extLst>
              <a:ext uri="{FF2B5EF4-FFF2-40B4-BE49-F238E27FC236}">
                <a16:creationId xmlns:a16="http://schemas.microsoft.com/office/drawing/2014/main" id="{654FD3A1-4CC1-D6D0-66C1-CA0BEC9DF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1229850" y="529940"/>
            <a:ext cx="302212" cy="914400"/>
          </a:xfrm>
          <a:prstGeom prst="rect">
            <a:avLst/>
          </a:prstGeom>
        </p:spPr>
      </p:pic>
      <p:pic>
        <p:nvPicPr>
          <p:cNvPr id="19" name="Graphic 18" descr="DNA outline">
            <a:extLst>
              <a:ext uri="{FF2B5EF4-FFF2-40B4-BE49-F238E27FC236}">
                <a16:creationId xmlns:a16="http://schemas.microsoft.com/office/drawing/2014/main" id="{75230894-A82E-1FD8-3EE2-B7A6E61033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1426981" y="916303"/>
            <a:ext cx="302212" cy="914400"/>
          </a:xfrm>
          <a:prstGeom prst="rect">
            <a:avLst/>
          </a:prstGeom>
        </p:spPr>
      </p:pic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747B23F9-6BD8-342C-D9D1-0F043F855275}"/>
              </a:ext>
            </a:extLst>
          </p:cNvPr>
          <p:cNvCxnSpPr/>
          <p:nvPr/>
        </p:nvCxnSpPr>
        <p:spPr>
          <a:xfrm>
            <a:off x="2983005" y="1178899"/>
            <a:ext cx="786107" cy="31089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4969CB6-34FF-BD89-A506-A54BAA4CA5BB}"/>
              </a:ext>
            </a:extLst>
          </p:cNvPr>
          <p:cNvCxnSpPr/>
          <p:nvPr/>
        </p:nvCxnSpPr>
        <p:spPr>
          <a:xfrm>
            <a:off x="3769112" y="1373503"/>
            <a:ext cx="0" cy="299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9FFB3E-9C9B-08E0-78AB-3F71073182F5}"/>
              </a:ext>
            </a:extLst>
          </p:cNvPr>
          <p:cNvCxnSpPr>
            <a:cxnSpLocks/>
          </p:cNvCxnSpPr>
          <p:nvPr/>
        </p:nvCxnSpPr>
        <p:spPr>
          <a:xfrm flipH="1">
            <a:off x="3769112" y="1672683"/>
            <a:ext cx="563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3C0F026-AA32-F438-C478-CE5377AB4E33}"/>
              </a:ext>
            </a:extLst>
          </p:cNvPr>
          <p:cNvCxnSpPr>
            <a:cxnSpLocks/>
          </p:cNvCxnSpPr>
          <p:nvPr/>
        </p:nvCxnSpPr>
        <p:spPr>
          <a:xfrm flipH="1">
            <a:off x="3769112" y="1373503"/>
            <a:ext cx="256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8A136A-F861-19B9-0C91-0149F8C6485E}"/>
              </a:ext>
            </a:extLst>
          </p:cNvPr>
          <p:cNvCxnSpPr>
            <a:cxnSpLocks/>
          </p:cNvCxnSpPr>
          <p:nvPr/>
        </p:nvCxnSpPr>
        <p:spPr>
          <a:xfrm>
            <a:off x="3376058" y="961475"/>
            <a:ext cx="0" cy="22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FF496D-C238-8D7E-EE85-8E26C0AB949E}"/>
              </a:ext>
            </a:extLst>
          </p:cNvPr>
          <p:cNvCxnSpPr>
            <a:cxnSpLocks/>
          </p:cNvCxnSpPr>
          <p:nvPr/>
        </p:nvCxnSpPr>
        <p:spPr>
          <a:xfrm>
            <a:off x="3376058" y="961475"/>
            <a:ext cx="9060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942CEC7-F9A7-83FF-E05E-68665E0144C9}"/>
              </a:ext>
            </a:extLst>
          </p:cNvPr>
          <p:cNvCxnSpPr>
            <a:cxnSpLocks/>
          </p:cNvCxnSpPr>
          <p:nvPr/>
        </p:nvCxnSpPr>
        <p:spPr>
          <a:xfrm>
            <a:off x="4025590" y="1259931"/>
            <a:ext cx="0" cy="216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2A87EB-08C0-FD8C-0130-82FC691FE05A}"/>
              </a:ext>
            </a:extLst>
          </p:cNvPr>
          <p:cNvCxnSpPr>
            <a:cxnSpLocks/>
          </p:cNvCxnSpPr>
          <p:nvPr/>
        </p:nvCxnSpPr>
        <p:spPr>
          <a:xfrm flipH="1">
            <a:off x="4025590" y="1259931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8028C76-0F8A-7D3A-4959-9392D40947C9}"/>
              </a:ext>
            </a:extLst>
          </p:cNvPr>
          <p:cNvCxnSpPr>
            <a:cxnSpLocks/>
          </p:cNvCxnSpPr>
          <p:nvPr/>
        </p:nvCxnSpPr>
        <p:spPr>
          <a:xfrm flipH="1">
            <a:off x="4023731" y="1476852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BE66AFE2-3C3E-4D57-AE48-668C706179A1}"/>
              </a:ext>
            </a:extLst>
          </p:cNvPr>
          <p:cNvSpPr/>
          <p:nvPr/>
        </p:nvSpPr>
        <p:spPr>
          <a:xfrm>
            <a:off x="4138624" y="823621"/>
            <a:ext cx="434843" cy="237195"/>
          </a:xfrm>
          <a:prstGeom prst="ellipse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3E36FC8-CADB-39D1-509D-52B912D9F8F1}"/>
              </a:ext>
            </a:extLst>
          </p:cNvPr>
          <p:cNvSpPr/>
          <p:nvPr/>
        </p:nvSpPr>
        <p:spPr>
          <a:xfrm>
            <a:off x="4228169" y="1164607"/>
            <a:ext cx="355663" cy="369323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316D25D-48C2-06F7-E827-9EC4D2370EAF}"/>
              </a:ext>
            </a:extLst>
          </p:cNvPr>
          <p:cNvSpPr/>
          <p:nvPr/>
        </p:nvSpPr>
        <p:spPr>
          <a:xfrm>
            <a:off x="4228169" y="1587649"/>
            <a:ext cx="405837" cy="197875"/>
          </a:xfrm>
          <a:prstGeom prst="ellipse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EA710B-3597-79D8-4CA9-111172CEFB8A}"/>
              </a:ext>
            </a:extLst>
          </p:cNvPr>
          <p:cNvSpPr txBox="1"/>
          <p:nvPr/>
        </p:nvSpPr>
        <p:spPr>
          <a:xfrm rot="19233967">
            <a:off x="5669518" y="856882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00F053-2329-6F3B-33F9-D27F6478D28B}"/>
              </a:ext>
            </a:extLst>
          </p:cNvPr>
          <p:cNvSpPr txBox="1"/>
          <p:nvPr/>
        </p:nvSpPr>
        <p:spPr>
          <a:xfrm rot="19371636">
            <a:off x="5852725" y="1281892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69" name="Graphic 68" descr="DNA outline">
            <a:extLst>
              <a:ext uri="{FF2B5EF4-FFF2-40B4-BE49-F238E27FC236}">
                <a16:creationId xmlns:a16="http://schemas.microsoft.com/office/drawing/2014/main" id="{CC6E532E-8F32-D79F-7B5C-82F7B99E60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967273">
            <a:off x="5914878" y="473479"/>
            <a:ext cx="302212" cy="914400"/>
          </a:xfrm>
          <a:prstGeom prst="rect">
            <a:avLst/>
          </a:prstGeom>
        </p:spPr>
      </p:pic>
      <p:pic>
        <p:nvPicPr>
          <p:cNvPr id="70" name="Graphic 69" descr="DNA outline">
            <a:extLst>
              <a:ext uri="{FF2B5EF4-FFF2-40B4-BE49-F238E27FC236}">
                <a16:creationId xmlns:a16="http://schemas.microsoft.com/office/drawing/2014/main" id="{CDA35340-D453-D33D-57A8-0595E0DAAC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967273">
            <a:off x="6112009" y="859842"/>
            <a:ext cx="302212" cy="914400"/>
          </a:xfrm>
          <a:prstGeom prst="rect">
            <a:avLst/>
          </a:prstGeom>
        </p:spPr>
      </p:pic>
      <p:pic>
        <p:nvPicPr>
          <p:cNvPr id="71" name="Graphic 70" descr="Tag outline">
            <a:extLst>
              <a:ext uri="{FF2B5EF4-FFF2-40B4-BE49-F238E27FC236}">
                <a16:creationId xmlns:a16="http://schemas.microsoft.com/office/drawing/2014/main" id="{E5861DD8-4876-DACA-242C-7E3ECB859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6456618" y="507552"/>
            <a:ext cx="434846" cy="434846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0455EBB2-E781-F904-BE48-599B61E8140A}"/>
              </a:ext>
            </a:extLst>
          </p:cNvPr>
          <p:cNvSpPr txBox="1"/>
          <p:nvPr/>
        </p:nvSpPr>
        <p:spPr>
          <a:xfrm>
            <a:off x="6570745" y="595732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B0801F-DB08-01EA-9942-172481334325}"/>
              </a:ext>
            </a:extLst>
          </p:cNvPr>
          <p:cNvSpPr txBox="1"/>
          <p:nvPr/>
        </p:nvSpPr>
        <p:spPr>
          <a:xfrm>
            <a:off x="6780259" y="1007958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52E8C6E-AE64-C6A6-A55B-FD7CAD20C222}"/>
              </a:ext>
            </a:extLst>
          </p:cNvPr>
          <p:cNvCxnSpPr/>
          <p:nvPr/>
        </p:nvCxnSpPr>
        <p:spPr>
          <a:xfrm>
            <a:off x="8230419" y="780846"/>
            <a:ext cx="0" cy="8546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F831C77-9058-92F2-B7D7-BFBDC1521DC9}"/>
              </a:ext>
            </a:extLst>
          </p:cNvPr>
          <p:cNvCxnSpPr>
            <a:cxnSpLocks/>
          </p:cNvCxnSpPr>
          <p:nvPr/>
        </p:nvCxnSpPr>
        <p:spPr>
          <a:xfrm flipH="1">
            <a:off x="8230419" y="1624442"/>
            <a:ext cx="15909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Freeform 78">
            <a:extLst>
              <a:ext uri="{FF2B5EF4-FFF2-40B4-BE49-F238E27FC236}">
                <a16:creationId xmlns:a16="http://schemas.microsoft.com/office/drawing/2014/main" id="{B8860C28-0424-2074-7B33-0FA67747E3C4}"/>
              </a:ext>
            </a:extLst>
          </p:cNvPr>
          <p:cNvSpPr/>
          <p:nvPr/>
        </p:nvSpPr>
        <p:spPr>
          <a:xfrm>
            <a:off x="8297326" y="847115"/>
            <a:ext cx="1445196" cy="635896"/>
          </a:xfrm>
          <a:custGeom>
            <a:avLst/>
            <a:gdLst>
              <a:gd name="connsiteX0" fmla="*/ 0 w 1445196"/>
              <a:gd name="connsiteY0" fmla="*/ 0 h 635896"/>
              <a:gd name="connsiteX1" fmla="*/ 542693 w 1445196"/>
              <a:gd name="connsiteY1" fmla="*/ 185854 h 635896"/>
              <a:gd name="connsiteX2" fmla="*/ 683942 w 1445196"/>
              <a:gd name="connsiteY2" fmla="*/ 535258 h 635896"/>
              <a:gd name="connsiteX3" fmla="*/ 1360449 w 1445196"/>
              <a:gd name="connsiteY3" fmla="*/ 624468 h 635896"/>
              <a:gd name="connsiteX4" fmla="*/ 1412488 w 1445196"/>
              <a:gd name="connsiteY4" fmla="*/ 631902 h 63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196" h="635896">
                <a:moveTo>
                  <a:pt x="0" y="0"/>
                </a:moveTo>
                <a:cubicBezTo>
                  <a:pt x="214351" y="48322"/>
                  <a:pt x="428703" y="96644"/>
                  <a:pt x="542693" y="185854"/>
                </a:cubicBezTo>
                <a:cubicBezTo>
                  <a:pt x="656683" y="275064"/>
                  <a:pt x="547649" y="462156"/>
                  <a:pt x="683942" y="535258"/>
                </a:cubicBezTo>
                <a:cubicBezTo>
                  <a:pt x="820235" y="608360"/>
                  <a:pt x="1239025" y="608361"/>
                  <a:pt x="1360449" y="624468"/>
                </a:cubicBezTo>
                <a:cubicBezTo>
                  <a:pt x="1481873" y="640575"/>
                  <a:pt x="1447180" y="636238"/>
                  <a:pt x="1412488" y="631902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E97D5EFA-D002-FA7D-1460-A052728811ED}"/>
              </a:ext>
            </a:extLst>
          </p:cNvPr>
          <p:cNvSpPr/>
          <p:nvPr/>
        </p:nvSpPr>
        <p:spPr>
          <a:xfrm>
            <a:off x="8304760" y="921456"/>
            <a:ext cx="1434791" cy="572430"/>
          </a:xfrm>
          <a:custGeom>
            <a:avLst/>
            <a:gdLst>
              <a:gd name="connsiteX0" fmla="*/ 0 w 1434791"/>
              <a:gd name="connsiteY0" fmla="*/ 572430 h 572430"/>
              <a:gd name="connsiteX1" fmla="*/ 431181 w 1434791"/>
              <a:gd name="connsiteY1" fmla="*/ 483220 h 572430"/>
              <a:gd name="connsiteX2" fmla="*/ 661639 w 1434791"/>
              <a:gd name="connsiteY2" fmla="*/ 81776 h 572430"/>
              <a:gd name="connsiteX3" fmla="*/ 1405054 w 1434791"/>
              <a:gd name="connsiteY3" fmla="*/ 0 h 572430"/>
              <a:gd name="connsiteX4" fmla="*/ 1405054 w 1434791"/>
              <a:gd name="connsiteY4" fmla="*/ 0 h 572430"/>
              <a:gd name="connsiteX5" fmla="*/ 1434791 w 1434791"/>
              <a:gd name="connsiteY5" fmla="*/ 0 h 57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791" h="572430">
                <a:moveTo>
                  <a:pt x="0" y="572430"/>
                </a:moveTo>
                <a:cubicBezTo>
                  <a:pt x="160454" y="568713"/>
                  <a:pt x="320908" y="564996"/>
                  <a:pt x="431181" y="483220"/>
                </a:cubicBezTo>
                <a:cubicBezTo>
                  <a:pt x="541454" y="401444"/>
                  <a:pt x="499327" y="162313"/>
                  <a:pt x="661639" y="81776"/>
                </a:cubicBezTo>
                <a:cubicBezTo>
                  <a:pt x="823951" y="1239"/>
                  <a:pt x="1405054" y="0"/>
                  <a:pt x="1405054" y="0"/>
                </a:cubicBezTo>
                <a:lnTo>
                  <a:pt x="1405054" y="0"/>
                </a:lnTo>
                <a:lnTo>
                  <a:pt x="1434791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675985F1-A711-F163-772F-A528C925D159}"/>
              </a:ext>
            </a:extLst>
          </p:cNvPr>
          <p:cNvSpPr/>
          <p:nvPr/>
        </p:nvSpPr>
        <p:spPr>
          <a:xfrm>
            <a:off x="8297326" y="1501320"/>
            <a:ext cx="1427356" cy="52039"/>
          </a:xfrm>
          <a:custGeom>
            <a:avLst/>
            <a:gdLst>
              <a:gd name="connsiteX0" fmla="*/ 0 w 1427356"/>
              <a:gd name="connsiteY0" fmla="*/ 52039 h 52039"/>
              <a:gd name="connsiteX1" fmla="*/ 520391 w 1427356"/>
              <a:gd name="connsiteY1" fmla="*/ 0 h 52039"/>
              <a:gd name="connsiteX2" fmla="*/ 1427356 w 1427356"/>
              <a:gd name="connsiteY2" fmla="*/ 52039 h 5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7356" h="52039">
                <a:moveTo>
                  <a:pt x="0" y="52039"/>
                </a:moveTo>
                <a:cubicBezTo>
                  <a:pt x="141249" y="26019"/>
                  <a:pt x="282498" y="0"/>
                  <a:pt x="520391" y="0"/>
                </a:cubicBezTo>
                <a:cubicBezTo>
                  <a:pt x="758284" y="0"/>
                  <a:pt x="1092820" y="26019"/>
                  <a:pt x="1427356" y="52039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D2E24B-05AF-03E5-20B5-C5051180293C}"/>
              </a:ext>
            </a:extLst>
          </p:cNvPr>
          <p:cNvSpPr txBox="1"/>
          <p:nvPr/>
        </p:nvSpPr>
        <p:spPr>
          <a:xfrm>
            <a:off x="8906619" y="1661656"/>
            <a:ext cx="512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7087483-8A39-0F51-8AE3-96D9BA978EEE}"/>
              </a:ext>
            </a:extLst>
          </p:cNvPr>
          <p:cNvSpPr txBox="1"/>
          <p:nvPr/>
        </p:nvSpPr>
        <p:spPr>
          <a:xfrm>
            <a:off x="7957095" y="1010039"/>
            <a:ext cx="23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𝜃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96B2257-1621-710E-FDD7-F07BDA934155}"/>
              </a:ext>
            </a:extLst>
          </p:cNvPr>
          <p:cNvCxnSpPr/>
          <p:nvPr/>
        </p:nvCxnSpPr>
        <p:spPr>
          <a:xfrm>
            <a:off x="2593850" y="1164606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B8214EF-60C8-6B1D-03BF-F45C0FD34A88}"/>
              </a:ext>
            </a:extLst>
          </p:cNvPr>
          <p:cNvCxnSpPr/>
          <p:nvPr/>
        </p:nvCxnSpPr>
        <p:spPr>
          <a:xfrm>
            <a:off x="5238406" y="1121601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1653020-5BB3-6C8F-C729-F5ED1A476FA3}"/>
              </a:ext>
            </a:extLst>
          </p:cNvPr>
          <p:cNvCxnSpPr/>
          <p:nvPr/>
        </p:nvCxnSpPr>
        <p:spPr>
          <a:xfrm>
            <a:off x="7725824" y="2304039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3DD42BF5-D8CB-7AD1-FC91-BAC9E4206F52}"/>
              </a:ext>
            </a:extLst>
          </p:cNvPr>
          <p:cNvSpPr txBox="1"/>
          <p:nvPr/>
        </p:nvSpPr>
        <p:spPr>
          <a:xfrm rot="19233967">
            <a:off x="519548" y="2267157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E8998A-5A98-5D85-D6E2-98FB713A9362}"/>
              </a:ext>
            </a:extLst>
          </p:cNvPr>
          <p:cNvSpPr txBox="1"/>
          <p:nvPr/>
        </p:nvSpPr>
        <p:spPr>
          <a:xfrm rot="19371636">
            <a:off x="702755" y="2692167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91" name="Graphic 90" descr="DNA outline">
            <a:extLst>
              <a:ext uri="{FF2B5EF4-FFF2-40B4-BE49-F238E27FC236}">
                <a16:creationId xmlns:a16="http://schemas.microsoft.com/office/drawing/2014/main" id="{0BA2DB33-B937-297D-2877-BF65303668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764908" y="1883754"/>
            <a:ext cx="302212" cy="914400"/>
          </a:xfrm>
          <a:prstGeom prst="rect">
            <a:avLst/>
          </a:prstGeom>
        </p:spPr>
      </p:pic>
      <p:pic>
        <p:nvPicPr>
          <p:cNvPr id="92" name="Graphic 91" descr="DNA outline">
            <a:extLst>
              <a:ext uri="{FF2B5EF4-FFF2-40B4-BE49-F238E27FC236}">
                <a16:creationId xmlns:a16="http://schemas.microsoft.com/office/drawing/2014/main" id="{E4AA6157-29B9-1656-B249-E3D93D35E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962039" y="2270117"/>
            <a:ext cx="302212" cy="9144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00B18AC7-D5F4-659C-577C-ED14BECA7470}"/>
              </a:ext>
            </a:extLst>
          </p:cNvPr>
          <p:cNvSpPr txBox="1"/>
          <p:nvPr/>
        </p:nvSpPr>
        <p:spPr>
          <a:xfrm rot="19233967">
            <a:off x="1504789" y="2038264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3CE87FB-D91B-694A-886E-5E8A8D54245B}"/>
              </a:ext>
            </a:extLst>
          </p:cNvPr>
          <p:cNvSpPr txBox="1"/>
          <p:nvPr/>
        </p:nvSpPr>
        <p:spPr>
          <a:xfrm rot="19107639">
            <a:off x="1706864" y="2385256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AGCTACGTT</a:t>
            </a:r>
          </a:p>
        </p:txBody>
      </p:sp>
      <p:pic>
        <p:nvPicPr>
          <p:cNvPr id="95" name="Graphic 94" descr="DNA outline">
            <a:extLst>
              <a:ext uri="{FF2B5EF4-FFF2-40B4-BE49-F238E27FC236}">
                <a16:creationId xmlns:a16="http://schemas.microsoft.com/office/drawing/2014/main" id="{0840AD86-D56D-57E0-8F2F-999D394C9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1768323" y="1617347"/>
            <a:ext cx="302212" cy="914400"/>
          </a:xfrm>
          <a:prstGeom prst="rect">
            <a:avLst/>
          </a:prstGeom>
        </p:spPr>
      </p:pic>
      <p:pic>
        <p:nvPicPr>
          <p:cNvPr id="96" name="Graphic 95" descr="DNA outline">
            <a:extLst>
              <a:ext uri="{FF2B5EF4-FFF2-40B4-BE49-F238E27FC236}">
                <a16:creationId xmlns:a16="http://schemas.microsoft.com/office/drawing/2014/main" id="{16141F6F-81DC-244A-F938-E73E3CE25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1961266" y="1978468"/>
            <a:ext cx="302212" cy="914400"/>
          </a:xfrm>
          <a:prstGeom prst="rect">
            <a:avLst/>
          </a:prstGeom>
        </p:spPr>
      </p:pic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A7EEE853-B939-1C79-A800-A90C736954A9}"/>
              </a:ext>
            </a:extLst>
          </p:cNvPr>
          <p:cNvCxnSpPr/>
          <p:nvPr/>
        </p:nvCxnSpPr>
        <p:spPr>
          <a:xfrm>
            <a:off x="3066349" y="2240254"/>
            <a:ext cx="786107" cy="31089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D35CC0D-EF2D-5FA3-9C29-DE6E6C6CC204}"/>
              </a:ext>
            </a:extLst>
          </p:cNvPr>
          <p:cNvCxnSpPr/>
          <p:nvPr/>
        </p:nvCxnSpPr>
        <p:spPr>
          <a:xfrm>
            <a:off x="3852456" y="2434858"/>
            <a:ext cx="0" cy="299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29C92BA-4EBE-C01F-9289-CD08EB9EDE5E}"/>
              </a:ext>
            </a:extLst>
          </p:cNvPr>
          <p:cNvCxnSpPr>
            <a:cxnSpLocks/>
          </p:cNvCxnSpPr>
          <p:nvPr/>
        </p:nvCxnSpPr>
        <p:spPr>
          <a:xfrm flipH="1">
            <a:off x="3852456" y="2734038"/>
            <a:ext cx="781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501482A-1996-33FC-9C88-1499F36FCE28}"/>
              </a:ext>
            </a:extLst>
          </p:cNvPr>
          <p:cNvCxnSpPr>
            <a:cxnSpLocks/>
          </p:cNvCxnSpPr>
          <p:nvPr/>
        </p:nvCxnSpPr>
        <p:spPr>
          <a:xfrm flipH="1">
            <a:off x="3852456" y="2434858"/>
            <a:ext cx="256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65452CF-EB02-AE99-6031-E95EAA8737D0}"/>
              </a:ext>
            </a:extLst>
          </p:cNvPr>
          <p:cNvCxnSpPr>
            <a:cxnSpLocks/>
          </p:cNvCxnSpPr>
          <p:nvPr/>
        </p:nvCxnSpPr>
        <p:spPr>
          <a:xfrm>
            <a:off x="3459402" y="2022830"/>
            <a:ext cx="0" cy="22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236A421-831D-1224-D7D3-A85225301659}"/>
              </a:ext>
            </a:extLst>
          </p:cNvPr>
          <p:cNvCxnSpPr>
            <a:cxnSpLocks/>
          </p:cNvCxnSpPr>
          <p:nvPr/>
        </p:nvCxnSpPr>
        <p:spPr>
          <a:xfrm>
            <a:off x="3459402" y="2022830"/>
            <a:ext cx="7185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08CA187-2959-66CE-3290-DFC79E693307}"/>
              </a:ext>
            </a:extLst>
          </p:cNvPr>
          <p:cNvCxnSpPr>
            <a:cxnSpLocks/>
          </p:cNvCxnSpPr>
          <p:nvPr/>
        </p:nvCxnSpPr>
        <p:spPr>
          <a:xfrm>
            <a:off x="4108934" y="2321286"/>
            <a:ext cx="0" cy="216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5DC6BA0-D25A-1DCF-5C43-37BDC315392D}"/>
              </a:ext>
            </a:extLst>
          </p:cNvPr>
          <p:cNvCxnSpPr>
            <a:cxnSpLocks/>
          </p:cNvCxnSpPr>
          <p:nvPr/>
        </p:nvCxnSpPr>
        <p:spPr>
          <a:xfrm flipH="1">
            <a:off x="4108934" y="2321286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5D1057F-0167-D490-BFAD-738ADE509955}"/>
              </a:ext>
            </a:extLst>
          </p:cNvPr>
          <p:cNvCxnSpPr>
            <a:cxnSpLocks/>
          </p:cNvCxnSpPr>
          <p:nvPr/>
        </p:nvCxnSpPr>
        <p:spPr>
          <a:xfrm flipH="1">
            <a:off x="4107075" y="2538207"/>
            <a:ext cx="5269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81DC5546-ADF6-C34A-D4D3-0CB9EDCBF263}"/>
              </a:ext>
            </a:extLst>
          </p:cNvPr>
          <p:cNvSpPr/>
          <p:nvPr/>
        </p:nvSpPr>
        <p:spPr>
          <a:xfrm>
            <a:off x="4708160" y="2045572"/>
            <a:ext cx="434843" cy="237195"/>
          </a:xfrm>
          <a:prstGeom prst="ellipse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6243BC2-FA7C-3391-E6C7-0FF091B20C64}"/>
              </a:ext>
            </a:extLst>
          </p:cNvPr>
          <p:cNvSpPr/>
          <p:nvPr/>
        </p:nvSpPr>
        <p:spPr>
          <a:xfrm>
            <a:off x="4634006" y="2475653"/>
            <a:ext cx="240636" cy="192571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2C18B5C-0753-E839-E96C-F6497776E5C7}"/>
              </a:ext>
            </a:extLst>
          </p:cNvPr>
          <p:cNvSpPr/>
          <p:nvPr/>
        </p:nvSpPr>
        <p:spPr>
          <a:xfrm>
            <a:off x="4546734" y="2679730"/>
            <a:ext cx="405837" cy="197875"/>
          </a:xfrm>
          <a:prstGeom prst="ellipse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3CE7F9A-3E99-D478-8E27-FBA5BA38FDEF}"/>
              </a:ext>
            </a:extLst>
          </p:cNvPr>
          <p:cNvCxnSpPr>
            <a:cxnSpLocks/>
          </p:cNvCxnSpPr>
          <p:nvPr/>
        </p:nvCxnSpPr>
        <p:spPr>
          <a:xfrm>
            <a:off x="4177989" y="1958466"/>
            <a:ext cx="0" cy="2135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97C5427-28CA-6D44-D79B-CCFD9D625AD1}"/>
              </a:ext>
            </a:extLst>
          </p:cNvPr>
          <p:cNvCxnSpPr>
            <a:cxnSpLocks/>
          </p:cNvCxnSpPr>
          <p:nvPr/>
        </p:nvCxnSpPr>
        <p:spPr>
          <a:xfrm flipH="1">
            <a:off x="4177989" y="2170981"/>
            <a:ext cx="661000" cy="88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F16967C-50D6-8220-7DAA-23C378EB54D4}"/>
              </a:ext>
            </a:extLst>
          </p:cNvPr>
          <p:cNvCxnSpPr>
            <a:cxnSpLocks/>
          </p:cNvCxnSpPr>
          <p:nvPr/>
        </p:nvCxnSpPr>
        <p:spPr>
          <a:xfrm flipH="1">
            <a:off x="4177989" y="1958466"/>
            <a:ext cx="2530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ABEECF6-DE70-E568-5DA0-3C7B4671912B}"/>
              </a:ext>
            </a:extLst>
          </p:cNvPr>
          <p:cNvCxnSpPr>
            <a:cxnSpLocks/>
          </p:cNvCxnSpPr>
          <p:nvPr/>
        </p:nvCxnSpPr>
        <p:spPr>
          <a:xfrm flipV="1">
            <a:off x="4445664" y="1877164"/>
            <a:ext cx="0" cy="1733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85CA5D8-21F9-6A04-C7C0-BD249E1BE7FE}"/>
              </a:ext>
            </a:extLst>
          </p:cNvPr>
          <p:cNvCxnSpPr>
            <a:cxnSpLocks/>
          </p:cNvCxnSpPr>
          <p:nvPr/>
        </p:nvCxnSpPr>
        <p:spPr>
          <a:xfrm flipH="1">
            <a:off x="4449090" y="1877164"/>
            <a:ext cx="2682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43D77B8-C4E3-5AED-0EAC-E821F9BFFE1F}"/>
              </a:ext>
            </a:extLst>
          </p:cNvPr>
          <p:cNvCxnSpPr>
            <a:cxnSpLocks/>
          </p:cNvCxnSpPr>
          <p:nvPr/>
        </p:nvCxnSpPr>
        <p:spPr>
          <a:xfrm flipH="1">
            <a:off x="4449090" y="2050515"/>
            <a:ext cx="2682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Oval 124">
            <a:extLst>
              <a:ext uri="{FF2B5EF4-FFF2-40B4-BE49-F238E27FC236}">
                <a16:creationId xmlns:a16="http://schemas.microsoft.com/office/drawing/2014/main" id="{A1F1D049-CB01-F6DC-FE77-222B52107765}"/>
              </a:ext>
            </a:extLst>
          </p:cNvPr>
          <p:cNvSpPr/>
          <p:nvPr/>
        </p:nvSpPr>
        <p:spPr>
          <a:xfrm>
            <a:off x="4609703" y="1818085"/>
            <a:ext cx="279900" cy="304566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AE651FE-681B-0C4B-FFC1-60CEFF1DBAF3}"/>
              </a:ext>
            </a:extLst>
          </p:cNvPr>
          <p:cNvCxnSpPr>
            <a:cxnSpLocks/>
          </p:cNvCxnSpPr>
          <p:nvPr/>
        </p:nvCxnSpPr>
        <p:spPr>
          <a:xfrm flipV="1">
            <a:off x="4434557" y="2243888"/>
            <a:ext cx="0" cy="1733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3AC6042-2114-E093-B348-6437935400BA}"/>
              </a:ext>
            </a:extLst>
          </p:cNvPr>
          <p:cNvCxnSpPr>
            <a:cxnSpLocks/>
          </p:cNvCxnSpPr>
          <p:nvPr/>
        </p:nvCxnSpPr>
        <p:spPr>
          <a:xfrm flipH="1">
            <a:off x="4437983" y="2243888"/>
            <a:ext cx="2682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BDAF1E3-2DAA-A1B6-D3F7-A8996CD1EB5C}"/>
              </a:ext>
            </a:extLst>
          </p:cNvPr>
          <p:cNvCxnSpPr>
            <a:cxnSpLocks/>
          </p:cNvCxnSpPr>
          <p:nvPr/>
        </p:nvCxnSpPr>
        <p:spPr>
          <a:xfrm flipH="1">
            <a:off x="4437983" y="2417239"/>
            <a:ext cx="2682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B124FFC-4335-EE6F-7493-FB37023E6769}"/>
              </a:ext>
            </a:extLst>
          </p:cNvPr>
          <p:cNvSpPr/>
          <p:nvPr/>
        </p:nvSpPr>
        <p:spPr>
          <a:xfrm>
            <a:off x="4620230" y="2187288"/>
            <a:ext cx="279900" cy="304566"/>
          </a:xfrm>
          <a:prstGeom prst="ellipse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4FB9C86-A093-FED3-07BA-4F1F3B13EB70}"/>
              </a:ext>
            </a:extLst>
          </p:cNvPr>
          <p:cNvCxnSpPr/>
          <p:nvPr/>
        </p:nvCxnSpPr>
        <p:spPr>
          <a:xfrm>
            <a:off x="2599700" y="2251707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E751C8F9-E20D-97CC-D9BD-D1D98FFD570A}"/>
              </a:ext>
            </a:extLst>
          </p:cNvPr>
          <p:cNvCxnSpPr/>
          <p:nvPr/>
        </p:nvCxnSpPr>
        <p:spPr>
          <a:xfrm>
            <a:off x="5241891" y="2264501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95C47EE4-9B48-45C9-B129-A3110C9592D0}"/>
              </a:ext>
            </a:extLst>
          </p:cNvPr>
          <p:cNvSpPr txBox="1"/>
          <p:nvPr/>
        </p:nvSpPr>
        <p:spPr>
          <a:xfrm rot="19233967">
            <a:off x="5314977" y="2287607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D8DA759-1BDC-8F0E-EFE2-209F7B6490D7}"/>
              </a:ext>
            </a:extLst>
          </p:cNvPr>
          <p:cNvSpPr txBox="1"/>
          <p:nvPr/>
        </p:nvSpPr>
        <p:spPr>
          <a:xfrm rot="19371636">
            <a:off x="5498184" y="2712617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136" name="Graphic 135" descr="DNA outline">
            <a:extLst>
              <a:ext uri="{FF2B5EF4-FFF2-40B4-BE49-F238E27FC236}">
                <a16:creationId xmlns:a16="http://schemas.microsoft.com/office/drawing/2014/main" id="{1EB59CF3-4E36-07C2-13A8-899A305E4E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967273">
            <a:off x="5560337" y="1904204"/>
            <a:ext cx="302212" cy="914400"/>
          </a:xfrm>
          <a:prstGeom prst="rect">
            <a:avLst/>
          </a:prstGeom>
        </p:spPr>
      </p:pic>
      <p:pic>
        <p:nvPicPr>
          <p:cNvPr id="137" name="Graphic 136" descr="DNA outline">
            <a:extLst>
              <a:ext uri="{FF2B5EF4-FFF2-40B4-BE49-F238E27FC236}">
                <a16:creationId xmlns:a16="http://schemas.microsoft.com/office/drawing/2014/main" id="{2CB07D5A-F469-6F12-F438-7E66A69B58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967273">
            <a:off x="5757468" y="2290567"/>
            <a:ext cx="302212" cy="914400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F158A43D-BDDB-CE44-FAFE-4A9F1873A82B}"/>
              </a:ext>
            </a:extLst>
          </p:cNvPr>
          <p:cNvSpPr txBox="1"/>
          <p:nvPr/>
        </p:nvSpPr>
        <p:spPr>
          <a:xfrm rot="19233967">
            <a:off x="6304951" y="2063040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73FDEC1-F352-C678-C430-FD9BE5B31455}"/>
              </a:ext>
            </a:extLst>
          </p:cNvPr>
          <p:cNvSpPr txBox="1"/>
          <p:nvPr/>
        </p:nvSpPr>
        <p:spPr>
          <a:xfrm rot="19128486">
            <a:off x="6466141" y="2578575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AGCTACGTT</a:t>
            </a:r>
          </a:p>
        </p:txBody>
      </p:sp>
      <p:pic>
        <p:nvPicPr>
          <p:cNvPr id="140" name="Graphic 139" descr="DNA outline">
            <a:extLst>
              <a:ext uri="{FF2B5EF4-FFF2-40B4-BE49-F238E27FC236}">
                <a16:creationId xmlns:a16="http://schemas.microsoft.com/office/drawing/2014/main" id="{01DC93DF-818C-5CC3-DA67-776C117DAE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967273">
            <a:off x="6553672" y="1640889"/>
            <a:ext cx="302212" cy="914400"/>
          </a:xfrm>
          <a:prstGeom prst="rect">
            <a:avLst/>
          </a:prstGeom>
        </p:spPr>
      </p:pic>
      <p:pic>
        <p:nvPicPr>
          <p:cNvPr id="141" name="Graphic 140" descr="DNA outline">
            <a:extLst>
              <a:ext uri="{FF2B5EF4-FFF2-40B4-BE49-F238E27FC236}">
                <a16:creationId xmlns:a16="http://schemas.microsoft.com/office/drawing/2014/main" id="{3086E561-0665-E5F3-E1B4-C506F696AE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967273">
            <a:off x="6737887" y="2136976"/>
            <a:ext cx="302212" cy="914400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EFFEEC3B-085D-13D4-4216-C549D31848CB}"/>
              </a:ext>
            </a:extLst>
          </p:cNvPr>
          <p:cNvSpPr txBox="1"/>
          <p:nvPr/>
        </p:nvSpPr>
        <p:spPr>
          <a:xfrm>
            <a:off x="6087247" y="1973607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</a:p>
        </p:txBody>
      </p:sp>
      <p:pic>
        <p:nvPicPr>
          <p:cNvPr id="145" name="Graphic 144" descr="Tag outline">
            <a:extLst>
              <a:ext uri="{FF2B5EF4-FFF2-40B4-BE49-F238E27FC236}">
                <a16:creationId xmlns:a16="http://schemas.microsoft.com/office/drawing/2014/main" id="{8914BDD3-20E9-C6ED-98BC-0E11509BF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5980585" y="1877307"/>
            <a:ext cx="434846" cy="434846"/>
          </a:xfrm>
          <a:prstGeom prst="rect">
            <a:avLst/>
          </a:prstGeom>
        </p:spPr>
      </p:pic>
      <p:pic>
        <p:nvPicPr>
          <p:cNvPr id="146" name="Graphic 145" descr="Tag outline">
            <a:extLst>
              <a:ext uri="{FF2B5EF4-FFF2-40B4-BE49-F238E27FC236}">
                <a16:creationId xmlns:a16="http://schemas.microsoft.com/office/drawing/2014/main" id="{1705131F-F572-CE63-4D7F-7B6CD7D91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6260268" y="2376752"/>
            <a:ext cx="434846" cy="434846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B089DFAD-727D-DC93-F13D-E26A4131B400}"/>
              </a:ext>
            </a:extLst>
          </p:cNvPr>
          <p:cNvSpPr txBox="1"/>
          <p:nvPr/>
        </p:nvSpPr>
        <p:spPr>
          <a:xfrm>
            <a:off x="6363658" y="2475155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pic>
        <p:nvPicPr>
          <p:cNvPr id="148" name="Graphic 147" descr="Tag outline">
            <a:extLst>
              <a:ext uri="{FF2B5EF4-FFF2-40B4-BE49-F238E27FC236}">
                <a16:creationId xmlns:a16="http://schemas.microsoft.com/office/drawing/2014/main" id="{6C42BFDF-B672-7B07-4654-DE03CAE91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7065502" y="1664855"/>
            <a:ext cx="434846" cy="446275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B1EA6116-1C72-4CBC-0C44-840E629048AC}"/>
              </a:ext>
            </a:extLst>
          </p:cNvPr>
          <p:cNvSpPr txBox="1"/>
          <p:nvPr/>
        </p:nvSpPr>
        <p:spPr>
          <a:xfrm flipH="1">
            <a:off x="7175939" y="1777717"/>
            <a:ext cx="255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</a:p>
        </p:txBody>
      </p:sp>
      <p:pic>
        <p:nvPicPr>
          <p:cNvPr id="150" name="Graphic 149" descr="Tag outline">
            <a:extLst>
              <a:ext uri="{FF2B5EF4-FFF2-40B4-BE49-F238E27FC236}">
                <a16:creationId xmlns:a16="http://schemas.microsoft.com/office/drawing/2014/main" id="{D13D408E-2F57-90E7-FC93-DCE28693F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7193772" y="2150677"/>
            <a:ext cx="434846" cy="446275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0DDCA826-F894-ADB8-B24B-C540DEA3B7BA}"/>
              </a:ext>
            </a:extLst>
          </p:cNvPr>
          <p:cNvSpPr txBox="1"/>
          <p:nvPr/>
        </p:nvSpPr>
        <p:spPr>
          <a:xfrm>
            <a:off x="7300803" y="2259210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33C3701-3F26-AD7A-EE2E-20DC08518427}"/>
              </a:ext>
            </a:extLst>
          </p:cNvPr>
          <p:cNvSpPr txBox="1"/>
          <p:nvPr/>
        </p:nvSpPr>
        <p:spPr>
          <a:xfrm>
            <a:off x="857573" y="5169491"/>
            <a:ext cx="173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Sequences from t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ABC017A-B0E5-C5CF-8487-97309B1A62C0}"/>
              </a:ext>
            </a:extLst>
          </p:cNvPr>
          <p:cNvSpPr txBox="1"/>
          <p:nvPr/>
        </p:nvSpPr>
        <p:spPr>
          <a:xfrm rot="19233967">
            <a:off x="526930" y="4098036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10CF612-3F7F-DE76-55B2-F46EF9BD2C0F}"/>
              </a:ext>
            </a:extLst>
          </p:cNvPr>
          <p:cNvSpPr txBox="1"/>
          <p:nvPr/>
        </p:nvSpPr>
        <p:spPr>
          <a:xfrm rot="19371636">
            <a:off x="710137" y="4523046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155" name="Graphic 154" descr="DNA outline">
            <a:extLst>
              <a:ext uri="{FF2B5EF4-FFF2-40B4-BE49-F238E27FC236}">
                <a16:creationId xmlns:a16="http://schemas.microsoft.com/office/drawing/2014/main" id="{B0ED9215-3301-4815-BD20-72DA184F4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772290" y="3714633"/>
            <a:ext cx="302212" cy="914400"/>
          </a:xfrm>
          <a:prstGeom prst="rect">
            <a:avLst/>
          </a:prstGeom>
        </p:spPr>
      </p:pic>
      <p:pic>
        <p:nvPicPr>
          <p:cNvPr id="156" name="Graphic 155" descr="DNA outline">
            <a:extLst>
              <a:ext uri="{FF2B5EF4-FFF2-40B4-BE49-F238E27FC236}">
                <a16:creationId xmlns:a16="http://schemas.microsoft.com/office/drawing/2014/main" id="{283E3256-827B-2641-B7B6-1859BC74D1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969421" y="4100996"/>
            <a:ext cx="302212" cy="914400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0FCF6BD2-B80A-80E2-93EB-C8621D14BB6A}"/>
              </a:ext>
            </a:extLst>
          </p:cNvPr>
          <p:cNvSpPr txBox="1"/>
          <p:nvPr/>
        </p:nvSpPr>
        <p:spPr>
          <a:xfrm rot="19233967">
            <a:off x="1512171" y="3869143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AGCTACGTA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9F1A23F-262A-79DA-DE0B-CA830B445394}"/>
              </a:ext>
            </a:extLst>
          </p:cNvPr>
          <p:cNvSpPr txBox="1"/>
          <p:nvPr/>
        </p:nvSpPr>
        <p:spPr>
          <a:xfrm rot="19107639">
            <a:off x="1714246" y="4216135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AGCTACGTT</a:t>
            </a:r>
          </a:p>
        </p:txBody>
      </p:sp>
      <p:pic>
        <p:nvPicPr>
          <p:cNvPr id="159" name="Graphic 158" descr="DNA outline">
            <a:extLst>
              <a:ext uri="{FF2B5EF4-FFF2-40B4-BE49-F238E27FC236}">
                <a16:creationId xmlns:a16="http://schemas.microsoft.com/office/drawing/2014/main" id="{207F1668-D63C-DC6B-D85A-A69707E65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1775705" y="3448226"/>
            <a:ext cx="302212" cy="914400"/>
          </a:xfrm>
          <a:prstGeom prst="rect">
            <a:avLst/>
          </a:prstGeom>
        </p:spPr>
      </p:pic>
      <p:pic>
        <p:nvPicPr>
          <p:cNvPr id="160" name="Graphic 159" descr="DNA outline">
            <a:extLst>
              <a:ext uri="{FF2B5EF4-FFF2-40B4-BE49-F238E27FC236}">
                <a16:creationId xmlns:a16="http://schemas.microsoft.com/office/drawing/2014/main" id="{8DFF8C7E-9005-63F7-DB1E-C53A587E2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7273">
            <a:off x="1968648" y="3809347"/>
            <a:ext cx="302212" cy="914400"/>
          </a:xfrm>
          <a:prstGeom prst="rect">
            <a:avLst/>
          </a:prstGeom>
        </p:spPr>
      </p:pic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D38E9B0B-DABE-445B-DDD2-4063EB769237}"/>
              </a:ext>
            </a:extLst>
          </p:cNvPr>
          <p:cNvCxnSpPr/>
          <p:nvPr/>
        </p:nvCxnSpPr>
        <p:spPr>
          <a:xfrm>
            <a:off x="3177673" y="4179496"/>
            <a:ext cx="786107" cy="31089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9AF33795-E26E-F7AB-9B8B-E5BFD4444CDC}"/>
              </a:ext>
            </a:extLst>
          </p:cNvPr>
          <p:cNvCxnSpPr/>
          <p:nvPr/>
        </p:nvCxnSpPr>
        <p:spPr>
          <a:xfrm>
            <a:off x="3963780" y="4374100"/>
            <a:ext cx="0" cy="299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81208C4D-537E-0155-B4D1-9A60E62B8BAA}"/>
              </a:ext>
            </a:extLst>
          </p:cNvPr>
          <p:cNvCxnSpPr>
            <a:cxnSpLocks/>
          </p:cNvCxnSpPr>
          <p:nvPr/>
        </p:nvCxnSpPr>
        <p:spPr>
          <a:xfrm flipH="1">
            <a:off x="3963780" y="4673280"/>
            <a:ext cx="563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10766029-09FD-F210-FFF4-1CA751D40638}"/>
              </a:ext>
            </a:extLst>
          </p:cNvPr>
          <p:cNvCxnSpPr>
            <a:cxnSpLocks/>
          </p:cNvCxnSpPr>
          <p:nvPr/>
        </p:nvCxnSpPr>
        <p:spPr>
          <a:xfrm flipH="1">
            <a:off x="3963780" y="4374100"/>
            <a:ext cx="256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89DDB42-B9B3-8D8A-529C-0201114D44F1}"/>
              </a:ext>
            </a:extLst>
          </p:cNvPr>
          <p:cNvCxnSpPr>
            <a:cxnSpLocks/>
          </p:cNvCxnSpPr>
          <p:nvPr/>
        </p:nvCxnSpPr>
        <p:spPr>
          <a:xfrm>
            <a:off x="3570726" y="3962072"/>
            <a:ext cx="0" cy="22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6E3314DB-36DC-6F40-4BE6-E75CB6F90B25}"/>
              </a:ext>
            </a:extLst>
          </p:cNvPr>
          <p:cNvCxnSpPr>
            <a:cxnSpLocks/>
          </p:cNvCxnSpPr>
          <p:nvPr/>
        </p:nvCxnSpPr>
        <p:spPr>
          <a:xfrm>
            <a:off x="3570726" y="3962072"/>
            <a:ext cx="9060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DCBE6B9D-D571-CEF9-1F81-028FC1152ABA}"/>
              </a:ext>
            </a:extLst>
          </p:cNvPr>
          <p:cNvCxnSpPr>
            <a:cxnSpLocks/>
          </p:cNvCxnSpPr>
          <p:nvPr/>
        </p:nvCxnSpPr>
        <p:spPr>
          <a:xfrm>
            <a:off x="4220258" y="4260528"/>
            <a:ext cx="0" cy="216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6751226-7796-EE8A-4EEE-395B568FD630}"/>
              </a:ext>
            </a:extLst>
          </p:cNvPr>
          <p:cNvCxnSpPr>
            <a:cxnSpLocks/>
          </p:cNvCxnSpPr>
          <p:nvPr/>
        </p:nvCxnSpPr>
        <p:spPr>
          <a:xfrm flipH="1">
            <a:off x="4220258" y="4260528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DB0571E-9101-9E5C-97D4-54FE54FEF893}"/>
              </a:ext>
            </a:extLst>
          </p:cNvPr>
          <p:cNvCxnSpPr>
            <a:cxnSpLocks/>
          </p:cNvCxnSpPr>
          <p:nvPr/>
        </p:nvCxnSpPr>
        <p:spPr>
          <a:xfrm flipH="1">
            <a:off x="4218399" y="4477449"/>
            <a:ext cx="308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891555F4-614E-2ECF-CCDA-6D55860D46B5}"/>
              </a:ext>
            </a:extLst>
          </p:cNvPr>
          <p:cNvSpPr/>
          <p:nvPr/>
        </p:nvSpPr>
        <p:spPr>
          <a:xfrm>
            <a:off x="4333292" y="3824218"/>
            <a:ext cx="434843" cy="237195"/>
          </a:xfrm>
          <a:prstGeom prst="ellipse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BFF5281-0434-DBD9-DF51-4B11AA463F6F}"/>
              </a:ext>
            </a:extLst>
          </p:cNvPr>
          <p:cNvSpPr/>
          <p:nvPr/>
        </p:nvSpPr>
        <p:spPr>
          <a:xfrm>
            <a:off x="4422837" y="4165204"/>
            <a:ext cx="355663" cy="369323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A9728C6-8B8A-5E6C-DE98-D43AA23C334E}"/>
              </a:ext>
            </a:extLst>
          </p:cNvPr>
          <p:cNvSpPr/>
          <p:nvPr/>
        </p:nvSpPr>
        <p:spPr>
          <a:xfrm>
            <a:off x="4422837" y="4588246"/>
            <a:ext cx="405837" cy="197875"/>
          </a:xfrm>
          <a:prstGeom prst="ellipse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D0979F3-CE2B-F34D-45DA-DE10048DBC5C}"/>
              </a:ext>
            </a:extLst>
          </p:cNvPr>
          <p:cNvCxnSpPr/>
          <p:nvPr/>
        </p:nvCxnSpPr>
        <p:spPr>
          <a:xfrm>
            <a:off x="2788518" y="4165203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870B9199-710D-24E1-96F0-3A19615A1EF0}"/>
              </a:ext>
            </a:extLst>
          </p:cNvPr>
          <p:cNvSpPr txBox="1"/>
          <p:nvPr/>
        </p:nvSpPr>
        <p:spPr>
          <a:xfrm>
            <a:off x="3112556" y="5165699"/>
            <a:ext cx="1736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Clade assignment model from t</a:t>
            </a:r>
            <a:r>
              <a:rPr lang="en-US" sz="1200" baseline="-25000" dirty="0"/>
              <a:t>1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FA1B88C7-EC5C-3997-A058-37008542829E}"/>
              </a:ext>
            </a:extLst>
          </p:cNvPr>
          <p:cNvCxnSpPr/>
          <p:nvPr/>
        </p:nvCxnSpPr>
        <p:spPr>
          <a:xfrm>
            <a:off x="5201869" y="4169611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F957744B-055F-8F9C-A3C4-0D73D0E5896F}"/>
              </a:ext>
            </a:extLst>
          </p:cNvPr>
          <p:cNvSpPr txBox="1"/>
          <p:nvPr/>
        </p:nvSpPr>
        <p:spPr>
          <a:xfrm rot="19233967">
            <a:off x="5367175" y="4171291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AGCTACCTA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1B6189C-3389-4703-5D9F-77F7E5096B64}"/>
              </a:ext>
            </a:extLst>
          </p:cNvPr>
          <p:cNvSpPr txBox="1"/>
          <p:nvPr/>
        </p:nvSpPr>
        <p:spPr>
          <a:xfrm rot="19371636">
            <a:off x="5550382" y="4596301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AGCTACGAA</a:t>
            </a:r>
          </a:p>
        </p:txBody>
      </p:sp>
      <p:pic>
        <p:nvPicPr>
          <p:cNvPr id="196" name="Graphic 195" descr="DNA outline">
            <a:extLst>
              <a:ext uri="{FF2B5EF4-FFF2-40B4-BE49-F238E27FC236}">
                <a16:creationId xmlns:a16="http://schemas.microsoft.com/office/drawing/2014/main" id="{18E19CDB-CC1F-CB09-3905-28E822E3A5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967273">
            <a:off x="5612535" y="3787888"/>
            <a:ext cx="302212" cy="914400"/>
          </a:xfrm>
          <a:prstGeom prst="rect">
            <a:avLst/>
          </a:prstGeom>
        </p:spPr>
      </p:pic>
      <p:pic>
        <p:nvPicPr>
          <p:cNvPr id="197" name="Graphic 196" descr="DNA outline">
            <a:extLst>
              <a:ext uri="{FF2B5EF4-FFF2-40B4-BE49-F238E27FC236}">
                <a16:creationId xmlns:a16="http://schemas.microsoft.com/office/drawing/2014/main" id="{5624883C-A9F3-DB69-6C3D-6BD2C45BD9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967273">
            <a:off x="5809666" y="4174251"/>
            <a:ext cx="302212" cy="914400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7DC62B2D-3C84-10A6-395E-CE8A28FA9FAD}"/>
              </a:ext>
            </a:extLst>
          </p:cNvPr>
          <p:cNvSpPr txBox="1"/>
          <p:nvPr/>
        </p:nvSpPr>
        <p:spPr>
          <a:xfrm rot="19233967">
            <a:off x="6357149" y="3946724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AGCTACGTA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8D897EA-AF85-C45C-AAF5-EC704D822B6D}"/>
              </a:ext>
            </a:extLst>
          </p:cNvPr>
          <p:cNvSpPr txBox="1"/>
          <p:nvPr/>
        </p:nvSpPr>
        <p:spPr>
          <a:xfrm rot="19128486">
            <a:off x="6518339" y="4462259"/>
            <a:ext cx="1042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AGCTACGTT</a:t>
            </a:r>
          </a:p>
        </p:txBody>
      </p:sp>
      <p:pic>
        <p:nvPicPr>
          <p:cNvPr id="200" name="Graphic 199" descr="DNA outline">
            <a:extLst>
              <a:ext uri="{FF2B5EF4-FFF2-40B4-BE49-F238E27FC236}">
                <a16:creationId xmlns:a16="http://schemas.microsoft.com/office/drawing/2014/main" id="{A17B437A-25C4-D3D5-7BAA-62FC3E7365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967273">
            <a:off x="6605870" y="3524573"/>
            <a:ext cx="302212" cy="914400"/>
          </a:xfrm>
          <a:prstGeom prst="rect">
            <a:avLst/>
          </a:prstGeom>
        </p:spPr>
      </p:pic>
      <p:pic>
        <p:nvPicPr>
          <p:cNvPr id="201" name="Graphic 200" descr="DNA outline">
            <a:extLst>
              <a:ext uri="{FF2B5EF4-FFF2-40B4-BE49-F238E27FC236}">
                <a16:creationId xmlns:a16="http://schemas.microsoft.com/office/drawing/2014/main" id="{0C22F76D-149B-7D52-63DC-CFDE6F123D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967273">
            <a:off x="6790085" y="4020660"/>
            <a:ext cx="302212" cy="914400"/>
          </a:xfrm>
          <a:prstGeom prst="rect">
            <a:avLst/>
          </a:prstGeom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54FB2077-6B61-05B2-1494-8AD7BB8F276B}"/>
              </a:ext>
            </a:extLst>
          </p:cNvPr>
          <p:cNvSpPr txBox="1"/>
          <p:nvPr/>
        </p:nvSpPr>
        <p:spPr>
          <a:xfrm>
            <a:off x="6139445" y="3857291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pic>
        <p:nvPicPr>
          <p:cNvPr id="203" name="Graphic 202" descr="Tag outline">
            <a:extLst>
              <a:ext uri="{FF2B5EF4-FFF2-40B4-BE49-F238E27FC236}">
                <a16:creationId xmlns:a16="http://schemas.microsoft.com/office/drawing/2014/main" id="{8D44F788-D6E8-3F36-0C13-9A8CE9136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6032783" y="3760991"/>
            <a:ext cx="434846" cy="434846"/>
          </a:xfrm>
          <a:prstGeom prst="rect">
            <a:avLst/>
          </a:prstGeom>
        </p:spPr>
      </p:pic>
      <p:pic>
        <p:nvPicPr>
          <p:cNvPr id="204" name="Graphic 203" descr="Tag outline">
            <a:extLst>
              <a:ext uri="{FF2B5EF4-FFF2-40B4-BE49-F238E27FC236}">
                <a16:creationId xmlns:a16="http://schemas.microsoft.com/office/drawing/2014/main" id="{CE2F8A34-A286-5BE8-E276-A61A22E72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6312466" y="4260436"/>
            <a:ext cx="434846" cy="434846"/>
          </a:xfrm>
          <a:prstGeom prst="rect">
            <a:avLst/>
          </a:prstGeom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9622FE9F-BDBD-0D10-CBB1-64FF32DF80FD}"/>
              </a:ext>
            </a:extLst>
          </p:cNvPr>
          <p:cNvSpPr txBox="1"/>
          <p:nvPr/>
        </p:nvSpPr>
        <p:spPr>
          <a:xfrm>
            <a:off x="6415856" y="4358839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pic>
        <p:nvPicPr>
          <p:cNvPr id="206" name="Graphic 205" descr="Tag outline">
            <a:extLst>
              <a:ext uri="{FF2B5EF4-FFF2-40B4-BE49-F238E27FC236}">
                <a16:creationId xmlns:a16="http://schemas.microsoft.com/office/drawing/2014/main" id="{3D95E934-0686-B86A-25C8-AAE2797B3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7117700" y="3548539"/>
            <a:ext cx="434846" cy="446275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F3265AD3-AEB3-3214-572C-E9A79D390D1C}"/>
              </a:ext>
            </a:extLst>
          </p:cNvPr>
          <p:cNvSpPr txBox="1"/>
          <p:nvPr/>
        </p:nvSpPr>
        <p:spPr>
          <a:xfrm>
            <a:off x="7215972" y="365350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pic>
        <p:nvPicPr>
          <p:cNvPr id="208" name="Graphic 207" descr="Tag outline">
            <a:extLst>
              <a:ext uri="{FF2B5EF4-FFF2-40B4-BE49-F238E27FC236}">
                <a16:creationId xmlns:a16="http://schemas.microsoft.com/office/drawing/2014/main" id="{CBB7028F-B59A-A419-87B2-CEBF68ADA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75687">
            <a:off x="7233198" y="4043683"/>
            <a:ext cx="434846" cy="446275"/>
          </a:xfrm>
          <a:prstGeom prst="rect">
            <a:avLst/>
          </a:prstGeom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8FA47CCF-10BD-A432-BC11-81DC3BC6F5C3}"/>
              </a:ext>
            </a:extLst>
          </p:cNvPr>
          <p:cNvSpPr txBox="1"/>
          <p:nvPr/>
        </p:nvSpPr>
        <p:spPr>
          <a:xfrm>
            <a:off x="7333702" y="4148985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E9BA7CA-FFD6-664D-5F73-7613A0F32E1A}"/>
              </a:ext>
            </a:extLst>
          </p:cNvPr>
          <p:cNvCxnSpPr/>
          <p:nvPr/>
        </p:nvCxnSpPr>
        <p:spPr>
          <a:xfrm>
            <a:off x="8309223" y="3773451"/>
            <a:ext cx="0" cy="8546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35CB1EA-C6AC-59CE-4EB3-4A7BDABFC5F1}"/>
              </a:ext>
            </a:extLst>
          </p:cNvPr>
          <p:cNvCxnSpPr>
            <a:cxnSpLocks/>
          </p:cNvCxnSpPr>
          <p:nvPr/>
        </p:nvCxnSpPr>
        <p:spPr>
          <a:xfrm flipH="1">
            <a:off x="8309223" y="4617047"/>
            <a:ext cx="15909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" name="Freeform 211">
            <a:extLst>
              <a:ext uri="{FF2B5EF4-FFF2-40B4-BE49-F238E27FC236}">
                <a16:creationId xmlns:a16="http://schemas.microsoft.com/office/drawing/2014/main" id="{F488ED17-A7C8-C76B-2CF9-1249D2575CCF}"/>
              </a:ext>
            </a:extLst>
          </p:cNvPr>
          <p:cNvSpPr/>
          <p:nvPr/>
        </p:nvSpPr>
        <p:spPr>
          <a:xfrm>
            <a:off x="8376130" y="3839720"/>
            <a:ext cx="1445196" cy="635896"/>
          </a:xfrm>
          <a:custGeom>
            <a:avLst/>
            <a:gdLst>
              <a:gd name="connsiteX0" fmla="*/ 0 w 1445196"/>
              <a:gd name="connsiteY0" fmla="*/ 0 h 635896"/>
              <a:gd name="connsiteX1" fmla="*/ 542693 w 1445196"/>
              <a:gd name="connsiteY1" fmla="*/ 185854 h 635896"/>
              <a:gd name="connsiteX2" fmla="*/ 683942 w 1445196"/>
              <a:gd name="connsiteY2" fmla="*/ 535258 h 635896"/>
              <a:gd name="connsiteX3" fmla="*/ 1360449 w 1445196"/>
              <a:gd name="connsiteY3" fmla="*/ 624468 h 635896"/>
              <a:gd name="connsiteX4" fmla="*/ 1412488 w 1445196"/>
              <a:gd name="connsiteY4" fmla="*/ 631902 h 63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196" h="635896">
                <a:moveTo>
                  <a:pt x="0" y="0"/>
                </a:moveTo>
                <a:cubicBezTo>
                  <a:pt x="214351" y="48322"/>
                  <a:pt x="428703" y="96644"/>
                  <a:pt x="542693" y="185854"/>
                </a:cubicBezTo>
                <a:cubicBezTo>
                  <a:pt x="656683" y="275064"/>
                  <a:pt x="547649" y="462156"/>
                  <a:pt x="683942" y="535258"/>
                </a:cubicBezTo>
                <a:cubicBezTo>
                  <a:pt x="820235" y="608360"/>
                  <a:pt x="1239025" y="608361"/>
                  <a:pt x="1360449" y="624468"/>
                </a:cubicBezTo>
                <a:cubicBezTo>
                  <a:pt x="1481873" y="640575"/>
                  <a:pt x="1447180" y="636238"/>
                  <a:pt x="1412488" y="631902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Freeform 212">
            <a:extLst>
              <a:ext uri="{FF2B5EF4-FFF2-40B4-BE49-F238E27FC236}">
                <a16:creationId xmlns:a16="http://schemas.microsoft.com/office/drawing/2014/main" id="{B574B79F-6FC4-4B8E-19A9-B412B6D46FA5}"/>
              </a:ext>
            </a:extLst>
          </p:cNvPr>
          <p:cNvSpPr/>
          <p:nvPr/>
        </p:nvSpPr>
        <p:spPr>
          <a:xfrm>
            <a:off x="8383564" y="3914061"/>
            <a:ext cx="1434791" cy="572430"/>
          </a:xfrm>
          <a:custGeom>
            <a:avLst/>
            <a:gdLst>
              <a:gd name="connsiteX0" fmla="*/ 0 w 1434791"/>
              <a:gd name="connsiteY0" fmla="*/ 572430 h 572430"/>
              <a:gd name="connsiteX1" fmla="*/ 431181 w 1434791"/>
              <a:gd name="connsiteY1" fmla="*/ 483220 h 572430"/>
              <a:gd name="connsiteX2" fmla="*/ 661639 w 1434791"/>
              <a:gd name="connsiteY2" fmla="*/ 81776 h 572430"/>
              <a:gd name="connsiteX3" fmla="*/ 1405054 w 1434791"/>
              <a:gd name="connsiteY3" fmla="*/ 0 h 572430"/>
              <a:gd name="connsiteX4" fmla="*/ 1405054 w 1434791"/>
              <a:gd name="connsiteY4" fmla="*/ 0 h 572430"/>
              <a:gd name="connsiteX5" fmla="*/ 1434791 w 1434791"/>
              <a:gd name="connsiteY5" fmla="*/ 0 h 57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791" h="572430">
                <a:moveTo>
                  <a:pt x="0" y="572430"/>
                </a:moveTo>
                <a:cubicBezTo>
                  <a:pt x="160454" y="568713"/>
                  <a:pt x="320908" y="564996"/>
                  <a:pt x="431181" y="483220"/>
                </a:cubicBezTo>
                <a:cubicBezTo>
                  <a:pt x="541454" y="401444"/>
                  <a:pt x="499327" y="162313"/>
                  <a:pt x="661639" y="81776"/>
                </a:cubicBezTo>
                <a:cubicBezTo>
                  <a:pt x="823951" y="1239"/>
                  <a:pt x="1405054" y="0"/>
                  <a:pt x="1405054" y="0"/>
                </a:cubicBezTo>
                <a:lnTo>
                  <a:pt x="1405054" y="0"/>
                </a:lnTo>
                <a:lnTo>
                  <a:pt x="1434791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Freeform 213">
            <a:extLst>
              <a:ext uri="{FF2B5EF4-FFF2-40B4-BE49-F238E27FC236}">
                <a16:creationId xmlns:a16="http://schemas.microsoft.com/office/drawing/2014/main" id="{4A195B4F-0FAD-3F5F-54E7-C894582B8AE7}"/>
              </a:ext>
            </a:extLst>
          </p:cNvPr>
          <p:cNvSpPr/>
          <p:nvPr/>
        </p:nvSpPr>
        <p:spPr>
          <a:xfrm>
            <a:off x="8376130" y="4493925"/>
            <a:ext cx="1427356" cy="52039"/>
          </a:xfrm>
          <a:custGeom>
            <a:avLst/>
            <a:gdLst>
              <a:gd name="connsiteX0" fmla="*/ 0 w 1427356"/>
              <a:gd name="connsiteY0" fmla="*/ 52039 h 52039"/>
              <a:gd name="connsiteX1" fmla="*/ 520391 w 1427356"/>
              <a:gd name="connsiteY1" fmla="*/ 0 h 52039"/>
              <a:gd name="connsiteX2" fmla="*/ 1427356 w 1427356"/>
              <a:gd name="connsiteY2" fmla="*/ 52039 h 5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7356" h="52039">
                <a:moveTo>
                  <a:pt x="0" y="52039"/>
                </a:moveTo>
                <a:cubicBezTo>
                  <a:pt x="141249" y="26019"/>
                  <a:pt x="282498" y="0"/>
                  <a:pt x="520391" y="0"/>
                </a:cubicBezTo>
                <a:cubicBezTo>
                  <a:pt x="758284" y="0"/>
                  <a:pt x="1092820" y="26019"/>
                  <a:pt x="1427356" y="52039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1E46D63-9362-29B3-26ED-AD15F22338A9}"/>
              </a:ext>
            </a:extLst>
          </p:cNvPr>
          <p:cNvSpPr txBox="1"/>
          <p:nvPr/>
        </p:nvSpPr>
        <p:spPr>
          <a:xfrm>
            <a:off x="8985423" y="4654261"/>
            <a:ext cx="512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56592CD-420C-BFF6-A5CB-92DA16F122CF}"/>
              </a:ext>
            </a:extLst>
          </p:cNvPr>
          <p:cNvSpPr txBox="1"/>
          <p:nvPr/>
        </p:nvSpPr>
        <p:spPr>
          <a:xfrm>
            <a:off x="7990548" y="3982323"/>
            <a:ext cx="23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𝜃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1FD35085-6F2B-CDEE-68E3-460AA87C3E74}"/>
              </a:ext>
            </a:extLst>
          </p:cNvPr>
          <p:cNvSpPr txBox="1"/>
          <p:nvPr/>
        </p:nvSpPr>
        <p:spPr>
          <a:xfrm>
            <a:off x="5345239" y="5145710"/>
            <a:ext cx="2172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All sequences from t</a:t>
            </a:r>
            <a:r>
              <a:rPr lang="en-US" sz="1200" baseline="-25000" dirty="0"/>
              <a:t>2</a:t>
            </a:r>
            <a:r>
              <a:rPr lang="en-US" sz="1200" dirty="0"/>
              <a:t> assigned the clade they would have been assigned if available at t</a:t>
            </a:r>
            <a:r>
              <a:rPr lang="en-US" sz="1200" baseline="-250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7FCF793-4B8A-3AA3-2BDC-5CC89FED82AD}"/>
              </a:ext>
            </a:extLst>
          </p:cNvPr>
          <p:cNvSpPr txBox="1"/>
          <p:nvPr/>
        </p:nvSpPr>
        <p:spPr>
          <a:xfrm>
            <a:off x="8016082" y="3204124"/>
            <a:ext cx="1864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Estimated vs observed clade proportions</a:t>
            </a: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81789432-D783-E219-27F6-45BAC9D9B035}"/>
              </a:ext>
            </a:extLst>
          </p:cNvPr>
          <p:cNvSpPr/>
          <p:nvPr/>
        </p:nvSpPr>
        <p:spPr>
          <a:xfrm>
            <a:off x="9221047" y="3821687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8F2FEF4C-0956-59FF-826C-3CAD735BC871}"/>
              </a:ext>
            </a:extLst>
          </p:cNvPr>
          <p:cNvSpPr/>
          <p:nvPr/>
        </p:nvSpPr>
        <p:spPr>
          <a:xfrm>
            <a:off x="9596891" y="3974087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5D212E56-53B1-6BD3-3090-A3145A0C4BF5}"/>
              </a:ext>
            </a:extLst>
          </p:cNvPr>
          <p:cNvSpPr/>
          <p:nvPr/>
        </p:nvSpPr>
        <p:spPr>
          <a:xfrm>
            <a:off x="8484257" y="4363681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6B300A18-EC77-FFCB-FD28-A36DAD0FD077}"/>
              </a:ext>
            </a:extLst>
          </p:cNvPr>
          <p:cNvSpPr/>
          <p:nvPr/>
        </p:nvSpPr>
        <p:spPr>
          <a:xfrm>
            <a:off x="9186308" y="4290345"/>
            <a:ext cx="45719" cy="8250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FE80AD82-E06F-EC49-894E-B46F5062F9CB}"/>
              </a:ext>
            </a:extLst>
          </p:cNvPr>
          <p:cNvSpPr/>
          <p:nvPr/>
        </p:nvSpPr>
        <p:spPr>
          <a:xfrm>
            <a:off x="9606840" y="4349930"/>
            <a:ext cx="45719" cy="8250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FE17E9D9-C26D-ADA3-F913-67D5131930A1}"/>
              </a:ext>
            </a:extLst>
          </p:cNvPr>
          <p:cNvSpPr/>
          <p:nvPr/>
        </p:nvSpPr>
        <p:spPr>
          <a:xfrm>
            <a:off x="8446079" y="3876688"/>
            <a:ext cx="45719" cy="8250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8932D666-AA0A-8068-A085-0CC07758FA46}"/>
              </a:ext>
            </a:extLst>
          </p:cNvPr>
          <p:cNvSpPr/>
          <p:nvPr/>
        </p:nvSpPr>
        <p:spPr>
          <a:xfrm>
            <a:off x="8478163" y="4506914"/>
            <a:ext cx="45719" cy="825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8D77BE31-496A-F7A0-E25A-0DB93D963399}"/>
              </a:ext>
            </a:extLst>
          </p:cNvPr>
          <p:cNvSpPr/>
          <p:nvPr/>
        </p:nvSpPr>
        <p:spPr>
          <a:xfrm>
            <a:off x="9208080" y="4470246"/>
            <a:ext cx="45719" cy="825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1240074C-C814-E987-CD44-514DA9FE9A79}"/>
              </a:ext>
            </a:extLst>
          </p:cNvPr>
          <p:cNvSpPr/>
          <p:nvPr/>
        </p:nvSpPr>
        <p:spPr>
          <a:xfrm>
            <a:off x="9611424" y="4505768"/>
            <a:ext cx="45719" cy="825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A3A97F28-3C92-ABAB-B6E9-E1EA7FBE1E2C}"/>
              </a:ext>
            </a:extLst>
          </p:cNvPr>
          <p:cNvCxnSpPr/>
          <p:nvPr/>
        </p:nvCxnSpPr>
        <p:spPr>
          <a:xfrm>
            <a:off x="8257673" y="2012738"/>
            <a:ext cx="0" cy="8546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B0366019-0385-DA15-6F6C-1581F2F6C00E}"/>
              </a:ext>
            </a:extLst>
          </p:cNvPr>
          <p:cNvCxnSpPr>
            <a:cxnSpLocks/>
          </p:cNvCxnSpPr>
          <p:nvPr/>
        </p:nvCxnSpPr>
        <p:spPr>
          <a:xfrm flipH="1">
            <a:off x="8257673" y="2856334"/>
            <a:ext cx="15909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Freeform 230">
            <a:extLst>
              <a:ext uri="{FF2B5EF4-FFF2-40B4-BE49-F238E27FC236}">
                <a16:creationId xmlns:a16="http://schemas.microsoft.com/office/drawing/2014/main" id="{F8F5AB94-828F-A86D-CA1E-DE54F6726441}"/>
              </a:ext>
            </a:extLst>
          </p:cNvPr>
          <p:cNvSpPr/>
          <p:nvPr/>
        </p:nvSpPr>
        <p:spPr>
          <a:xfrm>
            <a:off x="8324580" y="2079007"/>
            <a:ext cx="1445196" cy="635896"/>
          </a:xfrm>
          <a:custGeom>
            <a:avLst/>
            <a:gdLst>
              <a:gd name="connsiteX0" fmla="*/ 0 w 1445196"/>
              <a:gd name="connsiteY0" fmla="*/ 0 h 635896"/>
              <a:gd name="connsiteX1" fmla="*/ 542693 w 1445196"/>
              <a:gd name="connsiteY1" fmla="*/ 185854 h 635896"/>
              <a:gd name="connsiteX2" fmla="*/ 683942 w 1445196"/>
              <a:gd name="connsiteY2" fmla="*/ 535258 h 635896"/>
              <a:gd name="connsiteX3" fmla="*/ 1360449 w 1445196"/>
              <a:gd name="connsiteY3" fmla="*/ 624468 h 635896"/>
              <a:gd name="connsiteX4" fmla="*/ 1412488 w 1445196"/>
              <a:gd name="connsiteY4" fmla="*/ 631902 h 63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196" h="635896">
                <a:moveTo>
                  <a:pt x="0" y="0"/>
                </a:moveTo>
                <a:cubicBezTo>
                  <a:pt x="214351" y="48322"/>
                  <a:pt x="428703" y="96644"/>
                  <a:pt x="542693" y="185854"/>
                </a:cubicBezTo>
                <a:cubicBezTo>
                  <a:pt x="656683" y="275064"/>
                  <a:pt x="547649" y="462156"/>
                  <a:pt x="683942" y="535258"/>
                </a:cubicBezTo>
                <a:cubicBezTo>
                  <a:pt x="820235" y="608360"/>
                  <a:pt x="1239025" y="608361"/>
                  <a:pt x="1360449" y="624468"/>
                </a:cubicBezTo>
                <a:cubicBezTo>
                  <a:pt x="1481873" y="640575"/>
                  <a:pt x="1447180" y="636238"/>
                  <a:pt x="1412488" y="631902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Freeform 231">
            <a:extLst>
              <a:ext uri="{FF2B5EF4-FFF2-40B4-BE49-F238E27FC236}">
                <a16:creationId xmlns:a16="http://schemas.microsoft.com/office/drawing/2014/main" id="{DDF7506C-106A-E85D-2814-2B0E65D14156}"/>
              </a:ext>
            </a:extLst>
          </p:cNvPr>
          <p:cNvSpPr/>
          <p:nvPr/>
        </p:nvSpPr>
        <p:spPr>
          <a:xfrm>
            <a:off x="8332014" y="2153348"/>
            <a:ext cx="1434791" cy="572430"/>
          </a:xfrm>
          <a:custGeom>
            <a:avLst/>
            <a:gdLst>
              <a:gd name="connsiteX0" fmla="*/ 0 w 1434791"/>
              <a:gd name="connsiteY0" fmla="*/ 572430 h 572430"/>
              <a:gd name="connsiteX1" fmla="*/ 431181 w 1434791"/>
              <a:gd name="connsiteY1" fmla="*/ 483220 h 572430"/>
              <a:gd name="connsiteX2" fmla="*/ 661639 w 1434791"/>
              <a:gd name="connsiteY2" fmla="*/ 81776 h 572430"/>
              <a:gd name="connsiteX3" fmla="*/ 1405054 w 1434791"/>
              <a:gd name="connsiteY3" fmla="*/ 0 h 572430"/>
              <a:gd name="connsiteX4" fmla="*/ 1405054 w 1434791"/>
              <a:gd name="connsiteY4" fmla="*/ 0 h 572430"/>
              <a:gd name="connsiteX5" fmla="*/ 1434791 w 1434791"/>
              <a:gd name="connsiteY5" fmla="*/ 0 h 57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791" h="572430">
                <a:moveTo>
                  <a:pt x="0" y="572430"/>
                </a:moveTo>
                <a:cubicBezTo>
                  <a:pt x="160454" y="568713"/>
                  <a:pt x="320908" y="564996"/>
                  <a:pt x="431181" y="483220"/>
                </a:cubicBezTo>
                <a:cubicBezTo>
                  <a:pt x="541454" y="401444"/>
                  <a:pt x="499327" y="162313"/>
                  <a:pt x="661639" y="81776"/>
                </a:cubicBezTo>
                <a:cubicBezTo>
                  <a:pt x="823951" y="1239"/>
                  <a:pt x="1405054" y="0"/>
                  <a:pt x="1405054" y="0"/>
                </a:cubicBezTo>
                <a:lnTo>
                  <a:pt x="1405054" y="0"/>
                </a:lnTo>
                <a:lnTo>
                  <a:pt x="1434791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Freeform 232">
            <a:extLst>
              <a:ext uri="{FF2B5EF4-FFF2-40B4-BE49-F238E27FC236}">
                <a16:creationId xmlns:a16="http://schemas.microsoft.com/office/drawing/2014/main" id="{707E2027-97B8-5405-2F43-8E5736B37759}"/>
              </a:ext>
            </a:extLst>
          </p:cNvPr>
          <p:cNvSpPr/>
          <p:nvPr/>
        </p:nvSpPr>
        <p:spPr>
          <a:xfrm>
            <a:off x="8324580" y="2733212"/>
            <a:ext cx="1427356" cy="52039"/>
          </a:xfrm>
          <a:custGeom>
            <a:avLst/>
            <a:gdLst>
              <a:gd name="connsiteX0" fmla="*/ 0 w 1427356"/>
              <a:gd name="connsiteY0" fmla="*/ 52039 h 52039"/>
              <a:gd name="connsiteX1" fmla="*/ 520391 w 1427356"/>
              <a:gd name="connsiteY1" fmla="*/ 0 h 52039"/>
              <a:gd name="connsiteX2" fmla="*/ 1427356 w 1427356"/>
              <a:gd name="connsiteY2" fmla="*/ 52039 h 5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7356" h="52039">
                <a:moveTo>
                  <a:pt x="0" y="52039"/>
                </a:moveTo>
                <a:cubicBezTo>
                  <a:pt x="141249" y="26019"/>
                  <a:pt x="282498" y="0"/>
                  <a:pt x="520391" y="0"/>
                </a:cubicBezTo>
                <a:cubicBezTo>
                  <a:pt x="758284" y="0"/>
                  <a:pt x="1092820" y="26019"/>
                  <a:pt x="1427356" y="52039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3BFED0F2-1405-ED06-3B09-15C66BC7EB3E}"/>
              </a:ext>
            </a:extLst>
          </p:cNvPr>
          <p:cNvSpPr txBox="1"/>
          <p:nvPr/>
        </p:nvSpPr>
        <p:spPr>
          <a:xfrm>
            <a:off x="8933873" y="2893548"/>
            <a:ext cx="512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4D1C258-6837-F92C-C4F7-4B412D9DF9FD}"/>
              </a:ext>
            </a:extLst>
          </p:cNvPr>
          <p:cNvSpPr txBox="1"/>
          <p:nvPr/>
        </p:nvSpPr>
        <p:spPr>
          <a:xfrm>
            <a:off x="7984349" y="2241931"/>
            <a:ext cx="23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𝜃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96DD0351-C10D-882B-461C-0F81E4CC3546}"/>
              </a:ext>
            </a:extLst>
          </p:cNvPr>
          <p:cNvCxnSpPr/>
          <p:nvPr/>
        </p:nvCxnSpPr>
        <p:spPr>
          <a:xfrm>
            <a:off x="7538158" y="1129104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0" name="Graphic 239" descr="No sign outline">
            <a:extLst>
              <a:ext uri="{FF2B5EF4-FFF2-40B4-BE49-F238E27FC236}">
                <a16:creationId xmlns:a16="http://schemas.microsoft.com/office/drawing/2014/main" id="{6F1627AE-20AE-DC6C-08C5-0088B2A1EC2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572522" y="2054977"/>
            <a:ext cx="526779" cy="526779"/>
          </a:xfrm>
          <a:prstGeom prst="rect">
            <a:avLst/>
          </a:prstGeom>
        </p:spPr>
      </p:pic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7079BC90-BF36-FB40-BF5D-11D642B3B9FC}"/>
              </a:ext>
            </a:extLst>
          </p:cNvPr>
          <p:cNvCxnSpPr/>
          <p:nvPr/>
        </p:nvCxnSpPr>
        <p:spPr>
          <a:xfrm>
            <a:off x="7696900" y="4181458"/>
            <a:ext cx="260195" cy="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2" name="Oval 241">
            <a:extLst>
              <a:ext uri="{FF2B5EF4-FFF2-40B4-BE49-F238E27FC236}">
                <a16:creationId xmlns:a16="http://schemas.microsoft.com/office/drawing/2014/main" id="{50F489A1-0555-1822-CE00-C2BE89EAC19B}"/>
              </a:ext>
            </a:extLst>
          </p:cNvPr>
          <p:cNvSpPr/>
          <p:nvPr/>
        </p:nvSpPr>
        <p:spPr>
          <a:xfrm>
            <a:off x="8393942" y="2122651"/>
            <a:ext cx="45719" cy="825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D3AC3355-9EC1-FDCE-849E-5BFBDBCACE89}"/>
              </a:ext>
            </a:extLst>
          </p:cNvPr>
          <p:cNvSpPr/>
          <p:nvPr/>
        </p:nvSpPr>
        <p:spPr>
          <a:xfrm>
            <a:off x="9305849" y="2575140"/>
            <a:ext cx="45719" cy="825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2E585978-DA56-2C49-27BC-97A6EF9D3495}"/>
              </a:ext>
            </a:extLst>
          </p:cNvPr>
          <p:cNvSpPr/>
          <p:nvPr/>
        </p:nvSpPr>
        <p:spPr>
          <a:xfrm>
            <a:off x="9634712" y="2595376"/>
            <a:ext cx="45719" cy="825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5AA3E660-51B9-93C6-257A-0F42CE6D029C}"/>
              </a:ext>
            </a:extLst>
          </p:cNvPr>
          <p:cNvSpPr/>
          <p:nvPr/>
        </p:nvSpPr>
        <p:spPr>
          <a:xfrm>
            <a:off x="8436131" y="2597228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031132DB-E7D7-9764-8D33-17CB1FDB0265}"/>
              </a:ext>
            </a:extLst>
          </p:cNvPr>
          <p:cNvSpPr/>
          <p:nvPr/>
        </p:nvSpPr>
        <p:spPr>
          <a:xfrm>
            <a:off x="9305849" y="2696165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DECEF9AD-48BE-E6E2-C9C7-8A13B008129C}"/>
              </a:ext>
            </a:extLst>
          </p:cNvPr>
          <p:cNvSpPr/>
          <p:nvPr/>
        </p:nvSpPr>
        <p:spPr>
          <a:xfrm>
            <a:off x="9630921" y="2727317"/>
            <a:ext cx="45719" cy="8250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07F6F1F9-BAD4-6D0B-D686-335EB244530B}"/>
              </a:ext>
            </a:extLst>
          </p:cNvPr>
          <p:cNvSpPr/>
          <p:nvPr/>
        </p:nvSpPr>
        <p:spPr>
          <a:xfrm>
            <a:off x="9299455" y="2066505"/>
            <a:ext cx="45719" cy="8250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99E2DD9F-4046-6D5B-412B-30BFED06B7EC}"/>
              </a:ext>
            </a:extLst>
          </p:cNvPr>
          <p:cNvSpPr/>
          <p:nvPr/>
        </p:nvSpPr>
        <p:spPr>
          <a:xfrm>
            <a:off x="9678963" y="2190190"/>
            <a:ext cx="45719" cy="8250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F13B9187-63BA-3B50-BE39-6AFE68EA1872}"/>
              </a:ext>
            </a:extLst>
          </p:cNvPr>
          <p:cNvSpPr/>
          <p:nvPr/>
        </p:nvSpPr>
        <p:spPr>
          <a:xfrm>
            <a:off x="8434048" y="2752982"/>
            <a:ext cx="45719" cy="8250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A34363C2-926C-F8B9-1539-55851E045186}"/>
              </a:ext>
            </a:extLst>
          </p:cNvPr>
          <p:cNvSpPr/>
          <p:nvPr/>
        </p:nvSpPr>
        <p:spPr>
          <a:xfrm>
            <a:off x="9305849" y="2735799"/>
            <a:ext cx="45719" cy="8250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B0F853F1-4879-1715-B07F-0BAE5B18F022}"/>
              </a:ext>
            </a:extLst>
          </p:cNvPr>
          <p:cNvSpPr/>
          <p:nvPr/>
        </p:nvSpPr>
        <p:spPr>
          <a:xfrm>
            <a:off x="9630701" y="2748164"/>
            <a:ext cx="45719" cy="8250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4BC9ABE1-58A8-F4A8-4E73-B00A6CD1F63C}"/>
              </a:ext>
            </a:extLst>
          </p:cNvPr>
          <p:cNvSpPr/>
          <p:nvPr/>
        </p:nvSpPr>
        <p:spPr>
          <a:xfrm>
            <a:off x="8431426" y="2711731"/>
            <a:ext cx="45719" cy="825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F6608684-2E16-C7A1-78B2-492702C91C66}"/>
              </a:ext>
            </a:extLst>
          </p:cNvPr>
          <p:cNvSpPr/>
          <p:nvPr/>
        </p:nvSpPr>
        <p:spPr>
          <a:xfrm>
            <a:off x="9305849" y="2761106"/>
            <a:ext cx="45719" cy="825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ED8D7569-B076-5FC1-9F59-63C0FC8D560B}"/>
              </a:ext>
            </a:extLst>
          </p:cNvPr>
          <p:cNvSpPr/>
          <p:nvPr/>
        </p:nvSpPr>
        <p:spPr>
          <a:xfrm>
            <a:off x="9631476" y="2768614"/>
            <a:ext cx="45719" cy="825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7AF2E8FB-4F45-31E6-581C-E0CE665C36FC}"/>
              </a:ext>
            </a:extLst>
          </p:cNvPr>
          <p:cNvSpPr/>
          <p:nvPr/>
        </p:nvSpPr>
        <p:spPr>
          <a:xfrm>
            <a:off x="8431426" y="2653642"/>
            <a:ext cx="45719" cy="8250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1FE1CFFB-731D-776D-90ED-E6474031B8F8}"/>
              </a:ext>
            </a:extLst>
          </p:cNvPr>
          <p:cNvSpPr txBox="1"/>
          <p:nvPr/>
        </p:nvSpPr>
        <p:spPr>
          <a:xfrm>
            <a:off x="8076643" y="5196344"/>
            <a:ext cx="2172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Evaluation of t</a:t>
            </a:r>
            <a:r>
              <a:rPr lang="en-US" sz="1200" baseline="-25000" dirty="0"/>
              <a:t>1</a:t>
            </a:r>
            <a:r>
              <a:rPr lang="en-US" sz="1200" dirty="0"/>
              <a:t> estimates using clade assignment as of t</a:t>
            </a:r>
            <a:r>
              <a:rPr lang="en-US" sz="1200" baseline="-25000" dirty="0"/>
              <a:t>1</a:t>
            </a:r>
            <a:r>
              <a:rPr lang="en-US" sz="1200" dirty="0"/>
              <a:t> but sequences as of t</a:t>
            </a:r>
            <a:r>
              <a:rPr lang="en-US" sz="12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8732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117</Words>
  <Application>Microsoft Macintosh PowerPoint</Application>
  <PresentationFormat>Widescreen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Kaitlyn Johnson</dc:creator>
  <cp:lastModifiedBy>Kaitlyn Johnson</cp:lastModifiedBy>
  <cp:revision>1</cp:revision>
  <dcterms:created xsi:type="dcterms:W3CDTF">2026-01-09T10:20:20Z</dcterms:created>
  <dcterms:modified xsi:type="dcterms:W3CDTF">2026-01-09T11:04:11Z</dcterms:modified>
</cp:coreProperties>
</file>